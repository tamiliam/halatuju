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373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(~2 min)
Welcome everyone. Thank you for taking the time to be here on Zoom today.
I'll keep this to 15 minutes so you have time for questions at the end.
Three things to know up front:
1) This is a community pilot — not a giant scholarship body. Funded by fellow Malaysians who want to see you continue your studies. Small, personal, and honest about what it is.
2) The application runs through HalaTuju, the education-pathway platform some of you may already know.
3) You already raised your hand on the Google form. Today is about the FORMAL application — the verifiable detail and your consent before we can introduce you to a sponsor.
Everything you share stays confidential. Nothing leaves us without your permission.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 lightly. (~2 min)
This is the whole journey on one page. Don't memorise it — we'll dwell on each part in the next slides.
Three things to anchor:
- Rolling basis, no deadline you'll miss.
- From applying to being matched typically takes about two months end-to-end.
- Once you're in, support continues through your studies as long as you keep progressing.
Pause briefly. Then: "Now let's start at the beginning — can you apply?"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room. (~2 min)
Six things, all need to be true. Don't read the cards aloud — let people see them. Land these points instead:
- B40 threshold is RM5,860/month combined household income. Below that line, you're in.
- For grades: 5 A's in SPM, or PNGK 3.0 in STPM. That's the headline.
- Public institutions only this round — Matrikulasi, Asasi, STPM, university, polytechnic, ILKA.
Most important thing on this slide is the coral box at the bottom: if you're CLOSE but not exactly there — especially on grades — apply anyway. Our bar is a little more generous than the headline. Don't disqualify yourself.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form, demystify it. (~2 min)
Five short sections. The form remembers what you've entered on HalaTuju — mostly confirming details, not re-typing them.
Walk through quickly:
1) About Me — basics, language preference
2) My Family — household income is the big one
3) My Results — re-uses HalaTuju
4) My Plans — fine to still be deciding
5) Support — what else you're applying for, plus your consent
Then point at the coral box — slow down here:
Truthfulness matters. We verify everything against your documents and at the interview. If you're not sure of a number — your dad's exact monthly income, say — write "I'm not sure, roughly RMX" in the notes. We can work with that. We CAN'T work with numbers that don't match your documents.
After submit: same-day acknowledgement, 48 hours to hear back.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 advocate for honesty. (~2 min)
If you've been shortlisted, this is where you actually become a person to a sponsor.
Five tabs:
1) Quiz — already done, just confirm.
2) Your story — this matters more than people realise. Write in BM, English, or Tamil. Tell us about your family, what brought you here.
3) Funding — tick what would help. Up to RM3,000, could be less.
4) Documents — IC + results slip required, the rest optional but useful. The IC auto-check is just a hint; a real person reviews everything.
5) Consent — your permission to share your profile. You can withdraw any time.
The yellow tip box: tell us as much as you can. The story and funding note are your chance. Write in your most comfortable language. Same truthfulness rule — uncertainty is fine, mismatches are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the journey + drive the reminders home. (~3 min)
Top half — the back end of the journey, briefly:
- Step 5: phone call. ~20 min, your language. Conversation, not test. We may cross-check things.
- Step 6: we prepare a confidential profile. A coordinator reviews it first.
- Step 7: a sponsor chooses to support you. ~2 months end-to-end.
- Step 8: each semester, upload results + a short progress note. Support continues as long as you're progressing.
Bottom half — slow down. These six points are the soul of the programme:
Free. Confidential. The IC auto-check is a hint — humans review everything. Mismatches disqualify, uncertainty does not. Under 18 needs a guardian co-sign. Public institutions only this round.
If you remember nothing else: free, confidential, be honest about what you don't know.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(~2 min, expandable)
That's the whole arc. Before I take questions, two things:
1) If anything I said wasn't clear, please ask. There are no silly questions.
2) If you'd rather ask privately, drop it in chat or message us after.
Common questions to be ready for:
- "What if my income is just above RM5,860?" — Apply anyway, we look at context.
- "What if I didn't get 5A's?" — Apply anyway, especially if circumstances explain it.
- "What if I haven't decided on a course yet?" — Totally fine, say so in My Plans.
- "How long until I hear back?" — Acknowledgement same day, shortlisting in 48 hours, full process ~2 months.
- "Who sees my information?" — Only our coordinator team, and only with your written consent does it reach a sponsor.
Close warm: thank them for being here, encourage them to apply, remind them no deadline.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png"/><Relationship Id="rId12"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766E"/>
          </a:solidFill>
          <a:ln/>
        </p:spPr>
      </p:sp>
      <p:sp>
        <p:nvSpPr>
          <p:cNvPr id="3" name="Shape 1"/>
          <p:cNvSpPr/>
          <p:nvPr/>
        </p:nvSpPr>
        <p:spPr>
          <a:xfrm>
            <a:off x="548640" y="6446520"/>
            <a:ext cx="11094415" cy="10973"/>
          </a:xfrm>
          <a:prstGeom prst="rect">
            <a:avLst/>
          </a:prstGeom>
          <a:solidFill>
            <a:srgbClr val="E5E0D5"/>
          </a:solidFill>
          <a:ln/>
        </p:spPr>
      </p:sp>
      <p:sp>
        <p:nvSpPr>
          <p:cNvPr id="4" name="Text 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HalaTuju  ·  B40 Education Assistance</a:t>
            </a:r>
            <a:endParaRPr lang="en-US" sz="900" dirty="0"/>
          </a:p>
        </p:txBody>
      </p:sp>
      <p:sp>
        <p:nvSpPr>
          <p:cNvPr id="5" name="Text 3"/>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 / 7</a:t>
            </a:r>
            <a:endParaRPr lang="en-US" sz="900" dirty="0"/>
          </a:p>
        </p:txBody>
      </p:sp>
      <p:sp>
        <p:nvSpPr>
          <p:cNvPr id="6" name="Shape 4"/>
          <p:cNvSpPr/>
          <p:nvPr/>
        </p:nvSpPr>
        <p:spPr>
          <a:xfrm>
            <a:off x="640080" y="502920"/>
            <a:ext cx="2286000" cy="292608"/>
          </a:xfrm>
          <a:prstGeom prst="roundRect">
            <a:avLst>
              <a:gd name="adj" fmla="val 50000"/>
            </a:avLst>
          </a:prstGeom>
          <a:solidFill>
            <a:srgbClr val="E0F2EF"/>
          </a:solidFill>
          <a:ln/>
        </p:spPr>
      </p:sp>
      <p:sp>
        <p:nvSpPr>
          <p:cNvPr id="7" name="Text 5"/>
          <p:cNvSpPr/>
          <p:nvPr/>
        </p:nvSpPr>
        <p:spPr>
          <a:xfrm>
            <a:off x="640080" y="502920"/>
            <a:ext cx="2286000" cy="292608"/>
          </a:xfrm>
          <a:prstGeom prst="rect">
            <a:avLst/>
          </a:prstGeom>
          <a:noFill/>
          <a:ln/>
        </p:spPr>
        <p:txBody>
          <a:bodyPr wrap="square" lIns="0" tIns="0" rIns="0" bIns="0" rtlCol="0" anchor="ctr"/>
          <a:lstStyle/>
          <a:p>
            <a:pPr marL="0" indent="0" algn="ctr">
              <a:buNone/>
            </a:pPr>
            <a:r>
              <a:rPr lang="en-US" sz="900" b="1" kern="0" spc="100" dirty="0">
                <a:solidFill>
                  <a:srgbClr val="115E59"/>
                </a:solidFill>
                <a:latin typeface="Calibri" pitchFamily="34" charset="0"/>
                <a:ea typeface="Calibri" pitchFamily="34" charset="-122"/>
                <a:cs typeface="Calibri" pitchFamily="34" charset="-120"/>
              </a:rPr>
              <a:t>WELCOME  ·  ONBOARDING</a:t>
            </a:r>
            <a:endParaRPr lang="en-US" sz="900" dirty="0"/>
          </a:p>
        </p:txBody>
      </p:sp>
      <p:sp>
        <p:nvSpPr>
          <p:cNvPr id="8" name="Text 6"/>
          <p:cNvSpPr/>
          <p:nvPr/>
        </p:nvSpPr>
        <p:spPr>
          <a:xfrm>
            <a:off x="594360" y="868680"/>
            <a:ext cx="10972800" cy="914400"/>
          </a:xfrm>
          <a:prstGeom prst="rect">
            <a:avLst/>
          </a:prstGeom>
          <a:noFill/>
          <a:ln/>
        </p:spPr>
        <p:txBody>
          <a:bodyPr wrap="square" lIns="0" tIns="0" rIns="0" bIns="0" rtlCol="0" anchor="ctr"/>
          <a:lstStyle/>
          <a:p>
            <a:pPr marL="0" indent="0">
              <a:buNone/>
            </a:pPr>
            <a:r>
              <a:rPr lang="en-US" sz="4000" b="1" dirty="0">
                <a:solidFill>
                  <a:srgbClr val="1F2937"/>
                </a:solidFill>
                <a:latin typeface="Georgia" pitchFamily="34" charset="0"/>
                <a:ea typeface="Georgia" pitchFamily="34" charset="-122"/>
                <a:cs typeface="Georgia" pitchFamily="34" charset="-120"/>
              </a:rPr>
              <a:t>B40 Education Assistance</a:t>
            </a:r>
            <a:endParaRPr lang="en-US" sz="4000" dirty="0"/>
          </a:p>
        </p:txBody>
      </p:sp>
      <p:sp>
        <p:nvSpPr>
          <p:cNvPr id="9" name="Text 7"/>
          <p:cNvSpPr/>
          <p:nvPr/>
        </p:nvSpPr>
        <p:spPr>
          <a:xfrm>
            <a:off x="594360" y="1783080"/>
            <a:ext cx="10515600" cy="640080"/>
          </a:xfrm>
          <a:prstGeom prst="rect">
            <a:avLst/>
          </a:prstGeom>
          <a:noFill/>
          <a:ln/>
        </p:spPr>
        <p:txBody>
          <a:bodyPr wrap="square" lIns="0" tIns="0" rIns="0" bIns="0" rtlCol="0" anchor="ctr"/>
          <a:lstStyle/>
          <a:p>
            <a:pPr marL="0" indent="0">
              <a:buNone/>
            </a:pPr>
            <a:r>
              <a:rPr lang="en-US" sz="1600" i="1" dirty="0">
                <a:solidFill>
                  <a:srgbClr val="64748B"/>
                </a:solidFill>
                <a:latin typeface="Calibri" pitchFamily="34" charset="0"/>
                <a:ea typeface="Calibri" pitchFamily="34" charset="-122"/>
                <a:cs typeface="Calibri" pitchFamily="34" charset="-120"/>
              </a:rPr>
              <a:t>A community pilot — helping you continue your studies at Malaysia’s public colleges and universities.</a:t>
            </a:r>
            <a:endParaRPr lang="en-US" sz="1600" dirty="0"/>
          </a:p>
        </p:txBody>
      </p:sp>
      <p:sp>
        <p:nvSpPr>
          <p:cNvPr id="10" name="Shape 8"/>
          <p:cNvSpPr/>
          <p:nvPr/>
        </p:nvSpPr>
        <p:spPr>
          <a:xfrm>
            <a:off x="594360" y="2788920"/>
            <a:ext cx="3657600" cy="33832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1" name="Shape 9"/>
          <p:cNvSpPr/>
          <p:nvPr/>
        </p:nvSpPr>
        <p:spPr>
          <a:xfrm>
            <a:off x="594360" y="2788920"/>
            <a:ext cx="3657600" cy="73152"/>
          </a:xfrm>
          <a:prstGeom prst="rect">
            <a:avLst/>
          </a:prstGeom>
          <a:solidFill>
            <a:srgbClr val="0F766E"/>
          </a:solidFill>
          <a:ln/>
        </p:spPr>
      </p:sp>
      <p:sp>
        <p:nvSpPr>
          <p:cNvPr id="12" name="Shape 10"/>
          <p:cNvSpPr/>
          <p:nvPr/>
        </p:nvSpPr>
        <p:spPr>
          <a:xfrm>
            <a:off x="914400" y="3108960"/>
            <a:ext cx="594360" cy="594360"/>
          </a:xfrm>
          <a:prstGeom prst="ellipse">
            <a:avLst/>
          </a:prstGeom>
          <a:solidFill>
            <a:srgbClr val="E0F2EF"/>
          </a:solidFill>
          <a:ln/>
        </p:spPr>
      </p:sp>
      <p:pic>
        <p:nvPicPr>
          <p:cNvPr id="13" name="Image 0" descr="preencoded.png"/>
          <p:cNvPicPr>
            <a:picLocks noChangeAspect="1"/>
          </p:cNvPicPr>
          <p:nvPr/>
        </p:nvPicPr>
        <p:blipFill>
          <a:blip r:embed="rId3"/>
          <a:stretch>
            <a:fillRect/>
          </a:stretch>
        </p:blipFill>
        <p:spPr>
          <a:xfrm>
            <a:off x="1051560" y="3246120"/>
            <a:ext cx="320040" cy="320040"/>
          </a:xfrm>
          <a:prstGeom prst="rect">
            <a:avLst/>
          </a:prstGeom>
        </p:spPr>
      </p:pic>
      <p:sp>
        <p:nvSpPr>
          <p:cNvPr id="14" name="Text 11"/>
          <p:cNvSpPr/>
          <p:nvPr/>
        </p:nvSpPr>
        <p:spPr>
          <a:xfrm>
            <a:off x="868680" y="3886200"/>
            <a:ext cx="3108960" cy="457200"/>
          </a:xfrm>
          <a:prstGeom prst="rect">
            <a:avLst/>
          </a:prstGeom>
          <a:noFill/>
          <a:ln/>
        </p:spPr>
        <p:txBody>
          <a:bodyPr wrap="square" lIns="0" tIns="0" rIns="0" bIns="0" rtlCol="0" anchor="ctr"/>
          <a:lstStyle/>
          <a:p>
            <a:pPr marL="0" indent="0">
              <a:buNone/>
            </a:pPr>
            <a:r>
              <a:rPr lang="en-US" sz="1800" b="1" dirty="0">
                <a:solidFill>
                  <a:srgbClr val="1F2937"/>
                </a:solidFill>
                <a:latin typeface="Georgia" pitchFamily="34" charset="0"/>
                <a:ea typeface="Georgia" pitchFamily="34" charset="-122"/>
                <a:cs typeface="Georgia" pitchFamily="34" charset="-120"/>
              </a:rPr>
              <a:t>About this programme</a:t>
            </a:r>
            <a:endParaRPr lang="en-US" sz="1800" dirty="0"/>
          </a:p>
        </p:txBody>
      </p:sp>
      <p:sp>
        <p:nvSpPr>
          <p:cNvPr id="15" name="Shape 12"/>
          <p:cNvSpPr/>
          <p:nvPr/>
        </p:nvSpPr>
        <p:spPr>
          <a:xfrm>
            <a:off x="868680" y="4361688"/>
            <a:ext cx="457200" cy="22860"/>
          </a:xfrm>
          <a:prstGeom prst="rect">
            <a:avLst/>
          </a:prstGeom>
          <a:solidFill>
            <a:srgbClr val="0F766E"/>
          </a:solidFill>
          <a:ln/>
        </p:spPr>
      </p:sp>
      <p:sp>
        <p:nvSpPr>
          <p:cNvPr id="16" name="Text 13"/>
          <p:cNvSpPr/>
          <p:nvPr/>
        </p:nvSpPr>
        <p:spPr>
          <a:xfrm>
            <a:off x="868680" y="4544568"/>
            <a:ext cx="3108960" cy="15087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Calibri" pitchFamily="34" charset="0"/>
                <a:ea typeface="Calibri" pitchFamily="34" charset="-122"/>
                <a:cs typeface="Calibri" pitchFamily="34" charset="-120"/>
              </a:rPr>
              <a:t>A small, community-supported effort by fellow Malaysians who want to see you succeed. There’s no big organisation behind it yet — it’s a pilot, run by people who care.</a:t>
            </a:r>
            <a:endParaRPr lang="en-US" sz="1250" dirty="0"/>
          </a:p>
        </p:txBody>
      </p:sp>
      <p:sp>
        <p:nvSpPr>
          <p:cNvPr id="17" name="Shape 14"/>
          <p:cNvSpPr/>
          <p:nvPr/>
        </p:nvSpPr>
        <p:spPr>
          <a:xfrm>
            <a:off x="4480560" y="2788920"/>
            <a:ext cx="3657600" cy="33832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8" name="Shape 15"/>
          <p:cNvSpPr/>
          <p:nvPr/>
        </p:nvSpPr>
        <p:spPr>
          <a:xfrm>
            <a:off x="4480560" y="2788920"/>
            <a:ext cx="3657600" cy="73152"/>
          </a:xfrm>
          <a:prstGeom prst="rect">
            <a:avLst/>
          </a:prstGeom>
          <a:solidFill>
            <a:srgbClr val="E76F51"/>
          </a:solidFill>
          <a:ln/>
        </p:spPr>
      </p:sp>
      <p:sp>
        <p:nvSpPr>
          <p:cNvPr id="19" name="Shape 16"/>
          <p:cNvSpPr/>
          <p:nvPr/>
        </p:nvSpPr>
        <p:spPr>
          <a:xfrm>
            <a:off x="4800600" y="3108960"/>
            <a:ext cx="594360" cy="594360"/>
          </a:xfrm>
          <a:prstGeom prst="ellipse">
            <a:avLst/>
          </a:prstGeom>
          <a:solidFill>
            <a:srgbClr val="FBE4DC"/>
          </a:solidFill>
          <a:ln/>
        </p:spPr>
      </p:sp>
      <p:pic>
        <p:nvPicPr>
          <p:cNvPr id="20" name="Image 1" descr="preencoded.png"/>
          <p:cNvPicPr>
            <a:picLocks noChangeAspect="1"/>
          </p:cNvPicPr>
          <p:nvPr/>
        </p:nvPicPr>
        <p:blipFill>
          <a:blip r:embed="rId4"/>
          <a:stretch>
            <a:fillRect/>
          </a:stretch>
        </p:blipFill>
        <p:spPr>
          <a:xfrm>
            <a:off x="4937760" y="3246120"/>
            <a:ext cx="320040" cy="320040"/>
          </a:xfrm>
          <a:prstGeom prst="rect">
            <a:avLst/>
          </a:prstGeom>
        </p:spPr>
      </p:pic>
      <p:sp>
        <p:nvSpPr>
          <p:cNvPr id="21" name="Text 17"/>
          <p:cNvSpPr/>
          <p:nvPr/>
        </p:nvSpPr>
        <p:spPr>
          <a:xfrm>
            <a:off x="4754880" y="3886200"/>
            <a:ext cx="3108960" cy="457200"/>
          </a:xfrm>
          <a:prstGeom prst="rect">
            <a:avLst/>
          </a:prstGeom>
          <a:noFill/>
          <a:ln/>
        </p:spPr>
        <p:txBody>
          <a:bodyPr wrap="square" lIns="0" tIns="0" rIns="0" bIns="0" rtlCol="0" anchor="ctr"/>
          <a:lstStyle/>
          <a:p>
            <a:pPr marL="0" indent="0">
              <a:buNone/>
            </a:pPr>
            <a:r>
              <a:rPr lang="en-US" sz="1800" b="1" dirty="0">
                <a:solidFill>
                  <a:srgbClr val="1F2937"/>
                </a:solidFill>
                <a:latin typeface="Georgia" pitchFamily="34" charset="0"/>
                <a:ea typeface="Georgia" pitchFamily="34" charset="-122"/>
                <a:cs typeface="Georgia" pitchFamily="34" charset="-120"/>
              </a:rPr>
              <a:t>About HalaTuju</a:t>
            </a:r>
            <a:endParaRPr lang="en-US" sz="1800" dirty="0"/>
          </a:p>
        </p:txBody>
      </p:sp>
      <p:sp>
        <p:nvSpPr>
          <p:cNvPr id="22" name="Shape 18"/>
          <p:cNvSpPr/>
          <p:nvPr/>
        </p:nvSpPr>
        <p:spPr>
          <a:xfrm>
            <a:off x="4754880" y="4361688"/>
            <a:ext cx="457200" cy="22860"/>
          </a:xfrm>
          <a:prstGeom prst="rect">
            <a:avLst/>
          </a:prstGeom>
          <a:solidFill>
            <a:srgbClr val="E76F51"/>
          </a:solidFill>
          <a:ln/>
        </p:spPr>
      </p:sp>
      <p:sp>
        <p:nvSpPr>
          <p:cNvPr id="23" name="Text 19"/>
          <p:cNvSpPr/>
          <p:nvPr/>
        </p:nvSpPr>
        <p:spPr>
          <a:xfrm>
            <a:off x="4754880" y="4544568"/>
            <a:ext cx="3108960" cy="15087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Calibri" pitchFamily="34" charset="0"/>
                <a:ea typeface="Calibri" pitchFamily="34" charset="-122"/>
                <a:cs typeface="Calibri" pitchFamily="34" charset="-120"/>
              </a:rPr>
              <a:t>A Malaysian education-pathway platform that helps SPM/STPM students find courses they qualify for. The application runs on HalaTuju — you’ll log in there to apply.</a:t>
            </a:r>
            <a:endParaRPr lang="en-US" sz="1250" dirty="0"/>
          </a:p>
        </p:txBody>
      </p:sp>
      <p:sp>
        <p:nvSpPr>
          <p:cNvPr id="24" name="Shape 20"/>
          <p:cNvSpPr/>
          <p:nvPr/>
        </p:nvSpPr>
        <p:spPr>
          <a:xfrm>
            <a:off x="8366760" y="2788920"/>
            <a:ext cx="3657600" cy="33832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5" name="Shape 21"/>
          <p:cNvSpPr/>
          <p:nvPr/>
        </p:nvSpPr>
        <p:spPr>
          <a:xfrm>
            <a:off x="8366760" y="2788920"/>
            <a:ext cx="3657600" cy="73152"/>
          </a:xfrm>
          <a:prstGeom prst="rect">
            <a:avLst/>
          </a:prstGeom>
          <a:solidFill>
            <a:srgbClr val="0F766E"/>
          </a:solidFill>
          <a:ln/>
        </p:spPr>
      </p:sp>
      <p:sp>
        <p:nvSpPr>
          <p:cNvPr id="26" name="Shape 22"/>
          <p:cNvSpPr/>
          <p:nvPr/>
        </p:nvSpPr>
        <p:spPr>
          <a:xfrm>
            <a:off x="8686800" y="3108960"/>
            <a:ext cx="594360" cy="594360"/>
          </a:xfrm>
          <a:prstGeom prst="ellipse">
            <a:avLst/>
          </a:prstGeom>
          <a:solidFill>
            <a:srgbClr val="E0F2EF"/>
          </a:solidFill>
          <a:ln/>
        </p:spPr>
      </p:sp>
      <p:pic>
        <p:nvPicPr>
          <p:cNvPr id="27" name="Image 2" descr="preencoded.png"/>
          <p:cNvPicPr>
            <a:picLocks noChangeAspect="1"/>
          </p:cNvPicPr>
          <p:nvPr/>
        </p:nvPicPr>
        <p:blipFill>
          <a:blip r:embed="rId5"/>
          <a:stretch>
            <a:fillRect/>
          </a:stretch>
        </p:blipFill>
        <p:spPr>
          <a:xfrm>
            <a:off x="8823960" y="3246120"/>
            <a:ext cx="320040" cy="320040"/>
          </a:xfrm>
          <a:prstGeom prst="rect">
            <a:avLst/>
          </a:prstGeom>
        </p:spPr>
      </p:pic>
      <p:sp>
        <p:nvSpPr>
          <p:cNvPr id="28" name="Text 23"/>
          <p:cNvSpPr/>
          <p:nvPr/>
        </p:nvSpPr>
        <p:spPr>
          <a:xfrm>
            <a:off x="8641080" y="3886200"/>
            <a:ext cx="3108960" cy="457200"/>
          </a:xfrm>
          <a:prstGeom prst="rect">
            <a:avLst/>
          </a:prstGeom>
          <a:noFill/>
          <a:ln/>
        </p:spPr>
        <p:txBody>
          <a:bodyPr wrap="square" lIns="0" tIns="0" rIns="0" bIns="0" rtlCol="0" anchor="ctr"/>
          <a:lstStyle/>
          <a:p>
            <a:pPr marL="0" indent="0">
              <a:buNone/>
            </a:pPr>
            <a:r>
              <a:rPr lang="en-US" sz="1800" b="1" dirty="0">
                <a:solidFill>
                  <a:srgbClr val="1F2937"/>
                </a:solidFill>
                <a:latin typeface="Georgia" pitchFamily="34" charset="0"/>
                <a:ea typeface="Georgia" pitchFamily="34" charset="-122"/>
                <a:cs typeface="Georgia" pitchFamily="34" charset="-120"/>
              </a:rPr>
              <a:t>About this session</a:t>
            </a:r>
            <a:endParaRPr lang="en-US" sz="1800" dirty="0"/>
          </a:p>
        </p:txBody>
      </p:sp>
      <p:sp>
        <p:nvSpPr>
          <p:cNvPr id="29" name="Shape 24"/>
          <p:cNvSpPr/>
          <p:nvPr/>
        </p:nvSpPr>
        <p:spPr>
          <a:xfrm>
            <a:off x="8641080" y="4361688"/>
            <a:ext cx="457200" cy="22860"/>
          </a:xfrm>
          <a:prstGeom prst="rect">
            <a:avLst/>
          </a:prstGeom>
          <a:solidFill>
            <a:srgbClr val="0F766E"/>
          </a:solidFill>
          <a:ln/>
        </p:spPr>
      </p:sp>
      <p:sp>
        <p:nvSpPr>
          <p:cNvPr id="30" name="Text 25"/>
          <p:cNvSpPr/>
          <p:nvPr/>
        </p:nvSpPr>
        <p:spPr>
          <a:xfrm>
            <a:off x="8641080" y="4544568"/>
            <a:ext cx="3108960" cy="1508760"/>
          </a:xfrm>
          <a:prstGeom prst="rect">
            <a:avLst/>
          </a:prstGeom>
          <a:noFill/>
          <a:ln/>
        </p:spPr>
        <p:txBody>
          <a:bodyPr wrap="square" lIns="0" tIns="0" rIns="0" bIns="0" rtlCol="0" anchor="t"/>
          <a:lstStyle/>
          <a:p>
            <a:pPr marL="0" indent="0">
              <a:spcAft>
                <a:spcPts val="400"/>
              </a:spcAft>
              <a:buNone/>
            </a:pPr>
            <a:r>
              <a:rPr lang="en-US" sz="1250" dirty="0">
                <a:solidFill>
                  <a:srgbClr val="1F2937"/>
                </a:solidFill>
                <a:latin typeface="Calibri" pitchFamily="34" charset="0"/>
                <a:ea typeface="Calibri" pitchFamily="34" charset="-122"/>
                <a:cs typeface="Calibri" pitchFamily="34" charset="-120"/>
              </a:rPr>
              <a:t>You already raised your hand on our Google form (thank you). Today we’ll walk through the formal application — the detail and consent we need before introducing you to a sponsor.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766E"/>
          </a:solidFill>
          <a:ln/>
        </p:spPr>
      </p:sp>
      <p:sp>
        <p:nvSpPr>
          <p:cNvPr id="3" name="Shape 1"/>
          <p:cNvSpPr/>
          <p:nvPr/>
        </p:nvSpPr>
        <p:spPr>
          <a:xfrm>
            <a:off x="548640" y="6446520"/>
            <a:ext cx="11094415" cy="10973"/>
          </a:xfrm>
          <a:prstGeom prst="rect">
            <a:avLst/>
          </a:prstGeom>
          <a:solidFill>
            <a:srgbClr val="E5E0D5"/>
          </a:solidFill>
          <a:ln/>
        </p:spPr>
      </p:sp>
      <p:sp>
        <p:nvSpPr>
          <p:cNvPr id="4" name="Text 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HalaTuju  ·  B40 Education Assistance</a:t>
            </a:r>
            <a:endParaRPr lang="en-US" sz="900" dirty="0"/>
          </a:p>
        </p:txBody>
      </p:sp>
      <p:sp>
        <p:nvSpPr>
          <p:cNvPr id="5" name="Text 3"/>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7</a:t>
            </a:r>
            <a:endParaRPr lang="en-US" sz="900" dirty="0"/>
          </a:p>
        </p:txBody>
      </p:sp>
      <p:sp>
        <p:nvSpPr>
          <p:cNvPr id="6" name="Shape 4"/>
          <p:cNvSpPr/>
          <p:nvPr/>
        </p:nvSpPr>
        <p:spPr>
          <a:xfrm>
            <a:off x="640080" y="502920"/>
            <a:ext cx="2377440" cy="292608"/>
          </a:xfrm>
          <a:prstGeom prst="roundRect">
            <a:avLst>
              <a:gd name="adj" fmla="val 50000"/>
            </a:avLst>
          </a:prstGeom>
          <a:solidFill>
            <a:srgbClr val="E0F2EF"/>
          </a:solidFill>
          <a:ln/>
        </p:spPr>
      </p:sp>
      <p:sp>
        <p:nvSpPr>
          <p:cNvPr id="7" name="Text 5"/>
          <p:cNvSpPr/>
          <p:nvPr/>
        </p:nvSpPr>
        <p:spPr>
          <a:xfrm>
            <a:off x="640080" y="502920"/>
            <a:ext cx="2377440" cy="292608"/>
          </a:xfrm>
          <a:prstGeom prst="rect">
            <a:avLst/>
          </a:prstGeom>
          <a:noFill/>
          <a:ln/>
        </p:spPr>
        <p:txBody>
          <a:bodyPr wrap="square" lIns="0" tIns="0" rIns="0" bIns="0" rtlCol="0" anchor="ctr"/>
          <a:lstStyle/>
          <a:p>
            <a:pPr marL="0" indent="0" algn="ctr">
              <a:buNone/>
            </a:pPr>
            <a:r>
              <a:rPr lang="en-US" sz="900" b="1" kern="0" spc="100" dirty="0">
                <a:solidFill>
                  <a:srgbClr val="115E59"/>
                </a:solidFill>
                <a:latin typeface="Calibri" pitchFamily="34" charset="0"/>
                <a:ea typeface="Calibri" pitchFamily="34" charset="-122"/>
                <a:cs typeface="Calibri" pitchFamily="34" charset="-120"/>
              </a:rPr>
              <a:t>halatuju.xyz/scholarship</a:t>
            </a:r>
            <a:endParaRPr lang="en-US" sz="900" dirty="0"/>
          </a:p>
        </p:txBody>
      </p:sp>
      <p:sp>
        <p:nvSpPr>
          <p:cNvPr id="8" name="Text 6"/>
          <p:cNvSpPr/>
          <p:nvPr/>
        </p:nvSpPr>
        <p:spPr>
          <a:xfrm>
            <a:off x="594360" y="868680"/>
            <a:ext cx="8229600" cy="640080"/>
          </a:xfrm>
          <a:prstGeom prst="rect">
            <a:avLst/>
          </a:prstGeom>
          <a:noFill/>
          <a:ln/>
        </p:spPr>
        <p:txBody>
          <a:bodyPr wrap="square" lIns="0" tIns="0" rIns="0" bIns="0" rtlCol="0" anchor="ctr"/>
          <a:lstStyle/>
          <a:p>
            <a:pPr marL="0" indent="0">
              <a:buNone/>
            </a:pPr>
            <a:r>
              <a:rPr lang="en-US" sz="3200" b="1" dirty="0">
                <a:solidFill>
                  <a:srgbClr val="1F2937"/>
                </a:solidFill>
                <a:latin typeface="Georgia" pitchFamily="34" charset="0"/>
                <a:ea typeface="Georgia" pitchFamily="34" charset="-122"/>
                <a:cs typeface="Georgia" pitchFamily="34" charset="-120"/>
              </a:rPr>
              <a:t>Your 8-step journey</a:t>
            </a:r>
            <a:endParaRPr lang="en-US" sz="3200" dirty="0"/>
          </a:p>
        </p:txBody>
      </p:sp>
      <p:sp>
        <p:nvSpPr>
          <p:cNvPr id="9" name="Text 7"/>
          <p:cNvSpPr/>
          <p:nvPr/>
        </p:nvSpPr>
        <p:spPr>
          <a:xfrm>
            <a:off x="594360" y="1481328"/>
            <a:ext cx="82296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Rolling basis — no fixed deadline.</a:t>
            </a:r>
            <a:endParaRPr lang="en-US" sz="1300" dirty="0"/>
          </a:p>
        </p:txBody>
      </p:sp>
      <p:sp>
        <p:nvSpPr>
          <p:cNvPr id="10" name="Shape 8"/>
          <p:cNvSpPr/>
          <p:nvPr/>
        </p:nvSpPr>
        <p:spPr>
          <a:xfrm>
            <a:off x="594360" y="2011680"/>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1" name="Shape 9"/>
          <p:cNvSpPr/>
          <p:nvPr/>
        </p:nvSpPr>
        <p:spPr>
          <a:xfrm>
            <a:off x="868680" y="2286000"/>
            <a:ext cx="502920" cy="502920"/>
          </a:xfrm>
          <a:prstGeom prst="ellipse">
            <a:avLst/>
          </a:prstGeom>
          <a:solidFill>
            <a:srgbClr val="E76F51"/>
          </a:solidFill>
          <a:ln/>
        </p:spPr>
      </p:sp>
      <p:sp>
        <p:nvSpPr>
          <p:cNvPr id="12" name="Text 10"/>
          <p:cNvSpPr/>
          <p:nvPr/>
        </p:nvSpPr>
        <p:spPr>
          <a:xfrm>
            <a:off x="868680" y="2286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3" name="Text 11"/>
          <p:cNvSpPr/>
          <p:nvPr/>
        </p:nvSpPr>
        <p:spPr>
          <a:xfrm>
            <a:off x="1463040" y="2322576"/>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Apply</a:t>
            </a:r>
            <a:endParaRPr lang="en-US" sz="1400" dirty="0"/>
          </a:p>
        </p:txBody>
      </p:sp>
      <p:sp>
        <p:nvSpPr>
          <p:cNvPr id="14" name="Text 12"/>
          <p:cNvSpPr/>
          <p:nvPr/>
        </p:nvSpPr>
        <p:spPr>
          <a:xfrm>
            <a:off x="868680" y="2926080"/>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Sign in with Google, confirm your HalaTuju profile, submit.</a:t>
            </a:r>
            <a:endParaRPr lang="en-US" sz="1100" dirty="0"/>
          </a:p>
        </p:txBody>
      </p:sp>
      <p:sp>
        <p:nvSpPr>
          <p:cNvPr id="15" name="Shape 13"/>
          <p:cNvSpPr/>
          <p:nvPr/>
        </p:nvSpPr>
        <p:spPr>
          <a:xfrm>
            <a:off x="868680" y="3520440"/>
            <a:ext cx="1554480" cy="292608"/>
          </a:xfrm>
          <a:prstGeom prst="roundRect">
            <a:avLst>
              <a:gd name="adj" fmla="val 50000"/>
            </a:avLst>
          </a:prstGeom>
          <a:solidFill>
            <a:srgbClr val="F4EBDC"/>
          </a:solidFill>
          <a:ln/>
        </p:spPr>
      </p:sp>
      <p:sp>
        <p:nvSpPr>
          <p:cNvPr id="16" name="Text 14"/>
          <p:cNvSpPr/>
          <p:nvPr/>
        </p:nvSpPr>
        <p:spPr>
          <a:xfrm>
            <a:off x="868680" y="3520440"/>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5–10 min</a:t>
            </a:r>
            <a:endParaRPr lang="en-US" sz="950" dirty="0"/>
          </a:p>
        </p:txBody>
      </p:sp>
      <p:sp>
        <p:nvSpPr>
          <p:cNvPr id="17" name="Shape 15"/>
          <p:cNvSpPr/>
          <p:nvPr/>
        </p:nvSpPr>
        <p:spPr>
          <a:xfrm>
            <a:off x="3456432" y="2011680"/>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8" name="Shape 16"/>
          <p:cNvSpPr/>
          <p:nvPr/>
        </p:nvSpPr>
        <p:spPr>
          <a:xfrm>
            <a:off x="3730752" y="2286000"/>
            <a:ext cx="502920" cy="502920"/>
          </a:xfrm>
          <a:prstGeom prst="ellipse">
            <a:avLst/>
          </a:prstGeom>
          <a:solidFill>
            <a:srgbClr val="E76F51"/>
          </a:solidFill>
          <a:ln/>
        </p:spPr>
      </p:sp>
      <p:sp>
        <p:nvSpPr>
          <p:cNvPr id="19" name="Text 17"/>
          <p:cNvSpPr/>
          <p:nvPr/>
        </p:nvSpPr>
        <p:spPr>
          <a:xfrm>
            <a:off x="3730752" y="2286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20" name="Text 18"/>
          <p:cNvSpPr/>
          <p:nvPr/>
        </p:nvSpPr>
        <p:spPr>
          <a:xfrm>
            <a:off x="4325112" y="2322576"/>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We confirm</a:t>
            </a:r>
            <a:endParaRPr lang="en-US" sz="1400" dirty="0"/>
          </a:p>
        </p:txBody>
      </p:sp>
      <p:sp>
        <p:nvSpPr>
          <p:cNvPr id="21" name="Text 19"/>
          <p:cNvSpPr/>
          <p:nvPr/>
        </p:nvSpPr>
        <p:spPr>
          <a:xfrm>
            <a:off x="3730752" y="2926080"/>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An email acknowledging your application.</a:t>
            </a:r>
            <a:endParaRPr lang="en-US" sz="1100" dirty="0"/>
          </a:p>
        </p:txBody>
      </p:sp>
      <p:sp>
        <p:nvSpPr>
          <p:cNvPr id="22" name="Shape 20"/>
          <p:cNvSpPr/>
          <p:nvPr/>
        </p:nvSpPr>
        <p:spPr>
          <a:xfrm>
            <a:off x="3730752" y="3520440"/>
            <a:ext cx="1554480" cy="292608"/>
          </a:xfrm>
          <a:prstGeom prst="roundRect">
            <a:avLst>
              <a:gd name="adj" fmla="val 50000"/>
            </a:avLst>
          </a:prstGeom>
          <a:solidFill>
            <a:srgbClr val="F4EBDC"/>
          </a:solidFill>
          <a:ln/>
        </p:spPr>
      </p:sp>
      <p:sp>
        <p:nvSpPr>
          <p:cNvPr id="23" name="Text 21"/>
          <p:cNvSpPr/>
          <p:nvPr/>
        </p:nvSpPr>
        <p:spPr>
          <a:xfrm>
            <a:off x="3730752" y="3520440"/>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Same day</a:t>
            </a:r>
            <a:endParaRPr lang="en-US" sz="950" dirty="0"/>
          </a:p>
        </p:txBody>
      </p:sp>
      <p:sp>
        <p:nvSpPr>
          <p:cNvPr id="24" name="Shape 22"/>
          <p:cNvSpPr/>
          <p:nvPr/>
        </p:nvSpPr>
        <p:spPr>
          <a:xfrm>
            <a:off x="6318504" y="2011680"/>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5" name="Shape 23"/>
          <p:cNvSpPr/>
          <p:nvPr/>
        </p:nvSpPr>
        <p:spPr>
          <a:xfrm>
            <a:off x="6592824" y="2286000"/>
            <a:ext cx="502920" cy="502920"/>
          </a:xfrm>
          <a:prstGeom prst="ellipse">
            <a:avLst/>
          </a:prstGeom>
          <a:solidFill>
            <a:srgbClr val="E76F51"/>
          </a:solidFill>
          <a:ln/>
        </p:spPr>
      </p:sp>
      <p:sp>
        <p:nvSpPr>
          <p:cNvPr id="26" name="Text 24"/>
          <p:cNvSpPr/>
          <p:nvPr/>
        </p:nvSpPr>
        <p:spPr>
          <a:xfrm>
            <a:off x="6592824" y="2286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7" name="Text 25"/>
          <p:cNvSpPr/>
          <p:nvPr/>
        </p:nvSpPr>
        <p:spPr>
          <a:xfrm>
            <a:off x="7187184" y="2322576"/>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Shortlisting</a:t>
            </a:r>
            <a:endParaRPr lang="en-US" sz="1400" dirty="0"/>
          </a:p>
        </p:txBody>
      </p:sp>
      <p:sp>
        <p:nvSpPr>
          <p:cNvPr id="28" name="Text 26"/>
          <p:cNvSpPr/>
          <p:nvPr/>
        </p:nvSpPr>
        <p:spPr>
          <a:xfrm>
            <a:off x="6592824" y="2926080"/>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We check results and household income against the criteria.</a:t>
            </a:r>
            <a:endParaRPr lang="en-US" sz="1100" dirty="0"/>
          </a:p>
        </p:txBody>
      </p:sp>
      <p:sp>
        <p:nvSpPr>
          <p:cNvPr id="29" name="Shape 27"/>
          <p:cNvSpPr/>
          <p:nvPr/>
        </p:nvSpPr>
        <p:spPr>
          <a:xfrm>
            <a:off x="6592824" y="3520440"/>
            <a:ext cx="1554480" cy="292608"/>
          </a:xfrm>
          <a:prstGeom prst="roundRect">
            <a:avLst>
              <a:gd name="adj" fmla="val 50000"/>
            </a:avLst>
          </a:prstGeom>
          <a:solidFill>
            <a:srgbClr val="F4EBDC"/>
          </a:solidFill>
          <a:ln/>
        </p:spPr>
      </p:sp>
      <p:sp>
        <p:nvSpPr>
          <p:cNvPr id="30" name="Text 28"/>
          <p:cNvSpPr/>
          <p:nvPr/>
        </p:nvSpPr>
        <p:spPr>
          <a:xfrm>
            <a:off x="6592824" y="3520440"/>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Within 48 hours</a:t>
            </a:r>
            <a:endParaRPr lang="en-US" sz="950" dirty="0"/>
          </a:p>
        </p:txBody>
      </p:sp>
      <p:sp>
        <p:nvSpPr>
          <p:cNvPr id="31" name="Shape 29"/>
          <p:cNvSpPr/>
          <p:nvPr/>
        </p:nvSpPr>
        <p:spPr>
          <a:xfrm>
            <a:off x="9180576" y="2011680"/>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32" name="Shape 30"/>
          <p:cNvSpPr/>
          <p:nvPr/>
        </p:nvSpPr>
        <p:spPr>
          <a:xfrm>
            <a:off x="9454896" y="2286000"/>
            <a:ext cx="502920" cy="502920"/>
          </a:xfrm>
          <a:prstGeom prst="ellipse">
            <a:avLst/>
          </a:prstGeom>
          <a:solidFill>
            <a:srgbClr val="E76F51"/>
          </a:solidFill>
          <a:ln/>
        </p:spPr>
      </p:sp>
      <p:sp>
        <p:nvSpPr>
          <p:cNvPr id="33" name="Text 31"/>
          <p:cNvSpPr/>
          <p:nvPr/>
        </p:nvSpPr>
        <p:spPr>
          <a:xfrm>
            <a:off x="9454896" y="2286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4" name="Text 32"/>
          <p:cNvSpPr/>
          <p:nvPr/>
        </p:nvSpPr>
        <p:spPr>
          <a:xfrm>
            <a:off x="10049256" y="2322576"/>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Complete profile</a:t>
            </a:r>
            <a:endParaRPr lang="en-US" sz="1400" dirty="0"/>
          </a:p>
        </p:txBody>
      </p:sp>
      <p:sp>
        <p:nvSpPr>
          <p:cNvPr id="35" name="Text 33"/>
          <p:cNvSpPr/>
          <p:nvPr/>
        </p:nvSpPr>
        <p:spPr>
          <a:xfrm>
            <a:off x="9454896" y="2926080"/>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Share more detail + upload documents (IC, results, income proof).</a:t>
            </a:r>
            <a:endParaRPr lang="en-US" sz="1100" dirty="0"/>
          </a:p>
        </p:txBody>
      </p:sp>
      <p:sp>
        <p:nvSpPr>
          <p:cNvPr id="36" name="Shape 34"/>
          <p:cNvSpPr/>
          <p:nvPr/>
        </p:nvSpPr>
        <p:spPr>
          <a:xfrm>
            <a:off x="9454896" y="3520440"/>
            <a:ext cx="1554480" cy="292608"/>
          </a:xfrm>
          <a:prstGeom prst="roundRect">
            <a:avLst>
              <a:gd name="adj" fmla="val 50000"/>
            </a:avLst>
          </a:prstGeom>
          <a:solidFill>
            <a:srgbClr val="F4EBDC"/>
          </a:solidFill>
          <a:ln/>
        </p:spPr>
      </p:sp>
      <p:sp>
        <p:nvSpPr>
          <p:cNvPr id="37" name="Text 35"/>
          <p:cNvSpPr/>
          <p:nvPr/>
        </p:nvSpPr>
        <p:spPr>
          <a:xfrm>
            <a:off x="9454896" y="3520440"/>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When ready</a:t>
            </a:r>
            <a:endParaRPr lang="en-US" sz="950" dirty="0"/>
          </a:p>
        </p:txBody>
      </p:sp>
      <p:sp>
        <p:nvSpPr>
          <p:cNvPr id="38" name="Shape 36"/>
          <p:cNvSpPr/>
          <p:nvPr/>
        </p:nvSpPr>
        <p:spPr>
          <a:xfrm>
            <a:off x="594360" y="4187952"/>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39" name="Shape 37"/>
          <p:cNvSpPr/>
          <p:nvPr/>
        </p:nvSpPr>
        <p:spPr>
          <a:xfrm>
            <a:off x="868680" y="4462272"/>
            <a:ext cx="502920" cy="502920"/>
          </a:xfrm>
          <a:prstGeom prst="ellipse">
            <a:avLst/>
          </a:prstGeom>
          <a:solidFill>
            <a:srgbClr val="E76F51"/>
          </a:solidFill>
          <a:ln/>
        </p:spPr>
      </p:sp>
      <p:sp>
        <p:nvSpPr>
          <p:cNvPr id="40" name="Text 38"/>
          <p:cNvSpPr/>
          <p:nvPr/>
        </p:nvSpPr>
        <p:spPr>
          <a:xfrm>
            <a:off x="868680" y="44622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41" name="Text 39"/>
          <p:cNvSpPr/>
          <p:nvPr/>
        </p:nvSpPr>
        <p:spPr>
          <a:xfrm>
            <a:off x="1463040" y="4498848"/>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Short interview</a:t>
            </a:r>
            <a:endParaRPr lang="en-US" sz="1400" dirty="0"/>
          </a:p>
        </p:txBody>
      </p:sp>
      <p:sp>
        <p:nvSpPr>
          <p:cNvPr id="42" name="Text 40"/>
          <p:cNvSpPr/>
          <p:nvPr/>
        </p:nvSpPr>
        <p:spPr>
          <a:xfrm>
            <a:off x="868680" y="5102352"/>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Brief phone call (~20 min) in your preferred language.</a:t>
            </a:r>
            <a:endParaRPr lang="en-US" sz="1100" dirty="0"/>
          </a:p>
        </p:txBody>
      </p:sp>
      <p:sp>
        <p:nvSpPr>
          <p:cNvPr id="43" name="Shape 41"/>
          <p:cNvSpPr/>
          <p:nvPr/>
        </p:nvSpPr>
        <p:spPr>
          <a:xfrm>
            <a:off x="868680" y="5696712"/>
            <a:ext cx="1554480" cy="292608"/>
          </a:xfrm>
          <a:prstGeom prst="roundRect">
            <a:avLst>
              <a:gd name="adj" fmla="val 50000"/>
            </a:avLst>
          </a:prstGeom>
          <a:solidFill>
            <a:srgbClr val="F4EBDC"/>
          </a:solidFill>
          <a:ln/>
        </p:spPr>
      </p:sp>
      <p:sp>
        <p:nvSpPr>
          <p:cNvPr id="44" name="Text 42"/>
          <p:cNvSpPr/>
          <p:nvPr/>
        </p:nvSpPr>
        <p:spPr>
          <a:xfrm>
            <a:off x="868680" y="5696712"/>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After profile</a:t>
            </a:r>
            <a:endParaRPr lang="en-US" sz="950" dirty="0"/>
          </a:p>
        </p:txBody>
      </p:sp>
      <p:sp>
        <p:nvSpPr>
          <p:cNvPr id="45" name="Shape 43"/>
          <p:cNvSpPr/>
          <p:nvPr/>
        </p:nvSpPr>
        <p:spPr>
          <a:xfrm>
            <a:off x="3456432" y="4187952"/>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46" name="Shape 44"/>
          <p:cNvSpPr/>
          <p:nvPr/>
        </p:nvSpPr>
        <p:spPr>
          <a:xfrm>
            <a:off x="3730752" y="4462272"/>
            <a:ext cx="502920" cy="502920"/>
          </a:xfrm>
          <a:prstGeom prst="ellipse">
            <a:avLst/>
          </a:prstGeom>
          <a:solidFill>
            <a:srgbClr val="E76F51"/>
          </a:solidFill>
          <a:ln/>
        </p:spPr>
      </p:sp>
      <p:sp>
        <p:nvSpPr>
          <p:cNvPr id="47" name="Text 45"/>
          <p:cNvSpPr/>
          <p:nvPr/>
        </p:nvSpPr>
        <p:spPr>
          <a:xfrm>
            <a:off x="3730752" y="44622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48" name="Text 46"/>
          <p:cNvSpPr/>
          <p:nvPr/>
        </p:nvSpPr>
        <p:spPr>
          <a:xfrm>
            <a:off x="4325112" y="4498848"/>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Ready for sponsors</a:t>
            </a:r>
            <a:endParaRPr lang="en-US" sz="1400" dirty="0"/>
          </a:p>
        </p:txBody>
      </p:sp>
      <p:sp>
        <p:nvSpPr>
          <p:cNvPr id="49" name="Text 47"/>
          <p:cNvSpPr/>
          <p:nvPr/>
        </p:nvSpPr>
        <p:spPr>
          <a:xfrm>
            <a:off x="3730752" y="5102352"/>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With your written consent, we prepare a confidential profile.</a:t>
            </a:r>
            <a:endParaRPr lang="en-US" sz="1100" dirty="0"/>
          </a:p>
        </p:txBody>
      </p:sp>
      <p:sp>
        <p:nvSpPr>
          <p:cNvPr id="50" name="Shape 48"/>
          <p:cNvSpPr/>
          <p:nvPr/>
        </p:nvSpPr>
        <p:spPr>
          <a:xfrm>
            <a:off x="3730752" y="5696712"/>
            <a:ext cx="1554480" cy="292608"/>
          </a:xfrm>
          <a:prstGeom prst="roundRect">
            <a:avLst>
              <a:gd name="adj" fmla="val 50000"/>
            </a:avLst>
          </a:prstGeom>
          <a:solidFill>
            <a:srgbClr val="F4EBDC"/>
          </a:solidFill>
          <a:ln/>
        </p:spPr>
      </p:sp>
      <p:sp>
        <p:nvSpPr>
          <p:cNvPr id="51" name="Text 49"/>
          <p:cNvSpPr/>
          <p:nvPr/>
        </p:nvSpPr>
        <p:spPr>
          <a:xfrm>
            <a:off x="3730752" y="5696712"/>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After interview</a:t>
            </a:r>
            <a:endParaRPr lang="en-US" sz="950" dirty="0"/>
          </a:p>
        </p:txBody>
      </p:sp>
      <p:sp>
        <p:nvSpPr>
          <p:cNvPr id="52" name="Shape 50"/>
          <p:cNvSpPr/>
          <p:nvPr/>
        </p:nvSpPr>
        <p:spPr>
          <a:xfrm>
            <a:off x="6318504" y="4187952"/>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53" name="Shape 51"/>
          <p:cNvSpPr/>
          <p:nvPr/>
        </p:nvSpPr>
        <p:spPr>
          <a:xfrm>
            <a:off x="6592824" y="4462272"/>
            <a:ext cx="502920" cy="502920"/>
          </a:xfrm>
          <a:prstGeom prst="ellipse">
            <a:avLst/>
          </a:prstGeom>
          <a:solidFill>
            <a:srgbClr val="E76F51"/>
          </a:solidFill>
          <a:ln/>
        </p:spPr>
      </p:sp>
      <p:sp>
        <p:nvSpPr>
          <p:cNvPr id="54" name="Text 52"/>
          <p:cNvSpPr/>
          <p:nvPr/>
        </p:nvSpPr>
        <p:spPr>
          <a:xfrm>
            <a:off x="6592824" y="44622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7</a:t>
            </a:r>
            <a:endParaRPr lang="en-US" sz="1800" dirty="0"/>
          </a:p>
        </p:txBody>
      </p:sp>
      <p:sp>
        <p:nvSpPr>
          <p:cNvPr id="55" name="Text 53"/>
          <p:cNvSpPr/>
          <p:nvPr/>
        </p:nvSpPr>
        <p:spPr>
          <a:xfrm>
            <a:off x="7187184" y="4498848"/>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Matched &amp; awarded</a:t>
            </a:r>
            <a:endParaRPr lang="en-US" sz="1400" dirty="0"/>
          </a:p>
        </p:txBody>
      </p:sp>
      <p:sp>
        <p:nvSpPr>
          <p:cNvPr id="56" name="Text 54"/>
          <p:cNvSpPr/>
          <p:nvPr/>
        </p:nvSpPr>
        <p:spPr>
          <a:xfrm>
            <a:off x="6592824" y="5102352"/>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A sponsor chooses to support you; we administer the funds together.</a:t>
            </a:r>
            <a:endParaRPr lang="en-US" sz="1100" dirty="0"/>
          </a:p>
        </p:txBody>
      </p:sp>
      <p:sp>
        <p:nvSpPr>
          <p:cNvPr id="57" name="Shape 55"/>
          <p:cNvSpPr/>
          <p:nvPr/>
        </p:nvSpPr>
        <p:spPr>
          <a:xfrm>
            <a:off x="6592824" y="5696712"/>
            <a:ext cx="1554480" cy="292608"/>
          </a:xfrm>
          <a:prstGeom prst="roundRect">
            <a:avLst>
              <a:gd name="adj" fmla="val 50000"/>
            </a:avLst>
          </a:prstGeom>
          <a:solidFill>
            <a:srgbClr val="F4EBDC"/>
          </a:solidFill>
          <a:ln/>
        </p:spPr>
      </p:sp>
      <p:sp>
        <p:nvSpPr>
          <p:cNvPr id="58" name="Text 56"/>
          <p:cNvSpPr/>
          <p:nvPr/>
        </p:nvSpPr>
        <p:spPr>
          <a:xfrm>
            <a:off x="6592824" y="5696712"/>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~2 months total</a:t>
            </a:r>
            <a:endParaRPr lang="en-US" sz="950" dirty="0"/>
          </a:p>
        </p:txBody>
      </p:sp>
      <p:sp>
        <p:nvSpPr>
          <p:cNvPr id="59" name="Shape 57"/>
          <p:cNvSpPr/>
          <p:nvPr/>
        </p:nvSpPr>
        <p:spPr>
          <a:xfrm>
            <a:off x="9180576" y="4187952"/>
            <a:ext cx="2743200" cy="201168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60" name="Shape 58"/>
          <p:cNvSpPr/>
          <p:nvPr/>
        </p:nvSpPr>
        <p:spPr>
          <a:xfrm>
            <a:off x="9454896" y="4462272"/>
            <a:ext cx="502920" cy="502920"/>
          </a:xfrm>
          <a:prstGeom prst="ellipse">
            <a:avLst/>
          </a:prstGeom>
          <a:solidFill>
            <a:srgbClr val="E76F51"/>
          </a:solidFill>
          <a:ln/>
        </p:spPr>
      </p:sp>
      <p:sp>
        <p:nvSpPr>
          <p:cNvPr id="61" name="Text 59"/>
          <p:cNvSpPr/>
          <p:nvPr/>
        </p:nvSpPr>
        <p:spPr>
          <a:xfrm>
            <a:off x="9454896" y="44622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8</a:t>
            </a:r>
            <a:endParaRPr lang="en-US" sz="1800" dirty="0"/>
          </a:p>
        </p:txBody>
      </p:sp>
      <p:sp>
        <p:nvSpPr>
          <p:cNvPr id="62" name="Text 60"/>
          <p:cNvSpPr/>
          <p:nvPr/>
        </p:nvSpPr>
        <p:spPr>
          <a:xfrm>
            <a:off x="10049256" y="4498848"/>
            <a:ext cx="1737360" cy="502920"/>
          </a:xfrm>
          <a:prstGeom prst="rect">
            <a:avLst/>
          </a:prstGeom>
          <a:noFill/>
          <a:ln/>
        </p:spPr>
        <p:txBody>
          <a:bodyPr wrap="square" lIns="0" tIns="0" rIns="0" bIns="0" rtlCol="0" anchor="t"/>
          <a:lstStyle/>
          <a:p>
            <a:pPr marL="0" indent="0">
              <a:buNone/>
            </a:pPr>
            <a:r>
              <a:rPr lang="en-US" sz="1400" b="1" dirty="0">
                <a:solidFill>
                  <a:srgbClr val="1F2937"/>
                </a:solidFill>
                <a:latin typeface="Georgia" pitchFamily="34" charset="0"/>
                <a:ea typeface="Georgia" pitchFamily="34" charset="-122"/>
                <a:cs typeface="Georgia" pitchFamily="34" charset="-120"/>
              </a:rPr>
              <a:t>Staying supported</a:t>
            </a:r>
            <a:endParaRPr lang="en-US" sz="1400" dirty="0"/>
          </a:p>
        </p:txBody>
      </p:sp>
      <p:sp>
        <p:nvSpPr>
          <p:cNvPr id="63" name="Text 61"/>
          <p:cNvSpPr/>
          <p:nvPr/>
        </p:nvSpPr>
        <p:spPr>
          <a:xfrm>
            <a:off x="9454896" y="5102352"/>
            <a:ext cx="2194560" cy="731520"/>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Each semester, upload results + a brief progress note.</a:t>
            </a:r>
            <a:endParaRPr lang="en-US" sz="1100" dirty="0"/>
          </a:p>
        </p:txBody>
      </p:sp>
      <p:sp>
        <p:nvSpPr>
          <p:cNvPr id="64" name="Shape 62"/>
          <p:cNvSpPr/>
          <p:nvPr/>
        </p:nvSpPr>
        <p:spPr>
          <a:xfrm>
            <a:off x="9454896" y="5696712"/>
            <a:ext cx="1554480" cy="292608"/>
          </a:xfrm>
          <a:prstGeom prst="roundRect">
            <a:avLst>
              <a:gd name="adj" fmla="val 50000"/>
            </a:avLst>
          </a:prstGeom>
          <a:solidFill>
            <a:srgbClr val="F4EBDC"/>
          </a:solidFill>
          <a:ln/>
        </p:spPr>
      </p:sp>
      <p:sp>
        <p:nvSpPr>
          <p:cNvPr id="65" name="Text 63"/>
          <p:cNvSpPr/>
          <p:nvPr/>
        </p:nvSpPr>
        <p:spPr>
          <a:xfrm>
            <a:off x="9454896" y="5696712"/>
            <a:ext cx="1554480" cy="292608"/>
          </a:xfrm>
          <a:prstGeom prst="rect">
            <a:avLst/>
          </a:prstGeom>
          <a:noFill/>
          <a:ln/>
        </p:spPr>
        <p:txBody>
          <a:bodyPr wrap="square" lIns="0" tIns="0" rIns="0" bIns="0" rtlCol="0" anchor="ctr"/>
          <a:lstStyle/>
          <a:p>
            <a:pPr marL="0" indent="0" algn="ctr">
              <a:buNone/>
            </a:pPr>
            <a:r>
              <a:rPr lang="en-US" sz="950" b="1" dirty="0">
                <a:solidFill>
                  <a:srgbClr val="115E59"/>
                </a:solidFill>
                <a:latin typeface="Calibri" pitchFamily="34" charset="0"/>
                <a:ea typeface="Calibri" pitchFamily="34" charset="-122"/>
                <a:cs typeface="Calibri" pitchFamily="34" charset="-120"/>
              </a:rPr>
              <a:t>Through your studies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766E"/>
          </a:solidFill>
          <a:ln/>
        </p:spPr>
      </p:sp>
      <p:sp>
        <p:nvSpPr>
          <p:cNvPr id="3" name="Shape 1"/>
          <p:cNvSpPr/>
          <p:nvPr/>
        </p:nvSpPr>
        <p:spPr>
          <a:xfrm>
            <a:off x="548640" y="6446520"/>
            <a:ext cx="11094415" cy="10973"/>
          </a:xfrm>
          <a:prstGeom prst="rect">
            <a:avLst/>
          </a:prstGeom>
          <a:solidFill>
            <a:srgbClr val="E5E0D5"/>
          </a:solidFill>
          <a:ln/>
        </p:spPr>
      </p:sp>
      <p:sp>
        <p:nvSpPr>
          <p:cNvPr id="4" name="Text 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HalaTuju  ·  B40 Education Assistance</a:t>
            </a:r>
            <a:endParaRPr lang="en-US" sz="900" dirty="0"/>
          </a:p>
        </p:txBody>
      </p:sp>
      <p:sp>
        <p:nvSpPr>
          <p:cNvPr id="5" name="Text 3"/>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7</a:t>
            </a:r>
            <a:endParaRPr lang="en-US" sz="900" dirty="0"/>
          </a:p>
        </p:txBody>
      </p:sp>
      <p:sp>
        <p:nvSpPr>
          <p:cNvPr id="6" name="Shape 4"/>
          <p:cNvSpPr/>
          <p:nvPr/>
        </p:nvSpPr>
        <p:spPr>
          <a:xfrm>
            <a:off x="640080" y="502920"/>
            <a:ext cx="2743200" cy="292608"/>
          </a:xfrm>
          <a:prstGeom prst="roundRect">
            <a:avLst>
              <a:gd name="adj" fmla="val 50000"/>
            </a:avLst>
          </a:prstGeom>
          <a:solidFill>
            <a:srgbClr val="E0F2EF"/>
          </a:solidFill>
          <a:ln/>
        </p:spPr>
      </p:sp>
      <p:sp>
        <p:nvSpPr>
          <p:cNvPr id="7" name="Text 5"/>
          <p:cNvSpPr/>
          <p:nvPr/>
        </p:nvSpPr>
        <p:spPr>
          <a:xfrm>
            <a:off x="640080" y="502920"/>
            <a:ext cx="2743200" cy="292608"/>
          </a:xfrm>
          <a:prstGeom prst="rect">
            <a:avLst/>
          </a:prstGeom>
          <a:noFill/>
          <a:ln/>
        </p:spPr>
        <p:txBody>
          <a:bodyPr wrap="square" lIns="0" tIns="0" rIns="0" bIns="0" rtlCol="0" anchor="ctr"/>
          <a:lstStyle/>
          <a:p>
            <a:pPr marL="0" indent="0" algn="ctr">
              <a:buNone/>
            </a:pPr>
            <a:r>
              <a:rPr lang="en-US" sz="900" b="1" kern="0" spc="100" dirty="0">
                <a:solidFill>
                  <a:srgbClr val="115E59"/>
                </a:solidFill>
                <a:latin typeface="Calibri" pitchFamily="34" charset="0"/>
                <a:ea typeface="Calibri" pitchFamily="34" charset="-122"/>
                <a:cs typeface="Calibri" pitchFamily="34" charset="-120"/>
              </a:rPr>
              <a:t>/scholarship  ·  Can I apply?</a:t>
            </a:r>
            <a:endParaRPr lang="en-US" sz="900" dirty="0"/>
          </a:p>
        </p:txBody>
      </p:sp>
      <p:sp>
        <p:nvSpPr>
          <p:cNvPr id="8" name="Text 6"/>
          <p:cNvSpPr/>
          <p:nvPr/>
        </p:nvSpPr>
        <p:spPr>
          <a:xfrm>
            <a:off x="594360" y="868680"/>
            <a:ext cx="10972800" cy="640080"/>
          </a:xfrm>
          <a:prstGeom prst="rect">
            <a:avLst/>
          </a:prstGeom>
          <a:noFill/>
          <a:ln/>
        </p:spPr>
        <p:txBody>
          <a:bodyPr wrap="square" lIns="0" tIns="0" rIns="0" bIns="0" rtlCol="0" anchor="ctr"/>
          <a:lstStyle/>
          <a:p>
            <a:pPr marL="0" indent="0">
              <a:buNone/>
            </a:pPr>
            <a:r>
              <a:rPr lang="en-US" sz="2800" b="1" dirty="0">
                <a:solidFill>
                  <a:srgbClr val="1F2937"/>
                </a:solidFill>
                <a:latin typeface="Georgia" pitchFamily="34" charset="0"/>
                <a:ea typeface="Georgia" pitchFamily="34" charset="-122"/>
                <a:cs typeface="Georgia" pitchFamily="34" charset="-120"/>
              </a:rPr>
              <a:t>You are eligible if all of these are true</a:t>
            </a:r>
            <a:endParaRPr lang="en-US" sz="2800" dirty="0"/>
          </a:p>
        </p:txBody>
      </p:sp>
      <p:sp>
        <p:nvSpPr>
          <p:cNvPr id="9" name="Shape 7"/>
          <p:cNvSpPr/>
          <p:nvPr/>
        </p:nvSpPr>
        <p:spPr>
          <a:xfrm>
            <a:off x="594360" y="1737360"/>
            <a:ext cx="3657600" cy="1417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0" name="Shape 8"/>
          <p:cNvSpPr/>
          <p:nvPr/>
        </p:nvSpPr>
        <p:spPr>
          <a:xfrm>
            <a:off x="594360" y="1737360"/>
            <a:ext cx="73152" cy="1417320"/>
          </a:xfrm>
          <a:prstGeom prst="rect">
            <a:avLst/>
          </a:prstGeom>
          <a:solidFill>
            <a:srgbClr val="0F766E"/>
          </a:solidFill>
          <a:ln/>
        </p:spPr>
      </p:sp>
      <p:sp>
        <p:nvSpPr>
          <p:cNvPr id="11" name="Shape 9"/>
          <p:cNvSpPr/>
          <p:nvPr/>
        </p:nvSpPr>
        <p:spPr>
          <a:xfrm>
            <a:off x="868680" y="2029968"/>
            <a:ext cx="457200" cy="457200"/>
          </a:xfrm>
          <a:prstGeom prst="ellipse">
            <a:avLst/>
          </a:prstGeom>
          <a:solidFill>
            <a:srgbClr val="E0F2EF"/>
          </a:solidFill>
          <a:ln/>
        </p:spPr>
      </p:sp>
      <p:pic>
        <p:nvPicPr>
          <p:cNvPr id="12" name="Image 0" descr="preencoded.png"/>
          <p:cNvPicPr>
            <a:picLocks noChangeAspect="1"/>
          </p:cNvPicPr>
          <p:nvPr/>
        </p:nvPicPr>
        <p:blipFill>
          <a:blip r:embed="rId3"/>
          <a:stretch>
            <a:fillRect/>
          </a:stretch>
        </p:blipFill>
        <p:spPr>
          <a:xfrm>
            <a:off x="969264" y="2130552"/>
            <a:ext cx="256032" cy="256032"/>
          </a:xfrm>
          <a:prstGeom prst="rect">
            <a:avLst/>
          </a:prstGeom>
        </p:spPr>
      </p:pic>
      <p:sp>
        <p:nvSpPr>
          <p:cNvPr id="13" name="Text 10"/>
          <p:cNvSpPr/>
          <p:nvPr/>
        </p:nvSpPr>
        <p:spPr>
          <a:xfrm>
            <a:off x="1435608" y="2048256"/>
            <a:ext cx="2651760" cy="365760"/>
          </a:xfrm>
          <a:prstGeom prst="rect">
            <a:avLst/>
          </a:prstGeom>
          <a:noFill/>
          <a:ln/>
        </p:spPr>
        <p:txBody>
          <a:bodyPr wrap="square" lIns="0" tIns="0" rIns="0" bIns="0" rtlCol="0" anchor="t"/>
          <a:lstStyle/>
          <a:p>
            <a:pPr marL="0" indent="0">
              <a:buNone/>
            </a:pPr>
            <a:r>
              <a:rPr lang="en-US" sz="1300" b="1" dirty="0">
                <a:solidFill>
                  <a:srgbClr val="1F2937"/>
                </a:solidFill>
                <a:latin typeface="Georgia" pitchFamily="34" charset="0"/>
                <a:ea typeface="Georgia" pitchFamily="34" charset="-122"/>
                <a:cs typeface="Georgia" pitchFamily="34" charset="-120"/>
              </a:rPr>
              <a:t>Malaysian citizen</a:t>
            </a:r>
            <a:endParaRPr lang="en-US" sz="1300" dirty="0"/>
          </a:p>
        </p:txBody>
      </p:sp>
      <p:sp>
        <p:nvSpPr>
          <p:cNvPr id="14" name="Text 11"/>
          <p:cNvSpPr/>
          <p:nvPr/>
        </p:nvSpPr>
        <p:spPr>
          <a:xfrm>
            <a:off x="868680" y="2578608"/>
            <a:ext cx="3200400" cy="530352"/>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Just completed, or completing, SPM or STPM.</a:t>
            </a:r>
            <a:endParaRPr lang="en-US" sz="1100" dirty="0"/>
          </a:p>
        </p:txBody>
      </p:sp>
      <p:sp>
        <p:nvSpPr>
          <p:cNvPr id="15" name="Shape 12"/>
          <p:cNvSpPr/>
          <p:nvPr/>
        </p:nvSpPr>
        <p:spPr>
          <a:xfrm>
            <a:off x="4370832" y="1737360"/>
            <a:ext cx="3657600" cy="1417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6" name="Shape 13"/>
          <p:cNvSpPr/>
          <p:nvPr/>
        </p:nvSpPr>
        <p:spPr>
          <a:xfrm>
            <a:off x="4370832" y="1737360"/>
            <a:ext cx="73152" cy="1417320"/>
          </a:xfrm>
          <a:prstGeom prst="rect">
            <a:avLst/>
          </a:prstGeom>
          <a:solidFill>
            <a:srgbClr val="0F766E"/>
          </a:solidFill>
          <a:ln/>
        </p:spPr>
      </p:sp>
      <p:sp>
        <p:nvSpPr>
          <p:cNvPr id="17" name="Shape 14"/>
          <p:cNvSpPr/>
          <p:nvPr/>
        </p:nvSpPr>
        <p:spPr>
          <a:xfrm>
            <a:off x="4645152" y="2029968"/>
            <a:ext cx="457200" cy="457200"/>
          </a:xfrm>
          <a:prstGeom prst="ellipse">
            <a:avLst/>
          </a:prstGeom>
          <a:solidFill>
            <a:srgbClr val="E0F2EF"/>
          </a:solidFill>
          <a:ln/>
        </p:spPr>
      </p:sp>
      <p:pic>
        <p:nvPicPr>
          <p:cNvPr id="18" name="Image 1" descr="preencoded.png"/>
          <p:cNvPicPr>
            <a:picLocks noChangeAspect="1"/>
          </p:cNvPicPr>
          <p:nvPr/>
        </p:nvPicPr>
        <p:blipFill>
          <a:blip r:embed="rId4"/>
          <a:stretch>
            <a:fillRect/>
          </a:stretch>
        </p:blipFill>
        <p:spPr>
          <a:xfrm>
            <a:off x="4745736" y="2130552"/>
            <a:ext cx="256032" cy="256032"/>
          </a:xfrm>
          <a:prstGeom prst="rect">
            <a:avLst/>
          </a:prstGeom>
        </p:spPr>
      </p:pic>
      <p:sp>
        <p:nvSpPr>
          <p:cNvPr id="19" name="Text 15"/>
          <p:cNvSpPr/>
          <p:nvPr/>
        </p:nvSpPr>
        <p:spPr>
          <a:xfrm>
            <a:off x="5212080" y="2048256"/>
            <a:ext cx="2651760" cy="365760"/>
          </a:xfrm>
          <a:prstGeom prst="rect">
            <a:avLst/>
          </a:prstGeom>
          <a:noFill/>
          <a:ln/>
        </p:spPr>
        <p:txBody>
          <a:bodyPr wrap="square" lIns="0" tIns="0" rIns="0" bIns="0" rtlCol="0" anchor="t"/>
          <a:lstStyle/>
          <a:p>
            <a:pPr marL="0" indent="0">
              <a:buNone/>
            </a:pPr>
            <a:r>
              <a:rPr lang="en-US" sz="1300" b="1" dirty="0">
                <a:solidFill>
                  <a:srgbClr val="1F2937"/>
                </a:solidFill>
                <a:latin typeface="Georgia" pitchFamily="34" charset="0"/>
                <a:ea typeface="Georgia" pitchFamily="34" charset="-122"/>
                <a:cs typeface="Georgia" pitchFamily="34" charset="-120"/>
              </a:rPr>
              <a:t>Low-income household</a:t>
            </a:r>
            <a:endParaRPr lang="en-US" sz="1300" dirty="0"/>
          </a:p>
        </p:txBody>
      </p:sp>
      <p:sp>
        <p:nvSpPr>
          <p:cNvPr id="20" name="Text 16"/>
          <p:cNvSpPr/>
          <p:nvPr/>
        </p:nvSpPr>
        <p:spPr>
          <a:xfrm>
            <a:off x="4645152" y="2578608"/>
            <a:ext cx="3200400" cy="530352"/>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Combined monthly income at or below RM5,860 (national B40 threshold, DOSM 2024).</a:t>
            </a:r>
            <a:endParaRPr lang="en-US" sz="1100" dirty="0"/>
          </a:p>
        </p:txBody>
      </p:sp>
      <p:sp>
        <p:nvSpPr>
          <p:cNvPr id="21" name="Shape 17"/>
          <p:cNvSpPr/>
          <p:nvPr/>
        </p:nvSpPr>
        <p:spPr>
          <a:xfrm>
            <a:off x="8147304" y="1737360"/>
            <a:ext cx="3657600" cy="1417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2" name="Shape 18"/>
          <p:cNvSpPr/>
          <p:nvPr/>
        </p:nvSpPr>
        <p:spPr>
          <a:xfrm>
            <a:off x="8147304" y="1737360"/>
            <a:ext cx="73152" cy="1417320"/>
          </a:xfrm>
          <a:prstGeom prst="rect">
            <a:avLst/>
          </a:prstGeom>
          <a:solidFill>
            <a:srgbClr val="0F766E"/>
          </a:solidFill>
          <a:ln/>
        </p:spPr>
      </p:sp>
      <p:sp>
        <p:nvSpPr>
          <p:cNvPr id="23" name="Shape 19"/>
          <p:cNvSpPr/>
          <p:nvPr/>
        </p:nvSpPr>
        <p:spPr>
          <a:xfrm>
            <a:off x="8421624" y="2029968"/>
            <a:ext cx="457200" cy="457200"/>
          </a:xfrm>
          <a:prstGeom prst="ellipse">
            <a:avLst/>
          </a:prstGeom>
          <a:solidFill>
            <a:srgbClr val="E0F2EF"/>
          </a:solidFill>
          <a:ln/>
        </p:spPr>
      </p:sp>
      <p:pic>
        <p:nvPicPr>
          <p:cNvPr id="24" name="Image 2" descr="preencoded.png"/>
          <p:cNvPicPr>
            <a:picLocks noChangeAspect="1"/>
          </p:cNvPicPr>
          <p:nvPr/>
        </p:nvPicPr>
        <p:blipFill>
          <a:blip r:embed="rId5"/>
          <a:stretch>
            <a:fillRect/>
          </a:stretch>
        </p:blipFill>
        <p:spPr>
          <a:xfrm>
            <a:off x="8522208" y="2130552"/>
            <a:ext cx="256032" cy="256032"/>
          </a:xfrm>
          <a:prstGeom prst="rect">
            <a:avLst/>
          </a:prstGeom>
        </p:spPr>
      </p:pic>
      <p:sp>
        <p:nvSpPr>
          <p:cNvPr id="25" name="Text 20"/>
          <p:cNvSpPr/>
          <p:nvPr/>
        </p:nvSpPr>
        <p:spPr>
          <a:xfrm>
            <a:off x="8988552" y="2048256"/>
            <a:ext cx="2651760" cy="365760"/>
          </a:xfrm>
          <a:prstGeom prst="rect">
            <a:avLst/>
          </a:prstGeom>
          <a:noFill/>
          <a:ln/>
        </p:spPr>
        <p:txBody>
          <a:bodyPr wrap="square" lIns="0" tIns="0" rIns="0" bIns="0" rtlCol="0" anchor="t"/>
          <a:lstStyle/>
          <a:p>
            <a:pPr marL="0" indent="0">
              <a:buNone/>
            </a:pPr>
            <a:r>
              <a:rPr lang="en-US" sz="1300" b="1" dirty="0">
                <a:solidFill>
                  <a:srgbClr val="1F2937"/>
                </a:solidFill>
                <a:latin typeface="Georgia" pitchFamily="34" charset="0"/>
                <a:ea typeface="Georgia" pitchFamily="34" charset="-122"/>
                <a:cs typeface="Georgia" pitchFamily="34" charset="-120"/>
              </a:rPr>
              <a:t>Solid academic record</a:t>
            </a:r>
            <a:endParaRPr lang="en-US" sz="1300" dirty="0"/>
          </a:p>
        </p:txBody>
      </p:sp>
      <p:sp>
        <p:nvSpPr>
          <p:cNvPr id="26" name="Text 21"/>
          <p:cNvSpPr/>
          <p:nvPr/>
        </p:nvSpPr>
        <p:spPr>
          <a:xfrm>
            <a:off x="8421624" y="2578608"/>
            <a:ext cx="3200400" cy="530352"/>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At least 5 A’s in SPM, or a PNGK of 3.0+ in STPM.</a:t>
            </a:r>
            <a:endParaRPr lang="en-US" sz="1100" dirty="0"/>
          </a:p>
        </p:txBody>
      </p:sp>
      <p:sp>
        <p:nvSpPr>
          <p:cNvPr id="27" name="Shape 22"/>
          <p:cNvSpPr/>
          <p:nvPr/>
        </p:nvSpPr>
        <p:spPr>
          <a:xfrm>
            <a:off x="594360" y="3291840"/>
            <a:ext cx="3657600" cy="1417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8" name="Shape 23"/>
          <p:cNvSpPr/>
          <p:nvPr/>
        </p:nvSpPr>
        <p:spPr>
          <a:xfrm>
            <a:off x="594360" y="3291840"/>
            <a:ext cx="73152" cy="1417320"/>
          </a:xfrm>
          <a:prstGeom prst="rect">
            <a:avLst/>
          </a:prstGeom>
          <a:solidFill>
            <a:srgbClr val="0F766E"/>
          </a:solidFill>
          <a:ln/>
        </p:spPr>
      </p:sp>
      <p:sp>
        <p:nvSpPr>
          <p:cNvPr id="29" name="Shape 24"/>
          <p:cNvSpPr/>
          <p:nvPr/>
        </p:nvSpPr>
        <p:spPr>
          <a:xfrm>
            <a:off x="868680" y="3584448"/>
            <a:ext cx="457200" cy="457200"/>
          </a:xfrm>
          <a:prstGeom prst="ellipse">
            <a:avLst/>
          </a:prstGeom>
          <a:solidFill>
            <a:srgbClr val="E0F2EF"/>
          </a:solidFill>
          <a:ln/>
        </p:spPr>
      </p:sp>
      <p:pic>
        <p:nvPicPr>
          <p:cNvPr id="30" name="Image 3" descr="preencoded.png"/>
          <p:cNvPicPr>
            <a:picLocks noChangeAspect="1"/>
          </p:cNvPicPr>
          <p:nvPr/>
        </p:nvPicPr>
        <p:blipFill>
          <a:blip r:embed="rId6"/>
          <a:stretch>
            <a:fillRect/>
          </a:stretch>
        </p:blipFill>
        <p:spPr>
          <a:xfrm>
            <a:off x="969264" y="3685032"/>
            <a:ext cx="256032" cy="256032"/>
          </a:xfrm>
          <a:prstGeom prst="rect">
            <a:avLst/>
          </a:prstGeom>
        </p:spPr>
      </p:pic>
      <p:sp>
        <p:nvSpPr>
          <p:cNvPr id="31" name="Text 25"/>
          <p:cNvSpPr/>
          <p:nvPr/>
        </p:nvSpPr>
        <p:spPr>
          <a:xfrm>
            <a:off x="1435608" y="3602736"/>
            <a:ext cx="2651760" cy="365760"/>
          </a:xfrm>
          <a:prstGeom prst="rect">
            <a:avLst/>
          </a:prstGeom>
          <a:noFill/>
          <a:ln/>
        </p:spPr>
        <p:txBody>
          <a:bodyPr wrap="square" lIns="0" tIns="0" rIns="0" bIns="0" rtlCol="0" anchor="t"/>
          <a:lstStyle/>
          <a:p>
            <a:pPr marL="0" indent="0">
              <a:buNone/>
            </a:pPr>
            <a:r>
              <a:rPr lang="en-US" sz="1300" b="1" dirty="0">
                <a:solidFill>
                  <a:srgbClr val="1F2937"/>
                </a:solidFill>
                <a:latin typeface="Georgia" pitchFamily="34" charset="0"/>
                <a:ea typeface="Georgia" pitchFamily="34" charset="-122"/>
                <a:cs typeface="Georgia" pitchFamily="34" charset="-120"/>
              </a:rPr>
              <a:t>Continuing at a public institution</a:t>
            </a:r>
            <a:endParaRPr lang="en-US" sz="1300" dirty="0"/>
          </a:p>
        </p:txBody>
      </p:sp>
      <p:sp>
        <p:nvSpPr>
          <p:cNvPr id="32" name="Text 26"/>
          <p:cNvSpPr/>
          <p:nvPr/>
        </p:nvSpPr>
        <p:spPr>
          <a:xfrm>
            <a:off x="868680" y="4133088"/>
            <a:ext cx="3200400" cy="530352"/>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Matrikulasi, Foundation/Asasi, STPM, IPTA, polytechnic or ILKA.</a:t>
            </a:r>
            <a:endParaRPr lang="en-US" sz="1100" dirty="0"/>
          </a:p>
        </p:txBody>
      </p:sp>
      <p:sp>
        <p:nvSpPr>
          <p:cNvPr id="33" name="Shape 27"/>
          <p:cNvSpPr/>
          <p:nvPr/>
        </p:nvSpPr>
        <p:spPr>
          <a:xfrm>
            <a:off x="4370832" y="3291840"/>
            <a:ext cx="3657600" cy="1417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34" name="Shape 28"/>
          <p:cNvSpPr/>
          <p:nvPr/>
        </p:nvSpPr>
        <p:spPr>
          <a:xfrm>
            <a:off x="4370832" y="3291840"/>
            <a:ext cx="73152" cy="1417320"/>
          </a:xfrm>
          <a:prstGeom prst="rect">
            <a:avLst/>
          </a:prstGeom>
          <a:solidFill>
            <a:srgbClr val="0F766E"/>
          </a:solidFill>
          <a:ln/>
        </p:spPr>
      </p:sp>
      <p:sp>
        <p:nvSpPr>
          <p:cNvPr id="35" name="Shape 29"/>
          <p:cNvSpPr/>
          <p:nvPr/>
        </p:nvSpPr>
        <p:spPr>
          <a:xfrm>
            <a:off x="4645152" y="3584448"/>
            <a:ext cx="457200" cy="457200"/>
          </a:xfrm>
          <a:prstGeom prst="ellipse">
            <a:avLst/>
          </a:prstGeom>
          <a:solidFill>
            <a:srgbClr val="E0F2EF"/>
          </a:solidFill>
          <a:ln/>
        </p:spPr>
      </p:sp>
      <p:pic>
        <p:nvPicPr>
          <p:cNvPr id="36" name="Image 4" descr="preencoded.png"/>
          <p:cNvPicPr>
            <a:picLocks noChangeAspect="1"/>
          </p:cNvPicPr>
          <p:nvPr/>
        </p:nvPicPr>
        <p:blipFill>
          <a:blip r:embed="rId7"/>
          <a:stretch>
            <a:fillRect/>
          </a:stretch>
        </p:blipFill>
        <p:spPr>
          <a:xfrm>
            <a:off x="4745736" y="3685032"/>
            <a:ext cx="256032" cy="256032"/>
          </a:xfrm>
          <a:prstGeom prst="rect">
            <a:avLst/>
          </a:prstGeom>
        </p:spPr>
      </p:pic>
      <p:sp>
        <p:nvSpPr>
          <p:cNvPr id="37" name="Text 30"/>
          <p:cNvSpPr/>
          <p:nvPr/>
        </p:nvSpPr>
        <p:spPr>
          <a:xfrm>
            <a:off x="5212080" y="3602736"/>
            <a:ext cx="2651760" cy="365760"/>
          </a:xfrm>
          <a:prstGeom prst="rect">
            <a:avLst/>
          </a:prstGeom>
          <a:noFill/>
          <a:ln/>
        </p:spPr>
        <p:txBody>
          <a:bodyPr wrap="square" lIns="0" tIns="0" rIns="0" bIns="0" rtlCol="0" anchor="t"/>
          <a:lstStyle/>
          <a:p>
            <a:pPr marL="0" indent="0">
              <a:buNone/>
            </a:pPr>
            <a:r>
              <a:rPr lang="en-US" sz="1300" b="1" dirty="0">
                <a:solidFill>
                  <a:srgbClr val="1F2937"/>
                </a:solidFill>
                <a:latin typeface="Georgia" pitchFamily="34" charset="0"/>
                <a:ea typeface="Georgia" pitchFamily="34" charset="-122"/>
                <a:cs typeface="Georgia" pitchFamily="34" charset="-120"/>
              </a:rPr>
              <a:t>Reachable for a short interview</a:t>
            </a:r>
            <a:endParaRPr lang="en-US" sz="1300" dirty="0"/>
          </a:p>
        </p:txBody>
      </p:sp>
      <p:sp>
        <p:nvSpPr>
          <p:cNvPr id="38" name="Text 31"/>
          <p:cNvSpPr/>
          <p:nvPr/>
        </p:nvSpPr>
        <p:spPr>
          <a:xfrm>
            <a:off x="4645152" y="4133088"/>
            <a:ext cx="3200400" cy="530352"/>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Usually a 20-min phone call in English, Bahasa Malaysia, or Tamil.</a:t>
            </a:r>
            <a:endParaRPr lang="en-US" sz="1100" dirty="0"/>
          </a:p>
        </p:txBody>
      </p:sp>
      <p:sp>
        <p:nvSpPr>
          <p:cNvPr id="39" name="Shape 32"/>
          <p:cNvSpPr/>
          <p:nvPr/>
        </p:nvSpPr>
        <p:spPr>
          <a:xfrm>
            <a:off x="8147304" y="3291840"/>
            <a:ext cx="3657600" cy="1417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40" name="Shape 33"/>
          <p:cNvSpPr/>
          <p:nvPr/>
        </p:nvSpPr>
        <p:spPr>
          <a:xfrm>
            <a:off x="8147304" y="3291840"/>
            <a:ext cx="73152" cy="1417320"/>
          </a:xfrm>
          <a:prstGeom prst="rect">
            <a:avLst/>
          </a:prstGeom>
          <a:solidFill>
            <a:srgbClr val="0F766E"/>
          </a:solidFill>
          <a:ln/>
        </p:spPr>
      </p:sp>
      <p:sp>
        <p:nvSpPr>
          <p:cNvPr id="41" name="Shape 34"/>
          <p:cNvSpPr/>
          <p:nvPr/>
        </p:nvSpPr>
        <p:spPr>
          <a:xfrm>
            <a:off x="8421624" y="3584448"/>
            <a:ext cx="457200" cy="457200"/>
          </a:xfrm>
          <a:prstGeom prst="ellipse">
            <a:avLst/>
          </a:prstGeom>
          <a:solidFill>
            <a:srgbClr val="E0F2EF"/>
          </a:solidFill>
          <a:ln/>
        </p:spPr>
      </p:sp>
      <p:pic>
        <p:nvPicPr>
          <p:cNvPr id="42" name="Image 5" descr="preencoded.png"/>
          <p:cNvPicPr>
            <a:picLocks noChangeAspect="1"/>
          </p:cNvPicPr>
          <p:nvPr/>
        </p:nvPicPr>
        <p:blipFill>
          <a:blip r:embed="rId8"/>
          <a:stretch>
            <a:fillRect/>
          </a:stretch>
        </p:blipFill>
        <p:spPr>
          <a:xfrm>
            <a:off x="8522208" y="3685032"/>
            <a:ext cx="256032" cy="256032"/>
          </a:xfrm>
          <a:prstGeom prst="rect">
            <a:avLst/>
          </a:prstGeom>
        </p:spPr>
      </p:pic>
      <p:sp>
        <p:nvSpPr>
          <p:cNvPr id="43" name="Text 35"/>
          <p:cNvSpPr/>
          <p:nvPr/>
        </p:nvSpPr>
        <p:spPr>
          <a:xfrm>
            <a:off x="8988552" y="3602736"/>
            <a:ext cx="2651760" cy="365760"/>
          </a:xfrm>
          <a:prstGeom prst="rect">
            <a:avLst/>
          </a:prstGeom>
          <a:noFill/>
          <a:ln/>
        </p:spPr>
        <p:txBody>
          <a:bodyPr wrap="square" lIns="0" tIns="0" rIns="0" bIns="0" rtlCol="0" anchor="t"/>
          <a:lstStyle/>
          <a:p>
            <a:pPr marL="0" indent="0">
              <a:buNone/>
            </a:pPr>
            <a:r>
              <a:rPr lang="en-US" sz="1300" b="1" dirty="0">
                <a:solidFill>
                  <a:srgbClr val="1F2937"/>
                </a:solidFill>
                <a:latin typeface="Georgia" pitchFamily="34" charset="0"/>
                <a:ea typeface="Georgia" pitchFamily="34" charset="-122"/>
                <a:cs typeface="Georgia" pitchFamily="34" charset="-120"/>
              </a:rPr>
              <a:t>Willing to share progress</a:t>
            </a:r>
            <a:endParaRPr lang="en-US" sz="1300" dirty="0"/>
          </a:p>
        </p:txBody>
      </p:sp>
      <p:sp>
        <p:nvSpPr>
          <p:cNvPr id="44" name="Text 36"/>
          <p:cNvSpPr/>
          <p:nvPr/>
        </p:nvSpPr>
        <p:spPr>
          <a:xfrm>
            <a:off x="8421624" y="4133088"/>
            <a:ext cx="3200400" cy="530352"/>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Semester results + a brief update so support can continue.</a:t>
            </a:r>
            <a:endParaRPr lang="en-US" sz="1100" dirty="0"/>
          </a:p>
        </p:txBody>
      </p:sp>
      <p:sp>
        <p:nvSpPr>
          <p:cNvPr id="45" name="Shape 37"/>
          <p:cNvSpPr/>
          <p:nvPr/>
        </p:nvSpPr>
        <p:spPr>
          <a:xfrm>
            <a:off x="594360" y="4983480"/>
            <a:ext cx="11002975" cy="1325880"/>
          </a:xfrm>
          <a:prstGeom prst="rect">
            <a:avLst/>
          </a:prstGeom>
          <a:solidFill>
            <a:srgbClr val="FBE4DC"/>
          </a:solidFill>
          <a:ln/>
        </p:spPr>
      </p:sp>
      <p:sp>
        <p:nvSpPr>
          <p:cNvPr id="46" name="Shape 38"/>
          <p:cNvSpPr/>
          <p:nvPr/>
        </p:nvSpPr>
        <p:spPr>
          <a:xfrm>
            <a:off x="594360" y="4983480"/>
            <a:ext cx="73152" cy="1325880"/>
          </a:xfrm>
          <a:prstGeom prst="rect">
            <a:avLst/>
          </a:prstGeom>
          <a:solidFill>
            <a:srgbClr val="E76F51"/>
          </a:solidFill>
          <a:ln/>
        </p:spPr>
      </p:sp>
      <p:pic>
        <p:nvPicPr>
          <p:cNvPr id="47" name="Image 6" descr="preencoded.png"/>
          <p:cNvPicPr>
            <a:picLocks noChangeAspect="1"/>
          </p:cNvPicPr>
          <p:nvPr/>
        </p:nvPicPr>
        <p:blipFill>
          <a:blip r:embed="rId9"/>
          <a:stretch>
            <a:fillRect/>
          </a:stretch>
        </p:blipFill>
        <p:spPr>
          <a:xfrm>
            <a:off x="868680" y="5276088"/>
            <a:ext cx="347472" cy="347472"/>
          </a:xfrm>
          <a:prstGeom prst="rect">
            <a:avLst/>
          </a:prstGeom>
        </p:spPr>
      </p:pic>
      <p:sp>
        <p:nvSpPr>
          <p:cNvPr id="48" name="Text 39"/>
          <p:cNvSpPr/>
          <p:nvPr/>
        </p:nvSpPr>
        <p:spPr>
          <a:xfrm>
            <a:off x="1371600" y="5212080"/>
            <a:ext cx="9144000" cy="365760"/>
          </a:xfrm>
          <a:prstGeom prst="rect">
            <a:avLst/>
          </a:prstGeom>
          <a:noFill/>
          <a:ln/>
        </p:spPr>
        <p:txBody>
          <a:bodyPr wrap="square" lIns="0" tIns="0" rIns="0" bIns="0" rtlCol="0" anchor="t"/>
          <a:lstStyle/>
          <a:p>
            <a:pPr marL="0" indent="0">
              <a:buNone/>
            </a:pPr>
            <a:r>
              <a:rPr lang="en-US" sz="1600" b="1" dirty="0">
                <a:solidFill>
                  <a:srgbClr val="1F2937"/>
                </a:solidFill>
                <a:latin typeface="Georgia" pitchFamily="34" charset="0"/>
                <a:ea typeface="Georgia" pitchFamily="34" charset="-122"/>
                <a:cs typeface="Georgia" pitchFamily="34" charset="-120"/>
              </a:rPr>
              <a:t>Close, but not exactly? Apply anyway.</a:t>
            </a:r>
            <a:endParaRPr lang="en-US" sz="1600" dirty="0"/>
          </a:p>
        </p:txBody>
      </p:sp>
      <p:sp>
        <p:nvSpPr>
          <p:cNvPr id="49" name="Text 40"/>
          <p:cNvSpPr/>
          <p:nvPr/>
        </p:nvSpPr>
        <p:spPr>
          <a:xfrm>
            <a:off x="1371600" y="5550408"/>
            <a:ext cx="10058400" cy="64008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Our bar is a little more generous than the headline — especially on grades. Applying lets us assess your eligibility; it does not guarantee assistance.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766E"/>
          </a:solidFill>
          <a:ln/>
        </p:spPr>
      </p:sp>
      <p:sp>
        <p:nvSpPr>
          <p:cNvPr id="3" name="Shape 1"/>
          <p:cNvSpPr/>
          <p:nvPr/>
        </p:nvSpPr>
        <p:spPr>
          <a:xfrm>
            <a:off x="548640" y="6446520"/>
            <a:ext cx="11094415" cy="10973"/>
          </a:xfrm>
          <a:prstGeom prst="rect">
            <a:avLst/>
          </a:prstGeom>
          <a:solidFill>
            <a:srgbClr val="E5E0D5"/>
          </a:solidFill>
          <a:ln/>
        </p:spPr>
      </p:sp>
      <p:sp>
        <p:nvSpPr>
          <p:cNvPr id="4" name="Text 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HalaTuju  ·  B40 Education Assistance</a:t>
            </a:r>
            <a:endParaRPr lang="en-US" sz="900" dirty="0"/>
          </a:p>
        </p:txBody>
      </p:sp>
      <p:sp>
        <p:nvSpPr>
          <p:cNvPr id="5" name="Text 3"/>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7</a:t>
            </a:r>
            <a:endParaRPr lang="en-US" sz="900" dirty="0"/>
          </a:p>
        </p:txBody>
      </p:sp>
      <p:sp>
        <p:nvSpPr>
          <p:cNvPr id="6" name="Shape 4"/>
          <p:cNvSpPr/>
          <p:nvPr/>
        </p:nvSpPr>
        <p:spPr>
          <a:xfrm>
            <a:off x="640080" y="502920"/>
            <a:ext cx="3291840" cy="292608"/>
          </a:xfrm>
          <a:prstGeom prst="roundRect">
            <a:avLst>
              <a:gd name="adj" fmla="val 50000"/>
            </a:avLst>
          </a:prstGeom>
          <a:solidFill>
            <a:srgbClr val="E0F2EF"/>
          </a:solidFill>
          <a:ln/>
        </p:spPr>
      </p:sp>
      <p:sp>
        <p:nvSpPr>
          <p:cNvPr id="7" name="Text 5"/>
          <p:cNvSpPr/>
          <p:nvPr/>
        </p:nvSpPr>
        <p:spPr>
          <a:xfrm>
            <a:off x="640080" y="502920"/>
            <a:ext cx="3291840" cy="292608"/>
          </a:xfrm>
          <a:prstGeom prst="rect">
            <a:avLst/>
          </a:prstGeom>
          <a:noFill/>
          <a:ln/>
        </p:spPr>
        <p:txBody>
          <a:bodyPr wrap="square" lIns="0" tIns="0" rIns="0" bIns="0" rtlCol="0" anchor="ctr"/>
          <a:lstStyle/>
          <a:p>
            <a:pPr marL="0" indent="0" algn="ctr">
              <a:buNone/>
            </a:pPr>
            <a:r>
              <a:rPr lang="en-US" sz="900" b="1" kern="0" spc="100" dirty="0">
                <a:solidFill>
                  <a:srgbClr val="115E59"/>
                </a:solidFill>
                <a:latin typeface="Calibri" pitchFamily="34" charset="0"/>
                <a:ea typeface="Calibri" pitchFamily="34" charset="-122"/>
                <a:cs typeface="Calibri" pitchFamily="34" charset="-120"/>
              </a:rPr>
              <a:t>STEP 1  ·  halatuju.xyz/scholarship/apply</a:t>
            </a:r>
            <a:endParaRPr lang="en-US" sz="900" dirty="0"/>
          </a:p>
        </p:txBody>
      </p:sp>
      <p:sp>
        <p:nvSpPr>
          <p:cNvPr id="8" name="Text 6"/>
          <p:cNvSpPr/>
          <p:nvPr/>
        </p:nvSpPr>
        <p:spPr>
          <a:xfrm>
            <a:off x="594360" y="868680"/>
            <a:ext cx="10058400" cy="640080"/>
          </a:xfrm>
          <a:prstGeom prst="rect">
            <a:avLst/>
          </a:prstGeom>
          <a:noFill/>
          <a:ln/>
        </p:spPr>
        <p:txBody>
          <a:bodyPr wrap="square" lIns="0" tIns="0" rIns="0" bIns="0" rtlCol="0" anchor="ctr"/>
          <a:lstStyle/>
          <a:p>
            <a:pPr marL="0" indent="0">
              <a:buNone/>
            </a:pPr>
            <a:r>
              <a:rPr lang="en-US" sz="2800" b="1" dirty="0">
                <a:solidFill>
                  <a:srgbClr val="1F2937"/>
                </a:solidFill>
                <a:latin typeface="Georgia" pitchFamily="34" charset="0"/>
                <a:ea typeface="Georgia" pitchFamily="34" charset="-122"/>
                <a:cs typeface="Georgia" pitchFamily="34" charset="-120"/>
              </a:rPr>
              <a:t>The formal application form</a:t>
            </a:r>
            <a:endParaRPr lang="en-US" sz="2800" dirty="0"/>
          </a:p>
        </p:txBody>
      </p:sp>
      <p:sp>
        <p:nvSpPr>
          <p:cNvPr id="9" name="Text 7"/>
          <p:cNvSpPr/>
          <p:nvPr/>
        </p:nvSpPr>
        <p:spPr>
          <a:xfrm>
            <a:off x="594360" y="1481328"/>
            <a:ext cx="100584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5 short sections, save as you go.</a:t>
            </a:r>
            <a:endParaRPr lang="en-US" sz="1300" dirty="0"/>
          </a:p>
        </p:txBody>
      </p:sp>
      <p:sp>
        <p:nvSpPr>
          <p:cNvPr id="10" name="Shape 8"/>
          <p:cNvSpPr/>
          <p:nvPr/>
        </p:nvSpPr>
        <p:spPr>
          <a:xfrm>
            <a:off x="594360" y="2011680"/>
            <a:ext cx="6035040" cy="713232"/>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1" name="Shape 9"/>
          <p:cNvSpPr/>
          <p:nvPr/>
        </p:nvSpPr>
        <p:spPr>
          <a:xfrm>
            <a:off x="758952" y="2157984"/>
            <a:ext cx="420624" cy="420624"/>
          </a:xfrm>
          <a:prstGeom prst="ellipse">
            <a:avLst/>
          </a:prstGeom>
          <a:solidFill>
            <a:srgbClr val="0F766E"/>
          </a:solidFill>
          <a:ln/>
        </p:spPr>
      </p:sp>
      <p:sp>
        <p:nvSpPr>
          <p:cNvPr id="12" name="Text 10"/>
          <p:cNvSpPr/>
          <p:nvPr/>
        </p:nvSpPr>
        <p:spPr>
          <a:xfrm>
            <a:off x="758952" y="21579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3" name="Text 11"/>
          <p:cNvSpPr/>
          <p:nvPr/>
        </p:nvSpPr>
        <p:spPr>
          <a:xfrm>
            <a:off x="1307592" y="2084832"/>
            <a:ext cx="1828800" cy="274320"/>
          </a:xfrm>
          <a:prstGeom prst="rect">
            <a:avLst/>
          </a:prstGeom>
          <a:noFill/>
          <a:ln/>
        </p:spPr>
        <p:txBody>
          <a:bodyPr wrap="square" lIns="0" tIns="0" rIns="0" bIns="0" rtlCol="0" anchor="ctr"/>
          <a:lstStyle/>
          <a:p>
            <a:pPr marL="0" indent="0">
              <a:buNone/>
            </a:pPr>
            <a:r>
              <a:rPr lang="en-US" sz="1300" b="1" dirty="0">
                <a:solidFill>
                  <a:srgbClr val="1F2937"/>
                </a:solidFill>
                <a:latin typeface="Georgia" pitchFamily="34" charset="0"/>
                <a:ea typeface="Georgia" pitchFamily="34" charset="-122"/>
                <a:cs typeface="Georgia" pitchFamily="34" charset="-120"/>
              </a:rPr>
              <a:t>About Me</a:t>
            </a:r>
            <a:endParaRPr lang="en-US" sz="1300" dirty="0"/>
          </a:p>
        </p:txBody>
      </p:sp>
      <p:sp>
        <p:nvSpPr>
          <p:cNvPr id="14" name="Text 12"/>
          <p:cNvSpPr/>
          <p:nvPr/>
        </p:nvSpPr>
        <p:spPr>
          <a:xfrm>
            <a:off x="1307592" y="2359152"/>
            <a:ext cx="5212080" cy="36576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Name, NRIC (pre-filled at sign-in), contact, school, preferred call language.</a:t>
            </a:r>
            <a:endParaRPr lang="en-US" sz="1050" dirty="0"/>
          </a:p>
        </p:txBody>
      </p:sp>
      <p:sp>
        <p:nvSpPr>
          <p:cNvPr id="15" name="Shape 13"/>
          <p:cNvSpPr/>
          <p:nvPr/>
        </p:nvSpPr>
        <p:spPr>
          <a:xfrm>
            <a:off x="594360" y="2816352"/>
            <a:ext cx="6035040" cy="713232"/>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6" name="Shape 14"/>
          <p:cNvSpPr/>
          <p:nvPr/>
        </p:nvSpPr>
        <p:spPr>
          <a:xfrm>
            <a:off x="758952" y="2962656"/>
            <a:ext cx="420624" cy="420624"/>
          </a:xfrm>
          <a:prstGeom prst="ellipse">
            <a:avLst/>
          </a:prstGeom>
          <a:solidFill>
            <a:srgbClr val="0F766E"/>
          </a:solidFill>
          <a:ln/>
        </p:spPr>
      </p:sp>
      <p:sp>
        <p:nvSpPr>
          <p:cNvPr id="17" name="Text 15"/>
          <p:cNvSpPr/>
          <p:nvPr/>
        </p:nvSpPr>
        <p:spPr>
          <a:xfrm>
            <a:off x="758952" y="296265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8" name="Text 16"/>
          <p:cNvSpPr/>
          <p:nvPr/>
        </p:nvSpPr>
        <p:spPr>
          <a:xfrm>
            <a:off x="1307592" y="2889504"/>
            <a:ext cx="1828800" cy="274320"/>
          </a:xfrm>
          <a:prstGeom prst="rect">
            <a:avLst/>
          </a:prstGeom>
          <a:noFill/>
          <a:ln/>
        </p:spPr>
        <p:txBody>
          <a:bodyPr wrap="square" lIns="0" tIns="0" rIns="0" bIns="0" rtlCol="0" anchor="ctr"/>
          <a:lstStyle/>
          <a:p>
            <a:pPr marL="0" indent="0">
              <a:buNone/>
            </a:pPr>
            <a:r>
              <a:rPr lang="en-US" sz="1300" b="1" dirty="0">
                <a:solidFill>
                  <a:srgbClr val="1F2937"/>
                </a:solidFill>
                <a:latin typeface="Georgia" pitchFamily="34" charset="0"/>
                <a:ea typeface="Georgia" pitchFamily="34" charset="-122"/>
                <a:cs typeface="Georgia" pitchFamily="34" charset="-120"/>
              </a:rPr>
              <a:t>My Family</a:t>
            </a:r>
            <a:endParaRPr lang="en-US" sz="1300" dirty="0"/>
          </a:p>
        </p:txBody>
      </p:sp>
      <p:sp>
        <p:nvSpPr>
          <p:cNvPr id="19" name="Text 17"/>
          <p:cNvSpPr/>
          <p:nvPr/>
        </p:nvSpPr>
        <p:spPr>
          <a:xfrm>
            <a:off x="1307592" y="3163824"/>
            <a:ext cx="5212080" cy="36576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Household income, household size, who supports the family, STR/JKM if applicable.</a:t>
            </a:r>
            <a:endParaRPr lang="en-US" sz="1050" dirty="0"/>
          </a:p>
        </p:txBody>
      </p:sp>
      <p:sp>
        <p:nvSpPr>
          <p:cNvPr id="20" name="Shape 18"/>
          <p:cNvSpPr/>
          <p:nvPr/>
        </p:nvSpPr>
        <p:spPr>
          <a:xfrm>
            <a:off x="594360" y="3621024"/>
            <a:ext cx="6035040" cy="713232"/>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1" name="Shape 19"/>
          <p:cNvSpPr/>
          <p:nvPr/>
        </p:nvSpPr>
        <p:spPr>
          <a:xfrm>
            <a:off x="758952" y="3767328"/>
            <a:ext cx="420624" cy="420624"/>
          </a:xfrm>
          <a:prstGeom prst="ellipse">
            <a:avLst/>
          </a:prstGeom>
          <a:solidFill>
            <a:srgbClr val="0F766E"/>
          </a:solidFill>
          <a:ln/>
        </p:spPr>
      </p:sp>
      <p:sp>
        <p:nvSpPr>
          <p:cNvPr id="22" name="Text 20"/>
          <p:cNvSpPr/>
          <p:nvPr/>
        </p:nvSpPr>
        <p:spPr>
          <a:xfrm>
            <a:off x="758952" y="37673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3" name="Text 21"/>
          <p:cNvSpPr/>
          <p:nvPr/>
        </p:nvSpPr>
        <p:spPr>
          <a:xfrm>
            <a:off x="1307592" y="3694176"/>
            <a:ext cx="1828800" cy="274320"/>
          </a:xfrm>
          <a:prstGeom prst="rect">
            <a:avLst/>
          </a:prstGeom>
          <a:noFill/>
          <a:ln/>
        </p:spPr>
        <p:txBody>
          <a:bodyPr wrap="square" lIns="0" tIns="0" rIns="0" bIns="0" rtlCol="0" anchor="ctr"/>
          <a:lstStyle/>
          <a:p>
            <a:pPr marL="0" indent="0">
              <a:buNone/>
            </a:pPr>
            <a:r>
              <a:rPr lang="en-US" sz="1300" b="1" dirty="0">
                <a:solidFill>
                  <a:srgbClr val="1F2937"/>
                </a:solidFill>
                <a:latin typeface="Georgia" pitchFamily="34" charset="0"/>
                <a:ea typeface="Georgia" pitchFamily="34" charset="-122"/>
                <a:cs typeface="Georgia" pitchFamily="34" charset="-120"/>
              </a:rPr>
              <a:t>My Results</a:t>
            </a:r>
            <a:endParaRPr lang="en-US" sz="1300" dirty="0"/>
          </a:p>
        </p:txBody>
      </p:sp>
      <p:sp>
        <p:nvSpPr>
          <p:cNvPr id="24" name="Text 22"/>
          <p:cNvSpPr/>
          <p:nvPr/>
        </p:nvSpPr>
        <p:spPr>
          <a:xfrm>
            <a:off x="1307592" y="3968496"/>
            <a:ext cx="5212080" cy="36576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SPM / STPM grades (re-uses what you’ve entered on HalaTuju).</a:t>
            </a:r>
            <a:endParaRPr lang="en-US" sz="1050" dirty="0"/>
          </a:p>
        </p:txBody>
      </p:sp>
      <p:sp>
        <p:nvSpPr>
          <p:cNvPr id="25" name="Shape 23"/>
          <p:cNvSpPr/>
          <p:nvPr/>
        </p:nvSpPr>
        <p:spPr>
          <a:xfrm>
            <a:off x="594360" y="4425696"/>
            <a:ext cx="6035040" cy="713232"/>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6" name="Shape 24"/>
          <p:cNvSpPr/>
          <p:nvPr/>
        </p:nvSpPr>
        <p:spPr>
          <a:xfrm>
            <a:off x="758952" y="4572000"/>
            <a:ext cx="420624" cy="420624"/>
          </a:xfrm>
          <a:prstGeom prst="ellipse">
            <a:avLst/>
          </a:prstGeom>
          <a:solidFill>
            <a:srgbClr val="0F766E"/>
          </a:solidFill>
          <a:ln/>
        </p:spPr>
      </p:sp>
      <p:sp>
        <p:nvSpPr>
          <p:cNvPr id="27" name="Text 25"/>
          <p:cNvSpPr/>
          <p:nvPr/>
        </p:nvSpPr>
        <p:spPr>
          <a:xfrm>
            <a:off x="758952" y="45720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8" name="Text 26"/>
          <p:cNvSpPr/>
          <p:nvPr/>
        </p:nvSpPr>
        <p:spPr>
          <a:xfrm>
            <a:off x="1307592" y="4498848"/>
            <a:ext cx="1828800" cy="274320"/>
          </a:xfrm>
          <a:prstGeom prst="rect">
            <a:avLst/>
          </a:prstGeom>
          <a:noFill/>
          <a:ln/>
        </p:spPr>
        <p:txBody>
          <a:bodyPr wrap="square" lIns="0" tIns="0" rIns="0" bIns="0" rtlCol="0" anchor="ctr"/>
          <a:lstStyle/>
          <a:p>
            <a:pPr marL="0" indent="0">
              <a:buNone/>
            </a:pPr>
            <a:r>
              <a:rPr lang="en-US" sz="1300" b="1" dirty="0">
                <a:solidFill>
                  <a:srgbClr val="1F2937"/>
                </a:solidFill>
                <a:latin typeface="Georgia" pitchFamily="34" charset="0"/>
                <a:ea typeface="Georgia" pitchFamily="34" charset="-122"/>
                <a:cs typeface="Georgia" pitchFamily="34" charset="-120"/>
              </a:rPr>
              <a:t>My Plans</a:t>
            </a:r>
            <a:endParaRPr lang="en-US" sz="1300" dirty="0"/>
          </a:p>
        </p:txBody>
      </p:sp>
      <p:sp>
        <p:nvSpPr>
          <p:cNvPr id="29" name="Text 27"/>
          <p:cNvSpPr/>
          <p:nvPr/>
        </p:nvSpPr>
        <p:spPr>
          <a:xfrm>
            <a:off x="1307592" y="4773168"/>
            <a:ext cx="5212080" cy="36576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What you intend to study, where, and how confident you are (still deciding is fine).</a:t>
            </a:r>
            <a:endParaRPr lang="en-US" sz="1050" dirty="0"/>
          </a:p>
        </p:txBody>
      </p:sp>
      <p:sp>
        <p:nvSpPr>
          <p:cNvPr id="30" name="Shape 28"/>
          <p:cNvSpPr/>
          <p:nvPr/>
        </p:nvSpPr>
        <p:spPr>
          <a:xfrm>
            <a:off x="594360" y="5230368"/>
            <a:ext cx="6035040" cy="713232"/>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31" name="Shape 29"/>
          <p:cNvSpPr/>
          <p:nvPr/>
        </p:nvSpPr>
        <p:spPr>
          <a:xfrm>
            <a:off x="758952" y="5376672"/>
            <a:ext cx="420624" cy="420624"/>
          </a:xfrm>
          <a:prstGeom prst="ellipse">
            <a:avLst/>
          </a:prstGeom>
          <a:solidFill>
            <a:srgbClr val="0F766E"/>
          </a:solidFill>
          <a:ln/>
        </p:spPr>
      </p:sp>
      <p:sp>
        <p:nvSpPr>
          <p:cNvPr id="32" name="Text 30"/>
          <p:cNvSpPr/>
          <p:nvPr/>
        </p:nvSpPr>
        <p:spPr>
          <a:xfrm>
            <a:off x="758952" y="53766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33" name="Text 31"/>
          <p:cNvSpPr/>
          <p:nvPr/>
        </p:nvSpPr>
        <p:spPr>
          <a:xfrm>
            <a:off x="1307592" y="5303520"/>
            <a:ext cx="1828800" cy="274320"/>
          </a:xfrm>
          <a:prstGeom prst="rect">
            <a:avLst/>
          </a:prstGeom>
          <a:noFill/>
          <a:ln/>
        </p:spPr>
        <p:txBody>
          <a:bodyPr wrap="square" lIns="0" tIns="0" rIns="0" bIns="0" rtlCol="0" anchor="ctr"/>
          <a:lstStyle/>
          <a:p>
            <a:pPr marL="0" indent="0">
              <a:buNone/>
            </a:pPr>
            <a:r>
              <a:rPr lang="en-US" sz="1300" b="1" dirty="0">
                <a:solidFill>
                  <a:srgbClr val="1F2937"/>
                </a:solidFill>
                <a:latin typeface="Georgia" pitchFamily="34" charset="0"/>
                <a:ea typeface="Georgia" pitchFamily="34" charset="-122"/>
                <a:cs typeface="Georgia" pitchFamily="34" charset="-120"/>
              </a:rPr>
              <a:t>Support</a:t>
            </a:r>
            <a:endParaRPr lang="en-US" sz="1300" dirty="0"/>
          </a:p>
        </p:txBody>
      </p:sp>
      <p:sp>
        <p:nvSpPr>
          <p:cNvPr id="34" name="Text 32"/>
          <p:cNvSpPr/>
          <p:nvPr/>
        </p:nvSpPr>
        <p:spPr>
          <a:xfrm>
            <a:off x="1307592" y="5577840"/>
            <a:ext cx="5212080" cy="365760"/>
          </a:xfrm>
          <a:prstGeom prst="rect">
            <a:avLst/>
          </a:prstGeom>
          <a:noFill/>
          <a:ln/>
        </p:spPr>
        <p:txBody>
          <a:bodyPr wrap="square" lIns="0" tIns="0" rIns="0" bIns="0" rtlCol="0" anchor="t"/>
          <a:lstStyle/>
          <a:p>
            <a:pPr marL="0" indent="0">
              <a:buNone/>
            </a:pPr>
            <a:r>
              <a:rPr lang="en-US" sz="1050" dirty="0">
                <a:solidFill>
                  <a:srgbClr val="64748B"/>
                </a:solidFill>
                <a:latin typeface="Calibri" pitchFamily="34" charset="0"/>
                <a:ea typeface="Calibri" pitchFamily="34" charset="-122"/>
                <a:cs typeface="Calibri" pitchFamily="34" charset="-120"/>
              </a:rPr>
              <a:t>Other scholarships you’re pursuing, anything else we should know, consent to contact.</a:t>
            </a:r>
            <a:endParaRPr lang="en-US" sz="1050" dirty="0"/>
          </a:p>
        </p:txBody>
      </p:sp>
      <p:sp>
        <p:nvSpPr>
          <p:cNvPr id="35" name="Shape 33"/>
          <p:cNvSpPr/>
          <p:nvPr/>
        </p:nvSpPr>
        <p:spPr>
          <a:xfrm>
            <a:off x="6858000" y="2011680"/>
            <a:ext cx="4736592" cy="2606040"/>
          </a:xfrm>
          <a:prstGeom prst="rect">
            <a:avLst/>
          </a:prstGeom>
          <a:solidFill>
            <a:srgbClr val="FBE4DC"/>
          </a:solidFill>
          <a:ln/>
        </p:spPr>
      </p:sp>
      <p:sp>
        <p:nvSpPr>
          <p:cNvPr id="36" name="Shape 34"/>
          <p:cNvSpPr/>
          <p:nvPr/>
        </p:nvSpPr>
        <p:spPr>
          <a:xfrm>
            <a:off x="6858000" y="2011680"/>
            <a:ext cx="73152" cy="2606040"/>
          </a:xfrm>
          <a:prstGeom prst="rect">
            <a:avLst/>
          </a:prstGeom>
          <a:solidFill>
            <a:srgbClr val="E76F51"/>
          </a:solidFill>
          <a:ln/>
        </p:spPr>
      </p:sp>
      <p:pic>
        <p:nvPicPr>
          <p:cNvPr id="37" name="Image 0" descr="preencoded.png"/>
          <p:cNvPicPr>
            <a:picLocks noChangeAspect="1"/>
          </p:cNvPicPr>
          <p:nvPr/>
        </p:nvPicPr>
        <p:blipFill>
          <a:blip r:embed="rId3"/>
          <a:stretch>
            <a:fillRect/>
          </a:stretch>
        </p:blipFill>
        <p:spPr>
          <a:xfrm>
            <a:off x="7132320" y="2286000"/>
            <a:ext cx="320040" cy="320040"/>
          </a:xfrm>
          <a:prstGeom prst="rect">
            <a:avLst/>
          </a:prstGeom>
        </p:spPr>
      </p:pic>
      <p:sp>
        <p:nvSpPr>
          <p:cNvPr id="38" name="Text 35"/>
          <p:cNvSpPr/>
          <p:nvPr/>
        </p:nvSpPr>
        <p:spPr>
          <a:xfrm>
            <a:off x="7571232" y="2212848"/>
            <a:ext cx="3840480" cy="411480"/>
          </a:xfrm>
          <a:prstGeom prst="rect">
            <a:avLst/>
          </a:prstGeom>
          <a:noFill/>
          <a:ln/>
        </p:spPr>
        <p:txBody>
          <a:bodyPr wrap="square" lIns="0" tIns="0" rIns="0" bIns="0" rtlCol="0" anchor="ctr"/>
          <a:lstStyle/>
          <a:p>
            <a:pPr marL="0" indent="0">
              <a:buNone/>
            </a:pPr>
            <a:r>
              <a:rPr lang="en-US" sz="1600" b="1" dirty="0">
                <a:solidFill>
                  <a:srgbClr val="1F2937"/>
                </a:solidFill>
                <a:latin typeface="Georgia" pitchFamily="34" charset="0"/>
                <a:ea typeface="Georgia" pitchFamily="34" charset="-122"/>
                <a:cs typeface="Georgia" pitchFamily="34" charset="-120"/>
              </a:rPr>
              <a:t>Truthfulness matters.</a:t>
            </a:r>
            <a:endParaRPr lang="en-US" sz="1600" dirty="0"/>
          </a:p>
        </p:txBody>
      </p:sp>
      <p:sp>
        <p:nvSpPr>
          <p:cNvPr id="39" name="Text 36"/>
          <p:cNvSpPr/>
          <p:nvPr/>
        </p:nvSpPr>
        <p:spPr>
          <a:xfrm>
            <a:off x="7132320" y="2724912"/>
            <a:ext cx="4343400" cy="1828800"/>
          </a:xfrm>
          <a:prstGeom prst="rect">
            <a:avLst/>
          </a:prstGeom>
          <a:noFill/>
          <a:ln/>
        </p:spPr>
        <p:txBody>
          <a:bodyPr wrap="square" lIns="0" tIns="0" rIns="0" bIns="0" rtlCol="0" anchor="t"/>
          <a:lstStyle/>
          <a:p>
            <a:pPr marL="0" indent="0">
              <a:spcAft>
                <a:spcPts val="400"/>
              </a:spcAft>
              <a:buNone/>
            </a:pPr>
            <a:r>
              <a:rPr lang="en-US" sz="1150" dirty="0">
                <a:solidFill>
                  <a:srgbClr val="1F2937"/>
                </a:solidFill>
                <a:latin typeface="Calibri" pitchFamily="34" charset="0"/>
                <a:ea typeface="Calibri" pitchFamily="34" charset="-122"/>
                <a:cs typeface="Calibri" pitchFamily="34" charset="-120"/>
              </a:rPr>
              <a:t>We verify what you say against your documents (MyKad, results slip, income proof) and at the interview. </a:t>
            </a:r>
            <a:endParaRPr lang="en-US" sz="1150" dirty="0"/>
          </a:p>
          <a:p>
            <a:pPr marL="0" indent="0">
              <a:spcAft>
                <a:spcPts val="400"/>
              </a:spcAft>
              <a:buNone/>
            </a:pPr>
            <a:r>
              <a:rPr lang="en-US" sz="1150" dirty="0">
                <a:solidFill>
                  <a:srgbClr val="1F2937"/>
                </a:solidFill>
                <a:latin typeface="Calibri" pitchFamily="34" charset="0"/>
                <a:ea typeface="Calibri" pitchFamily="34" charset="-122"/>
                <a:cs typeface="Calibri" pitchFamily="34" charset="-120"/>
              </a:rPr>
              <a:t> </a:t>
            </a:r>
            <a:endParaRPr lang="en-US" sz="1150" dirty="0"/>
          </a:p>
          <a:p>
            <a:pPr marL="0" indent="0">
              <a:spcAft>
                <a:spcPts val="400"/>
              </a:spcAft>
              <a:buNone/>
            </a:pPr>
            <a:r>
              <a:rPr lang="en-US" sz="1150" b="1" dirty="0">
                <a:solidFill>
                  <a:srgbClr val="1F2937"/>
                </a:solidFill>
                <a:latin typeface="Calibri" pitchFamily="34" charset="0"/>
                <a:ea typeface="Calibri" pitchFamily="34" charset="-122"/>
                <a:cs typeface="Calibri" pitchFamily="34" charset="-120"/>
              </a:rPr>
              <a:t>Mismatches will likely disqualify your application.</a:t>
            </a:r>
            <a:endParaRPr lang="en-US" sz="1150" dirty="0"/>
          </a:p>
          <a:p>
            <a:pPr marL="0" indent="0">
              <a:spcAft>
                <a:spcPts val="400"/>
              </a:spcAft>
              <a:buNone/>
            </a:pPr>
            <a:r>
              <a:rPr lang="en-US" sz="1150" dirty="0">
                <a:solidFill>
                  <a:srgbClr val="1F2937"/>
                </a:solidFill>
                <a:latin typeface="Calibri" pitchFamily="34" charset="0"/>
                <a:ea typeface="Calibri" pitchFamily="34" charset="-122"/>
                <a:cs typeface="Calibri" pitchFamily="34" charset="-120"/>
              </a:rPr>
              <a:t> </a:t>
            </a:r>
            <a:endParaRPr lang="en-US" sz="1150" dirty="0"/>
          </a:p>
          <a:p>
            <a:pPr marL="0" indent="0">
              <a:spcAft>
                <a:spcPts val="400"/>
              </a:spcAft>
              <a:buNone/>
            </a:pPr>
            <a:r>
              <a:rPr lang="en-US" sz="1150" dirty="0">
                <a:solidFill>
                  <a:srgbClr val="1F2937"/>
                </a:solidFill>
                <a:latin typeface="Calibri" pitchFamily="34" charset="0"/>
                <a:ea typeface="Calibri" pitchFamily="34" charset="-122"/>
                <a:cs typeface="Calibri" pitchFamily="34" charset="-120"/>
              </a:rPr>
              <a:t>If you’re unsure of an exact number, be honest about that in the open notes rather than guessing. We can work with “I’m not sure” — we cannot work with information that doesn’t match.</a:t>
            </a:r>
            <a:endParaRPr lang="en-US" sz="1150" dirty="0"/>
          </a:p>
        </p:txBody>
      </p:sp>
      <p:sp>
        <p:nvSpPr>
          <p:cNvPr id="40" name="Shape 37"/>
          <p:cNvSpPr/>
          <p:nvPr/>
        </p:nvSpPr>
        <p:spPr>
          <a:xfrm>
            <a:off x="6858000" y="4800600"/>
            <a:ext cx="4736592" cy="1325880"/>
          </a:xfrm>
          <a:prstGeom prst="rect">
            <a:avLst/>
          </a:prstGeom>
          <a:solidFill>
            <a:srgbClr val="E0F2EF"/>
          </a:solidFill>
          <a:ln/>
        </p:spPr>
      </p:sp>
      <p:sp>
        <p:nvSpPr>
          <p:cNvPr id="41" name="Shape 38"/>
          <p:cNvSpPr/>
          <p:nvPr/>
        </p:nvSpPr>
        <p:spPr>
          <a:xfrm>
            <a:off x="6858000" y="4800600"/>
            <a:ext cx="73152" cy="1325880"/>
          </a:xfrm>
          <a:prstGeom prst="rect">
            <a:avLst/>
          </a:prstGeom>
          <a:solidFill>
            <a:srgbClr val="0F766E"/>
          </a:solidFill>
          <a:ln/>
        </p:spPr>
      </p:sp>
      <p:sp>
        <p:nvSpPr>
          <p:cNvPr id="42" name="Text 39"/>
          <p:cNvSpPr/>
          <p:nvPr/>
        </p:nvSpPr>
        <p:spPr>
          <a:xfrm>
            <a:off x="7086600" y="4937760"/>
            <a:ext cx="4206240" cy="274320"/>
          </a:xfrm>
          <a:prstGeom prst="rect">
            <a:avLst/>
          </a:prstGeom>
          <a:noFill/>
          <a:ln/>
        </p:spPr>
        <p:txBody>
          <a:bodyPr wrap="square" lIns="0" tIns="0" rIns="0" bIns="0" rtlCol="0" anchor="t"/>
          <a:lstStyle/>
          <a:p>
            <a:pPr marL="0" indent="0">
              <a:buNone/>
            </a:pPr>
            <a:r>
              <a:rPr lang="en-US" sz="1300" b="1" dirty="0">
                <a:solidFill>
                  <a:srgbClr val="115E59"/>
                </a:solidFill>
                <a:latin typeface="Georgia" pitchFamily="34" charset="0"/>
                <a:ea typeface="Georgia" pitchFamily="34" charset="-122"/>
                <a:cs typeface="Georgia" pitchFamily="34" charset="-120"/>
              </a:rPr>
              <a:t>After you submit  (Steps 2 → 3)</a:t>
            </a:r>
            <a:endParaRPr lang="en-US" sz="1300" dirty="0"/>
          </a:p>
        </p:txBody>
      </p:sp>
      <p:sp>
        <p:nvSpPr>
          <p:cNvPr id="43" name="Text 40"/>
          <p:cNvSpPr/>
          <p:nvPr/>
        </p:nvSpPr>
        <p:spPr>
          <a:xfrm>
            <a:off x="7086600" y="5257800"/>
            <a:ext cx="4434840" cy="868680"/>
          </a:xfrm>
          <a:prstGeom prst="rect">
            <a:avLst/>
          </a:prstGeom>
          <a:noFill/>
          <a:ln/>
        </p:spPr>
        <p:txBody>
          <a:bodyPr wrap="square" lIns="0" tIns="0" rIns="0" bIns="0" rtlCol="0" anchor="t"/>
          <a:lstStyle/>
          <a:p>
            <a:pPr marL="0" indent="0">
              <a:spcAft>
                <a:spcPts val="300"/>
              </a:spcAft>
              <a:buNone/>
            </a:pPr>
            <a:r>
              <a:rPr lang="en-US" sz="1050" b="1" dirty="0">
                <a:solidFill>
                  <a:srgbClr val="1F2937"/>
                </a:solidFill>
                <a:latin typeface="Calibri" pitchFamily="34" charset="0"/>
                <a:ea typeface="Calibri" pitchFamily="34" charset="-122"/>
                <a:cs typeface="Calibri" pitchFamily="34" charset="-120"/>
              </a:rPr>
              <a:t>Same day:</a:t>
            </a:r>
            <a:r>
              <a:rPr lang="en-US" sz="1050" dirty="0">
                <a:solidFill>
                  <a:srgbClr val="1F2937"/>
                </a:solidFill>
                <a:latin typeface="Calibri" pitchFamily="34" charset="0"/>
                <a:ea typeface="Calibri" pitchFamily="34" charset="-122"/>
                <a:cs typeface="Calibri" pitchFamily="34" charset="-120"/>
              </a:rPr>
              <a:t> acknowledgement email arrives.</a:t>
            </a:r>
            <a:endParaRPr lang="en-US" sz="1050" dirty="0"/>
          </a:p>
          <a:p>
            <a:pPr marL="0" indent="0">
              <a:spcAft>
                <a:spcPts val="300"/>
              </a:spcAft>
              <a:buNone/>
            </a:pPr>
            <a:r>
              <a:rPr lang="en-US" sz="1050" b="1" dirty="0">
                <a:solidFill>
                  <a:srgbClr val="1F2937"/>
                </a:solidFill>
                <a:latin typeface="Calibri" pitchFamily="34" charset="0"/>
                <a:ea typeface="Calibri" pitchFamily="34" charset="-122"/>
                <a:cs typeface="Calibri" pitchFamily="34" charset="-120"/>
              </a:rPr>
              <a:t>Within 48 hours:</a:t>
            </a:r>
            <a:r>
              <a:rPr lang="en-US" sz="1050" dirty="0">
                <a:solidFill>
                  <a:srgbClr val="1F2937"/>
                </a:solidFill>
                <a:latin typeface="Calibri" pitchFamily="34" charset="0"/>
                <a:ea typeface="Calibri" pitchFamily="34" charset="-122"/>
                <a:cs typeface="Calibri" pitchFamily="34" charset="-120"/>
              </a:rPr>
              <a:t> shortlisted (link to the next page) — or a warm note explaining why not.</a:t>
            </a:r>
            <a:endParaRPr lang="en-US" sz="1050" dirty="0"/>
          </a:p>
          <a:p>
            <a:pPr marL="0" indent="0">
              <a:spcAft>
                <a:spcPts val="300"/>
              </a:spcAft>
              <a:buNone/>
            </a:pPr>
            <a:r>
              <a:rPr lang="en-US" sz="1050" b="1" dirty="0">
                <a:solidFill>
                  <a:srgbClr val="1F2937"/>
                </a:solidFill>
                <a:latin typeface="Calibri" pitchFamily="34" charset="0"/>
                <a:ea typeface="Calibri" pitchFamily="34" charset="-122"/>
                <a:cs typeface="Calibri" pitchFamily="34" charset="-120"/>
              </a:rPr>
              <a:t>Tip:</a:t>
            </a:r>
            <a:r>
              <a:rPr lang="en-US" sz="1050" dirty="0">
                <a:solidFill>
                  <a:srgbClr val="1F2937"/>
                </a:solidFill>
                <a:latin typeface="Calibri" pitchFamily="34" charset="0"/>
                <a:ea typeface="Calibri" pitchFamily="34" charset="-122"/>
                <a:cs typeface="Calibri" pitchFamily="34" charset="-120"/>
              </a:rPr>
              <a:t> check your spam folder.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766E"/>
          </a:solidFill>
          <a:ln/>
        </p:spPr>
      </p:sp>
      <p:sp>
        <p:nvSpPr>
          <p:cNvPr id="3" name="Shape 1"/>
          <p:cNvSpPr/>
          <p:nvPr/>
        </p:nvSpPr>
        <p:spPr>
          <a:xfrm>
            <a:off x="548640" y="6446520"/>
            <a:ext cx="11094415" cy="10973"/>
          </a:xfrm>
          <a:prstGeom prst="rect">
            <a:avLst/>
          </a:prstGeom>
          <a:solidFill>
            <a:srgbClr val="E5E0D5"/>
          </a:solidFill>
          <a:ln/>
        </p:spPr>
      </p:sp>
      <p:sp>
        <p:nvSpPr>
          <p:cNvPr id="4" name="Text 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HalaTuju  ·  B40 Education Assistance</a:t>
            </a:r>
            <a:endParaRPr lang="en-US" sz="900" dirty="0"/>
          </a:p>
        </p:txBody>
      </p:sp>
      <p:sp>
        <p:nvSpPr>
          <p:cNvPr id="5" name="Text 3"/>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7</a:t>
            </a:r>
            <a:endParaRPr lang="en-US" sz="900" dirty="0"/>
          </a:p>
        </p:txBody>
      </p:sp>
      <p:sp>
        <p:nvSpPr>
          <p:cNvPr id="6" name="Shape 4"/>
          <p:cNvSpPr/>
          <p:nvPr/>
        </p:nvSpPr>
        <p:spPr>
          <a:xfrm>
            <a:off x="640080" y="502920"/>
            <a:ext cx="3749040" cy="292608"/>
          </a:xfrm>
          <a:prstGeom prst="roundRect">
            <a:avLst>
              <a:gd name="adj" fmla="val 50000"/>
            </a:avLst>
          </a:prstGeom>
          <a:solidFill>
            <a:srgbClr val="E0F2EF"/>
          </a:solidFill>
          <a:ln/>
        </p:spPr>
      </p:sp>
      <p:sp>
        <p:nvSpPr>
          <p:cNvPr id="7" name="Text 5"/>
          <p:cNvSpPr/>
          <p:nvPr/>
        </p:nvSpPr>
        <p:spPr>
          <a:xfrm>
            <a:off x="640080" y="502920"/>
            <a:ext cx="3749040" cy="292608"/>
          </a:xfrm>
          <a:prstGeom prst="rect">
            <a:avLst/>
          </a:prstGeom>
          <a:noFill/>
          <a:ln/>
        </p:spPr>
        <p:txBody>
          <a:bodyPr wrap="square" lIns="0" tIns="0" rIns="0" bIns="0" rtlCol="0" anchor="ctr"/>
          <a:lstStyle/>
          <a:p>
            <a:pPr marL="0" indent="0" algn="ctr">
              <a:buNone/>
            </a:pPr>
            <a:r>
              <a:rPr lang="en-US" sz="900" b="1" kern="0" spc="100" dirty="0">
                <a:solidFill>
                  <a:srgbClr val="115E59"/>
                </a:solidFill>
                <a:latin typeface="Calibri" pitchFamily="34" charset="0"/>
                <a:ea typeface="Calibri" pitchFamily="34" charset="-122"/>
                <a:cs typeface="Calibri" pitchFamily="34" charset="-120"/>
              </a:rPr>
              <a:t>STEP 4  ·  halatuju.xyz/scholarship/application</a:t>
            </a:r>
            <a:endParaRPr lang="en-US" sz="900" dirty="0"/>
          </a:p>
        </p:txBody>
      </p:sp>
      <p:sp>
        <p:nvSpPr>
          <p:cNvPr id="8" name="Text 6"/>
          <p:cNvSpPr/>
          <p:nvPr/>
        </p:nvSpPr>
        <p:spPr>
          <a:xfrm>
            <a:off x="594360" y="868680"/>
            <a:ext cx="10058400" cy="640080"/>
          </a:xfrm>
          <a:prstGeom prst="rect">
            <a:avLst/>
          </a:prstGeom>
          <a:noFill/>
          <a:ln/>
        </p:spPr>
        <p:txBody>
          <a:bodyPr wrap="square" lIns="0" tIns="0" rIns="0" bIns="0" rtlCol="0" anchor="ctr"/>
          <a:lstStyle/>
          <a:p>
            <a:pPr marL="0" indent="0">
              <a:buNone/>
            </a:pPr>
            <a:r>
              <a:rPr lang="en-US" sz="2800" b="1" dirty="0">
                <a:solidFill>
                  <a:srgbClr val="1F2937"/>
                </a:solidFill>
                <a:latin typeface="Georgia" pitchFamily="34" charset="0"/>
                <a:ea typeface="Georgia" pitchFamily="34" charset="-122"/>
                <a:cs typeface="Georgia" pitchFamily="34" charset="-120"/>
              </a:rPr>
              <a:t>Five small tabs, no time limit</a:t>
            </a:r>
            <a:endParaRPr lang="en-US" sz="2800" dirty="0"/>
          </a:p>
        </p:txBody>
      </p:sp>
      <p:sp>
        <p:nvSpPr>
          <p:cNvPr id="9" name="Text 7"/>
          <p:cNvSpPr/>
          <p:nvPr/>
        </p:nvSpPr>
        <p:spPr>
          <a:xfrm>
            <a:off x="594360" y="1481328"/>
            <a:ext cx="100584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After you’re shortlisted, this is where you complete your profile.</a:t>
            </a:r>
            <a:endParaRPr lang="en-US" sz="1300" dirty="0"/>
          </a:p>
        </p:txBody>
      </p:sp>
      <p:sp>
        <p:nvSpPr>
          <p:cNvPr id="10" name="Shape 8"/>
          <p:cNvSpPr/>
          <p:nvPr/>
        </p:nvSpPr>
        <p:spPr>
          <a:xfrm>
            <a:off x="594360" y="2103120"/>
            <a:ext cx="2212848" cy="2560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1" name="Shape 9"/>
          <p:cNvSpPr/>
          <p:nvPr/>
        </p:nvSpPr>
        <p:spPr>
          <a:xfrm>
            <a:off x="594360" y="2103120"/>
            <a:ext cx="2212848" cy="548640"/>
          </a:xfrm>
          <a:prstGeom prst="rect">
            <a:avLst/>
          </a:prstGeom>
          <a:solidFill>
            <a:srgbClr val="0F766E"/>
          </a:solidFill>
          <a:ln/>
        </p:spPr>
      </p:sp>
      <p:sp>
        <p:nvSpPr>
          <p:cNvPr id="12" name="Text 10"/>
          <p:cNvSpPr/>
          <p:nvPr/>
        </p:nvSpPr>
        <p:spPr>
          <a:xfrm>
            <a:off x="758952" y="2194560"/>
            <a:ext cx="365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3" name="Text 11"/>
          <p:cNvSpPr/>
          <p:nvPr/>
        </p:nvSpPr>
        <p:spPr>
          <a:xfrm>
            <a:off x="1143000" y="2194560"/>
            <a:ext cx="1572768"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Quiz</a:t>
            </a:r>
            <a:endParaRPr lang="en-US" sz="1400" dirty="0"/>
          </a:p>
        </p:txBody>
      </p:sp>
      <p:sp>
        <p:nvSpPr>
          <p:cNvPr id="14" name="Text 12"/>
          <p:cNvSpPr/>
          <p:nvPr/>
        </p:nvSpPr>
        <p:spPr>
          <a:xfrm>
            <a:off x="822960" y="2834640"/>
            <a:ext cx="1755648" cy="173736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The HalaTuju course-fit quiz (re-uses your previous answers).</a:t>
            </a:r>
            <a:endParaRPr lang="en-US" sz="1100" dirty="0"/>
          </a:p>
        </p:txBody>
      </p:sp>
      <p:sp>
        <p:nvSpPr>
          <p:cNvPr id="15" name="Shape 13"/>
          <p:cNvSpPr/>
          <p:nvPr/>
        </p:nvSpPr>
        <p:spPr>
          <a:xfrm>
            <a:off x="2916936" y="2103120"/>
            <a:ext cx="2212848" cy="2560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6" name="Shape 14"/>
          <p:cNvSpPr/>
          <p:nvPr/>
        </p:nvSpPr>
        <p:spPr>
          <a:xfrm>
            <a:off x="2916936" y="2103120"/>
            <a:ext cx="2212848" cy="548640"/>
          </a:xfrm>
          <a:prstGeom prst="rect">
            <a:avLst/>
          </a:prstGeom>
          <a:solidFill>
            <a:srgbClr val="0F766E"/>
          </a:solidFill>
          <a:ln/>
        </p:spPr>
      </p:sp>
      <p:sp>
        <p:nvSpPr>
          <p:cNvPr id="17" name="Text 15"/>
          <p:cNvSpPr/>
          <p:nvPr/>
        </p:nvSpPr>
        <p:spPr>
          <a:xfrm>
            <a:off x="3081528" y="2194560"/>
            <a:ext cx="365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8" name="Text 16"/>
          <p:cNvSpPr/>
          <p:nvPr/>
        </p:nvSpPr>
        <p:spPr>
          <a:xfrm>
            <a:off x="3465576" y="2194560"/>
            <a:ext cx="1572768"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Your story</a:t>
            </a:r>
            <a:endParaRPr lang="en-US" sz="1400" dirty="0"/>
          </a:p>
        </p:txBody>
      </p:sp>
      <p:sp>
        <p:nvSpPr>
          <p:cNvPr id="19" name="Text 17"/>
          <p:cNvSpPr/>
          <p:nvPr/>
        </p:nvSpPr>
        <p:spPr>
          <a:xfrm>
            <a:off x="3145536" y="2834640"/>
            <a:ext cx="1755648" cy="173736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About your family + about you. Mostly optional. Write in BM, English, or Tamil.</a:t>
            </a:r>
            <a:endParaRPr lang="en-US" sz="1100" dirty="0"/>
          </a:p>
        </p:txBody>
      </p:sp>
      <p:sp>
        <p:nvSpPr>
          <p:cNvPr id="20" name="Shape 18"/>
          <p:cNvSpPr/>
          <p:nvPr/>
        </p:nvSpPr>
        <p:spPr>
          <a:xfrm>
            <a:off x="5239512" y="2103120"/>
            <a:ext cx="2212848" cy="2560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1" name="Shape 19"/>
          <p:cNvSpPr/>
          <p:nvPr/>
        </p:nvSpPr>
        <p:spPr>
          <a:xfrm>
            <a:off x="5239512" y="2103120"/>
            <a:ext cx="2212848" cy="548640"/>
          </a:xfrm>
          <a:prstGeom prst="rect">
            <a:avLst/>
          </a:prstGeom>
          <a:solidFill>
            <a:srgbClr val="E76F51"/>
          </a:solidFill>
          <a:ln/>
        </p:spPr>
      </p:sp>
      <p:sp>
        <p:nvSpPr>
          <p:cNvPr id="22" name="Text 20"/>
          <p:cNvSpPr/>
          <p:nvPr/>
        </p:nvSpPr>
        <p:spPr>
          <a:xfrm>
            <a:off x="5404104" y="2194560"/>
            <a:ext cx="365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5788152" y="2194560"/>
            <a:ext cx="1572768"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Funding</a:t>
            </a:r>
            <a:endParaRPr lang="en-US" sz="1400" dirty="0"/>
          </a:p>
        </p:txBody>
      </p:sp>
      <p:sp>
        <p:nvSpPr>
          <p:cNvPr id="24" name="Text 22"/>
          <p:cNvSpPr/>
          <p:nvPr/>
        </p:nvSpPr>
        <p:spPr>
          <a:xfrm>
            <a:off x="5468112" y="2834640"/>
            <a:ext cx="1755648" cy="173736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Tick categories support would help with (living, transport, accommodation, books, device). Plus a short note. Up to RM3,000 — could be less, depending on funds and need.</a:t>
            </a:r>
            <a:endParaRPr lang="en-US" sz="1100" dirty="0"/>
          </a:p>
        </p:txBody>
      </p:sp>
      <p:sp>
        <p:nvSpPr>
          <p:cNvPr id="25" name="Shape 23"/>
          <p:cNvSpPr/>
          <p:nvPr/>
        </p:nvSpPr>
        <p:spPr>
          <a:xfrm>
            <a:off x="7562088" y="2103120"/>
            <a:ext cx="2212848" cy="2560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6" name="Shape 24"/>
          <p:cNvSpPr/>
          <p:nvPr/>
        </p:nvSpPr>
        <p:spPr>
          <a:xfrm>
            <a:off x="7562088" y="2103120"/>
            <a:ext cx="2212848" cy="548640"/>
          </a:xfrm>
          <a:prstGeom prst="rect">
            <a:avLst/>
          </a:prstGeom>
          <a:solidFill>
            <a:srgbClr val="0F766E"/>
          </a:solidFill>
          <a:ln/>
        </p:spPr>
      </p:sp>
      <p:sp>
        <p:nvSpPr>
          <p:cNvPr id="27" name="Text 25"/>
          <p:cNvSpPr/>
          <p:nvPr/>
        </p:nvSpPr>
        <p:spPr>
          <a:xfrm>
            <a:off x="7726680" y="2194560"/>
            <a:ext cx="365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8" name="Text 26"/>
          <p:cNvSpPr/>
          <p:nvPr/>
        </p:nvSpPr>
        <p:spPr>
          <a:xfrm>
            <a:off x="8110728" y="2194560"/>
            <a:ext cx="1572768"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Documents</a:t>
            </a:r>
            <a:endParaRPr lang="en-US" sz="1400" dirty="0"/>
          </a:p>
        </p:txBody>
      </p:sp>
      <p:sp>
        <p:nvSpPr>
          <p:cNvPr id="29" name="Text 27"/>
          <p:cNvSpPr/>
          <p:nvPr/>
        </p:nvSpPr>
        <p:spPr>
          <a:xfrm>
            <a:off x="7790688" y="2834640"/>
            <a:ext cx="1755648" cy="173736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Required: IC + results slip. Optional: income proof (STR / salary slip / EPF), utility bills, statement of intent, offer letter, photo. The IC is auto-checked; your photo isn’t kept at Google.</a:t>
            </a:r>
            <a:endParaRPr lang="en-US" sz="1100" dirty="0"/>
          </a:p>
        </p:txBody>
      </p:sp>
      <p:sp>
        <p:nvSpPr>
          <p:cNvPr id="30" name="Shape 28"/>
          <p:cNvSpPr/>
          <p:nvPr/>
        </p:nvSpPr>
        <p:spPr>
          <a:xfrm>
            <a:off x="9884664" y="2103120"/>
            <a:ext cx="2212848" cy="256032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31" name="Shape 29"/>
          <p:cNvSpPr/>
          <p:nvPr/>
        </p:nvSpPr>
        <p:spPr>
          <a:xfrm>
            <a:off x="9884664" y="2103120"/>
            <a:ext cx="2212848" cy="548640"/>
          </a:xfrm>
          <a:prstGeom prst="rect">
            <a:avLst/>
          </a:prstGeom>
          <a:solidFill>
            <a:srgbClr val="0F766E"/>
          </a:solidFill>
          <a:ln/>
        </p:spPr>
      </p:sp>
      <p:sp>
        <p:nvSpPr>
          <p:cNvPr id="32" name="Text 30"/>
          <p:cNvSpPr/>
          <p:nvPr/>
        </p:nvSpPr>
        <p:spPr>
          <a:xfrm>
            <a:off x="10049256" y="2194560"/>
            <a:ext cx="365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3" name="Text 31"/>
          <p:cNvSpPr/>
          <p:nvPr/>
        </p:nvSpPr>
        <p:spPr>
          <a:xfrm>
            <a:off x="10433304" y="2194560"/>
            <a:ext cx="1572768"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Consent</a:t>
            </a:r>
            <a:endParaRPr lang="en-US" sz="1400" dirty="0"/>
          </a:p>
        </p:txBody>
      </p:sp>
      <p:sp>
        <p:nvSpPr>
          <p:cNvPr id="34" name="Text 32"/>
          <p:cNvSpPr/>
          <p:nvPr/>
        </p:nvSpPr>
        <p:spPr>
          <a:xfrm>
            <a:off x="10113264" y="2834640"/>
            <a:ext cx="1755648" cy="173736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Your formal permission to share your confidential profile with sponsors. Withdrawable any time.</a:t>
            </a:r>
            <a:endParaRPr lang="en-US" sz="1100" dirty="0"/>
          </a:p>
        </p:txBody>
      </p:sp>
      <p:sp>
        <p:nvSpPr>
          <p:cNvPr id="35" name="Shape 33"/>
          <p:cNvSpPr/>
          <p:nvPr/>
        </p:nvSpPr>
        <p:spPr>
          <a:xfrm>
            <a:off x="594360" y="4937760"/>
            <a:ext cx="11002975" cy="1280160"/>
          </a:xfrm>
          <a:prstGeom prst="rect">
            <a:avLst/>
          </a:prstGeom>
          <a:solidFill>
            <a:srgbClr val="F4EBDC"/>
          </a:solidFill>
          <a:ln/>
        </p:spPr>
      </p:sp>
      <p:sp>
        <p:nvSpPr>
          <p:cNvPr id="36" name="Shape 34"/>
          <p:cNvSpPr/>
          <p:nvPr/>
        </p:nvSpPr>
        <p:spPr>
          <a:xfrm>
            <a:off x="594360" y="4937760"/>
            <a:ext cx="73152" cy="1280160"/>
          </a:xfrm>
          <a:prstGeom prst="rect">
            <a:avLst/>
          </a:prstGeom>
          <a:solidFill>
            <a:srgbClr val="C99846"/>
          </a:solidFill>
          <a:ln/>
        </p:spPr>
      </p:sp>
      <p:pic>
        <p:nvPicPr>
          <p:cNvPr id="37" name="Image 0" descr="preencoded.png"/>
          <p:cNvPicPr>
            <a:picLocks noChangeAspect="1"/>
          </p:cNvPicPr>
          <p:nvPr/>
        </p:nvPicPr>
        <p:blipFill>
          <a:blip r:embed="rId3"/>
          <a:stretch>
            <a:fillRect/>
          </a:stretch>
        </p:blipFill>
        <p:spPr>
          <a:xfrm>
            <a:off x="868680" y="5212080"/>
            <a:ext cx="365760" cy="365760"/>
          </a:xfrm>
          <a:prstGeom prst="rect">
            <a:avLst/>
          </a:prstGeom>
        </p:spPr>
      </p:pic>
      <p:sp>
        <p:nvSpPr>
          <p:cNvPr id="38" name="Text 35"/>
          <p:cNvSpPr/>
          <p:nvPr/>
        </p:nvSpPr>
        <p:spPr>
          <a:xfrm>
            <a:off x="1417320" y="5120640"/>
            <a:ext cx="10058400" cy="365760"/>
          </a:xfrm>
          <a:prstGeom prst="rect">
            <a:avLst/>
          </a:prstGeom>
          <a:noFill/>
          <a:ln/>
        </p:spPr>
        <p:txBody>
          <a:bodyPr wrap="square" lIns="0" tIns="0" rIns="0" bIns="0" rtlCol="0" anchor="t"/>
          <a:lstStyle/>
          <a:p>
            <a:pPr marL="0" indent="0">
              <a:buNone/>
            </a:pPr>
            <a:r>
              <a:rPr lang="en-US" sz="1600" b="1" dirty="0">
                <a:solidFill>
                  <a:srgbClr val="1F2937"/>
                </a:solidFill>
                <a:latin typeface="Georgia" pitchFamily="34" charset="0"/>
                <a:ea typeface="Georgia" pitchFamily="34" charset="-122"/>
                <a:cs typeface="Georgia" pitchFamily="34" charset="-120"/>
              </a:rPr>
              <a:t>Tell us as much as you can.</a:t>
            </a:r>
            <a:endParaRPr lang="en-US" sz="1600" dirty="0"/>
          </a:p>
        </p:txBody>
      </p:sp>
      <p:sp>
        <p:nvSpPr>
          <p:cNvPr id="39" name="Text 36"/>
          <p:cNvSpPr/>
          <p:nvPr/>
        </p:nvSpPr>
        <p:spPr>
          <a:xfrm>
            <a:off x="1417320" y="5504688"/>
            <a:ext cx="10058400" cy="64008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“Your story” and the funding note put a person behind the numbers — the more we know, the better we can advocate for you. Write in your most comfortable language. Same truthfulness rule applies: honest uncertainty is fine; mismatches will likely disqualify.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766E"/>
          </a:solidFill>
          <a:ln/>
        </p:spPr>
      </p:sp>
      <p:sp>
        <p:nvSpPr>
          <p:cNvPr id="3" name="Shape 1"/>
          <p:cNvSpPr/>
          <p:nvPr/>
        </p:nvSpPr>
        <p:spPr>
          <a:xfrm>
            <a:off x="548640" y="6446520"/>
            <a:ext cx="11094415" cy="10973"/>
          </a:xfrm>
          <a:prstGeom prst="rect">
            <a:avLst/>
          </a:prstGeom>
          <a:solidFill>
            <a:srgbClr val="E5E0D5"/>
          </a:solidFill>
          <a:ln/>
        </p:spPr>
      </p:sp>
      <p:sp>
        <p:nvSpPr>
          <p:cNvPr id="4" name="Text 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HalaTuju  ·  B40 Education Assistance</a:t>
            </a:r>
            <a:endParaRPr lang="en-US" sz="900" dirty="0"/>
          </a:p>
        </p:txBody>
      </p:sp>
      <p:sp>
        <p:nvSpPr>
          <p:cNvPr id="5" name="Text 3"/>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7</a:t>
            </a:r>
            <a:endParaRPr lang="en-US" sz="900" dirty="0"/>
          </a:p>
        </p:txBody>
      </p:sp>
      <p:sp>
        <p:nvSpPr>
          <p:cNvPr id="6" name="Shape 4"/>
          <p:cNvSpPr/>
          <p:nvPr/>
        </p:nvSpPr>
        <p:spPr>
          <a:xfrm>
            <a:off x="640080" y="502920"/>
            <a:ext cx="2103120" cy="292608"/>
          </a:xfrm>
          <a:prstGeom prst="roundRect">
            <a:avLst>
              <a:gd name="adj" fmla="val 50000"/>
            </a:avLst>
          </a:prstGeom>
          <a:solidFill>
            <a:srgbClr val="E0F2EF"/>
          </a:solidFill>
          <a:ln/>
        </p:spPr>
      </p:sp>
      <p:sp>
        <p:nvSpPr>
          <p:cNvPr id="7" name="Text 5"/>
          <p:cNvSpPr/>
          <p:nvPr/>
        </p:nvSpPr>
        <p:spPr>
          <a:xfrm>
            <a:off x="640080" y="502920"/>
            <a:ext cx="2103120" cy="292608"/>
          </a:xfrm>
          <a:prstGeom prst="rect">
            <a:avLst/>
          </a:prstGeom>
          <a:noFill/>
          <a:ln/>
        </p:spPr>
        <p:txBody>
          <a:bodyPr wrap="square" lIns="0" tIns="0" rIns="0" bIns="0" rtlCol="0" anchor="ctr"/>
          <a:lstStyle/>
          <a:p>
            <a:pPr marL="0" indent="0" algn="ctr">
              <a:buNone/>
            </a:pPr>
            <a:r>
              <a:rPr lang="en-US" sz="900" b="1" kern="0" spc="100" dirty="0">
                <a:solidFill>
                  <a:srgbClr val="115E59"/>
                </a:solidFill>
                <a:latin typeface="Calibri" pitchFamily="34" charset="0"/>
                <a:ea typeface="Calibri" pitchFamily="34" charset="-122"/>
                <a:cs typeface="Calibri" pitchFamily="34" charset="-120"/>
              </a:rPr>
              <a:t>AFTER YOUR PROFILE</a:t>
            </a:r>
            <a:endParaRPr lang="en-US" sz="900" dirty="0"/>
          </a:p>
        </p:txBody>
      </p:sp>
      <p:sp>
        <p:nvSpPr>
          <p:cNvPr id="8" name="Text 6"/>
          <p:cNvSpPr/>
          <p:nvPr/>
        </p:nvSpPr>
        <p:spPr>
          <a:xfrm>
            <a:off x="594360" y="868680"/>
            <a:ext cx="10972800" cy="640080"/>
          </a:xfrm>
          <a:prstGeom prst="rect">
            <a:avLst/>
          </a:prstGeom>
          <a:noFill/>
          <a:ln/>
        </p:spPr>
        <p:txBody>
          <a:bodyPr wrap="square" lIns="0" tIns="0" rIns="0" bIns="0" rtlCol="0" anchor="ctr"/>
          <a:lstStyle/>
          <a:p>
            <a:pPr marL="0" indent="0">
              <a:buNone/>
            </a:pPr>
            <a:r>
              <a:rPr lang="en-US" sz="2600" b="1" dirty="0">
                <a:solidFill>
                  <a:srgbClr val="1F2937"/>
                </a:solidFill>
                <a:latin typeface="Georgia" pitchFamily="34" charset="0"/>
                <a:ea typeface="Georgia" pitchFamily="34" charset="-122"/>
                <a:cs typeface="Georgia" pitchFamily="34" charset="-120"/>
              </a:rPr>
              <a:t>Steps 5 to 8 — and things to keep in mind</a:t>
            </a:r>
            <a:endParaRPr lang="en-US" sz="2600" dirty="0"/>
          </a:p>
        </p:txBody>
      </p:sp>
      <p:sp>
        <p:nvSpPr>
          <p:cNvPr id="9" name="Shape 7"/>
          <p:cNvSpPr/>
          <p:nvPr/>
        </p:nvSpPr>
        <p:spPr>
          <a:xfrm>
            <a:off x="594360" y="1600200"/>
            <a:ext cx="2743200" cy="219456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0" name="Shape 8"/>
          <p:cNvSpPr/>
          <p:nvPr/>
        </p:nvSpPr>
        <p:spPr>
          <a:xfrm>
            <a:off x="868680" y="1874520"/>
            <a:ext cx="502920" cy="502920"/>
          </a:xfrm>
          <a:prstGeom prst="ellipse">
            <a:avLst/>
          </a:prstGeom>
          <a:solidFill>
            <a:srgbClr val="E76F51"/>
          </a:solidFill>
          <a:ln/>
        </p:spPr>
      </p:sp>
      <p:sp>
        <p:nvSpPr>
          <p:cNvPr id="11" name="Text 9"/>
          <p:cNvSpPr/>
          <p:nvPr/>
        </p:nvSpPr>
        <p:spPr>
          <a:xfrm>
            <a:off x="868680"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2" name="Shape 10"/>
          <p:cNvSpPr/>
          <p:nvPr/>
        </p:nvSpPr>
        <p:spPr>
          <a:xfrm>
            <a:off x="2560320" y="1874520"/>
            <a:ext cx="502920" cy="502920"/>
          </a:xfrm>
          <a:prstGeom prst="ellipse">
            <a:avLst/>
          </a:prstGeom>
          <a:solidFill>
            <a:srgbClr val="E0F2EF"/>
          </a:solidFill>
          <a:ln/>
        </p:spPr>
      </p:sp>
      <p:pic>
        <p:nvPicPr>
          <p:cNvPr id="13" name="Image 0" descr="preencoded.png"/>
          <p:cNvPicPr>
            <a:picLocks noChangeAspect="1"/>
          </p:cNvPicPr>
          <p:nvPr/>
        </p:nvPicPr>
        <p:blipFill>
          <a:blip r:embed="rId3"/>
          <a:stretch>
            <a:fillRect/>
          </a:stretch>
        </p:blipFill>
        <p:spPr>
          <a:xfrm>
            <a:off x="2660904" y="1975104"/>
            <a:ext cx="301752" cy="301752"/>
          </a:xfrm>
          <a:prstGeom prst="rect">
            <a:avLst/>
          </a:prstGeom>
        </p:spPr>
      </p:pic>
      <p:sp>
        <p:nvSpPr>
          <p:cNvPr id="14" name="Text 11"/>
          <p:cNvSpPr/>
          <p:nvPr/>
        </p:nvSpPr>
        <p:spPr>
          <a:xfrm>
            <a:off x="868680" y="2468880"/>
            <a:ext cx="2194560" cy="502920"/>
          </a:xfrm>
          <a:prstGeom prst="rect">
            <a:avLst/>
          </a:prstGeom>
          <a:noFill/>
          <a:ln/>
        </p:spPr>
        <p:txBody>
          <a:bodyPr wrap="square" lIns="0" tIns="0" rIns="0" bIns="0" rtlCol="0" anchor="t"/>
          <a:lstStyle/>
          <a:p>
            <a:pPr marL="0" indent="0">
              <a:buNone/>
            </a:pPr>
            <a:r>
              <a:rPr lang="en-US" sz="1350" b="1" dirty="0">
                <a:solidFill>
                  <a:srgbClr val="1F2937"/>
                </a:solidFill>
                <a:latin typeface="Georgia" pitchFamily="34" charset="0"/>
                <a:ea typeface="Georgia" pitchFamily="34" charset="-122"/>
                <a:cs typeface="Georgia" pitchFamily="34" charset="-120"/>
              </a:rPr>
              <a:t>The phone call</a:t>
            </a:r>
            <a:endParaRPr lang="en-US" sz="1350" dirty="0"/>
          </a:p>
        </p:txBody>
      </p:sp>
      <p:sp>
        <p:nvSpPr>
          <p:cNvPr id="15" name="Text 12"/>
          <p:cNvSpPr/>
          <p:nvPr/>
        </p:nvSpPr>
        <p:spPr>
          <a:xfrm>
            <a:off x="868680" y="2971800"/>
            <a:ext cx="2194560" cy="77724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~20 min in your language. A warm conversation — and a chance to cross-check details.</a:t>
            </a:r>
            <a:endParaRPr lang="en-US" sz="1050" dirty="0"/>
          </a:p>
        </p:txBody>
      </p:sp>
      <p:sp>
        <p:nvSpPr>
          <p:cNvPr id="16" name="Shape 13"/>
          <p:cNvSpPr/>
          <p:nvPr/>
        </p:nvSpPr>
        <p:spPr>
          <a:xfrm>
            <a:off x="3456432" y="1600200"/>
            <a:ext cx="2743200" cy="219456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17" name="Shape 14"/>
          <p:cNvSpPr/>
          <p:nvPr/>
        </p:nvSpPr>
        <p:spPr>
          <a:xfrm>
            <a:off x="3730752" y="1874520"/>
            <a:ext cx="502920" cy="502920"/>
          </a:xfrm>
          <a:prstGeom prst="ellipse">
            <a:avLst/>
          </a:prstGeom>
          <a:solidFill>
            <a:srgbClr val="E76F51"/>
          </a:solidFill>
          <a:ln/>
        </p:spPr>
      </p:sp>
      <p:sp>
        <p:nvSpPr>
          <p:cNvPr id="18" name="Text 15"/>
          <p:cNvSpPr/>
          <p:nvPr/>
        </p:nvSpPr>
        <p:spPr>
          <a:xfrm>
            <a:off x="3730752"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19" name="Shape 16"/>
          <p:cNvSpPr/>
          <p:nvPr/>
        </p:nvSpPr>
        <p:spPr>
          <a:xfrm>
            <a:off x="5422392" y="1874520"/>
            <a:ext cx="502920" cy="502920"/>
          </a:xfrm>
          <a:prstGeom prst="ellipse">
            <a:avLst/>
          </a:prstGeom>
          <a:solidFill>
            <a:srgbClr val="E0F2EF"/>
          </a:solidFill>
          <a:ln/>
        </p:spPr>
      </p:sp>
      <p:pic>
        <p:nvPicPr>
          <p:cNvPr id="20" name="Image 1" descr="preencoded.png"/>
          <p:cNvPicPr>
            <a:picLocks noChangeAspect="1"/>
          </p:cNvPicPr>
          <p:nvPr/>
        </p:nvPicPr>
        <p:blipFill>
          <a:blip r:embed="rId4"/>
          <a:stretch>
            <a:fillRect/>
          </a:stretch>
        </p:blipFill>
        <p:spPr>
          <a:xfrm>
            <a:off x="5522976" y="1975104"/>
            <a:ext cx="301752" cy="301752"/>
          </a:xfrm>
          <a:prstGeom prst="rect">
            <a:avLst/>
          </a:prstGeom>
        </p:spPr>
      </p:pic>
      <p:sp>
        <p:nvSpPr>
          <p:cNvPr id="21" name="Text 17"/>
          <p:cNvSpPr/>
          <p:nvPr/>
        </p:nvSpPr>
        <p:spPr>
          <a:xfrm>
            <a:off x="3730752" y="2468880"/>
            <a:ext cx="2194560" cy="502920"/>
          </a:xfrm>
          <a:prstGeom prst="rect">
            <a:avLst/>
          </a:prstGeom>
          <a:noFill/>
          <a:ln/>
        </p:spPr>
        <p:txBody>
          <a:bodyPr wrap="square" lIns="0" tIns="0" rIns="0" bIns="0" rtlCol="0" anchor="t"/>
          <a:lstStyle/>
          <a:p>
            <a:pPr marL="0" indent="0">
              <a:buNone/>
            </a:pPr>
            <a:r>
              <a:rPr lang="en-US" sz="1350" b="1" dirty="0">
                <a:solidFill>
                  <a:srgbClr val="1F2937"/>
                </a:solidFill>
                <a:latin typeface="Georgia" pitchFamily="34" charset="0"/>
                <a:ea typeface="Georgia" pitchFamily="34" charset="-122"/>
                <a:cs typeface="Georgia" pitchFamily="34" charset="-120"/>
              </a:rPr>
              <a:t>Profile for sponsors</a:t>
            </a:r>
            <a:endParaRPr lang="en-US" sz="1350" dirty="0"/>
          </a:p>
        </p:txBody>
      </p:sp>
      <p:sp>
        <p:nvSpPr>
          <p:cNvPr id="22" name="Text 18"/>
          <p:cNvSpPr/>
          <p:nvPr/>
        </p:nvSpPr>
        <p:spPr>
          <a:xfrm>
            <a:off x="3730752" y="2971800"/>
            <a:ext cx="2194560" cy="77724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A short, confidential profile from what you told us. A coordinator reviews it first.</a:t>
            </a:r>
            <a:endParaRPr lang="en-US" sz="1050" dirty="0"/>
          </a:p>
        </p:txBody>
      </p:sp>
      <p:sp>
        <p:nvSpPr>
          <p:cNvPr id="23" name="Shape 19"/>
          <p:cNvSpPr/>
          <p:nvPr/>
        </p:nvSpPr>
        <p:spPr>
          <a:xfrm>
            <a:off x="6318504" y="1600200"/>
            <a:ext cx="2743200" cy="219456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24" name="Shape 20"/>
          <p:cNvSpPr/>
          <p:nvPr/>
        </p:nvSpPr>
        <p:spPr>
          <a:xfrm>
            <a:off x="6592824" y="1874520"/>
            <a:ext cx="502920" cy="502920"/>
          </a:xfrm>
          <a:prstGeom prst="ellipse">
            <a:avLst/>
          </a:prstGeom>
          <a:solidFill>
            <a:srgbClr val="E76F51"/>
          </a:solidFill>
          <a:ln/>
        </p:spPr>
      </p:sp>
      <p:sp>
        <p:nvSpPr>
          <p:cNvPr id="25" name="Text 21"/>
          <p:cNvSpPr/>
          <p:nvPr/>
        </p:nvSpPr>
        <p:spPr>
          <a:xfrm>
            <a:off x="6592824"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7</a:t>
            </a:r>
            <a:endParaRPr lang="en-US" sz="1800" dirty="0"/>
          </a:p>
        </p:txBody>
      </p:sp>
      <p:sp>
        <p:nvSpPr>
          <p:cNvPr id="26" name="Shape 22"/>
          <p:cNvSpPr/>
          <p:nvPr/>
        </p:nvSpPr>
        <p:spPr>
          <a:xfrm>
            <a:off x="8284464" y="1874520"/>
            <a:ext cx="502920" cy="502920"/>
          </a:xfrm>
          <a:prstGeom prst="ellipse">
            <a:avLst/>
          </a:prstGeom>
          <a:solidFill>
            <a:srgbClr val="E0F2EF"/>
          </a:solidFill>
          <a:ln/>
        </p:spPr>
      </p:sp>
      <p:pic>
        <p:nvPicPr>
          <p:cNvPr id="27" name="Image 2" descr="preencoded.png"/>
          <p:cNvPicPr>
            <a:picLocks noChangeAspect="1"/>
          </p:cNvPicPr>
          <p:nvPr/>
        </p:nvPicPr>
        <p:blipFill>
          <a:blip r:embed="rId5"/>
          <a:stretch>
            <a:fillRect/>
          </a:stretch>
        </p:blipFill>
        <p:spPr>
          <a:xfrm>
            <a:off x="8385048" y="1975104"/>
            <a:ext cx="301752" cy="301752"/>
          </a:xfrm>
          <a:prstGeom prst="rect">
            <a:avLst/>
          </a:prstGeom>
        </p:spPr>
      </p:pic>
      <p:sp>
        <p:nvSpPr>
          <p:cNvPr id="28" name="Text 23"/>
          <p:cNvSpPr/>
          <p:nvPr/>
        </p:nvSpPr>
        <p:spPr>
          <a:xfrm>
            <a:off x="6592824" y="2468880"/>
            <a:ext cx="2194560" cy="502920"/>
          </a:xfrm>
          <a:prstGeom prst="rect">
            <a:avLst/>
          </a:prstGeom>
          <a:noFill/>
          <a:ln/>
        </p:spPr>
        <p:txBody>
          <a:bodyPr wrap="square" lIns="0" tIns="0" rIns="0" bIns="0" rtlCol="0" anchor="t"/>
          <a:lstStyle/>
          <a:p>
            <a:pPr marL="0" indent="0">
              <a:buNone/>
            </a:pPr>
            <a:r>
              <a:rPr lang="en-US" sz="1350" b="1" dirty="0">
                <a:solidFill>
                  <a:srgbClr val="1F2937"/>
                </a:solidFill>
                <a:latin typeface="Georgia" pitchFamily="34" charset="0"/>
                <a:ea typeface="Georgia" pitchFamily="34" charset="-122"/>
                <a:cs typeface="Georgia" pitchFamily="34" charset="-120"/>
              </a:rPr>
              <a:t>Matched and awarded</a:t>
            </a:r>
            <a:endParaRPr lang="en-US" sz="1350" dirty="0"/>
          </a:p>
        </p:txBody>
      </p:sp>
      <p:sp>
        <p:nvSpPr>
          <p:cNvPr id="29" name="Text 24"/>
          <p:cNvSpPr/>
          <p:nvPr/>
        </p:nvSpPr>
        <p:spPr>
          <a:xfrm>
            <a:off x="6592824" y="2971800"/>
            <a:ext cx="2194560" cy="77724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Once a sponsor chooses you, we arrange the assistance. ~2 months from application.</a:t>
            </a:r>
            <a:endParaRPr lang="en-US" sz="1050" dirty="0"/>
          </a:p>
        </p:txBody>
      </p:sp>
      <p:sp>
        <p:nvSpPr>
          <p:cNvPr id="30" name="Shape 25"/>
          <p:cNvSpPr/>
          <p:nvPr/>
        </p:nvSpPr>
        <p:spPr>
          <a:xfrm>
            <a:off x="9180576" y="1600200"/>
            <a:ext cx="2743200" cy="2194560"/>
          </a:xfrm>
          <a:prstGeom prst="rect">
            <a:avLst/>
          </a:prstGeom>
          <a:solidFill>
            <a:srgbClr val="FFFFFF"/>
          </a:solidFill>
          <a:ln w="6350">
            <a:solidFill>
              <a:srgbClr val="E5E0D5"/>
            </a:solidFill>
            <a:prstDash val="solid"/>
          </a:ln>
          <a:effectLst>
            <a:outerShdw blurRad="127000" dist="25400" dir="5400000" algn="bl" rotWithShape="0">
              <a:srgbClr val="000000">
                <a:alpha val="6000"/>
              </a:srgbClr>
            </a:outerShdw>
          </a:effectLst>
        </p:spPr>
      </p:sp>
      <p:sp>
        <p:nvSpPr>
          <p:cNvPr id="31" name="Shape 26"/>
          <p:cNvSpPr/>
          <p:nvPr/>
        </p:nvSpPr>
        <p:spPr>
          <a:xfrm>
            <a:off x="9454896" y="1874520"/>
            <a:ext cx="502920" cy="502920"/>
          </a:xfrm>
          <a:prstGeom prst="ellipse">
            <a:avLst/>
          </a:prstGeom>
          <a:solidFill>
            <a:srgbClr val="E76F51"/>
          </a:solidFill>
          <a:ln/>
        </p:spPr>
      </p:sp>
      <p:sp>
        <p:nvSpPr>
          <p:cNvPr id="32" name="Text 27"/>
          <p:cNvSpPr/>
          <p:nvPr/>
        </p:nvSpPr>
        <p:spPr>
          <a:xfrm>
            <a:off x="9454896"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8</a:t>
            </a:r>
            <a:endParaRPr lang="en-US" sz="1800" dirty="0"/>
          </a:p>
        </p:txBody>
      </p:sp>
      <p:sp>
        <p:nvSpPr>
          <p:cNvPr id="33" name="Shape 28"/>
          <p:cNvSpPr/>
          <p:nvPr/>
        </p:nvSpPr>
        <p:spPr>
          <a:xfrm>
            <a:off x="11146536" y="1874520"/>
            <a:ext cx="502920" cy="502920"/>
          </a:xfrm>
          <a:prstGeom prst="ellipse">
            <a:avLst/>
          </a:prstGeom>
          <a:solidFill>
            <a:srgbClr val="E0F2EF"/>
          </a:solidFill>
          <a:ln/>
        </p:spPr>
      </p:sp>
      <p:pic>
        <p:nvPicPr>
          <p:cNvPr id="34" name="Image 3" descr="preencoded.png"/>
          <p:cNvPicPr>
            <a:picLocks noChangeAspect="1"/>
          </p:cNvPicPr>
          <p:nvPr/>
        </p:nvPicPr>
        <p:blipFill>
          <a:blip r:embed="rId6"/>
          <a:stretch>
            <a:fillRect/>
          </a:stretch>
        </p:blipFill>
        <p:spPr>
          <a:xfrm>
            <a:off x="11247120" y="1975104"/>
            <a:ext cx="301752" cy="301752"/>
          </a:xfrm>
          <a:prstGeom prst="rect">
            <a:avLst/>
          </a:prstGeom>
        </p:spPr>
      </p:pic>
      <p:sp>
        <p:nvSpPr>
          <p:cNvPr id="35" name="Text 29"/>
          <p:cNvSpPr/>
          <p:nvPr/>
        </p:nvSpPr>
        <p:spPr>
          <a:xfrm>
            <a:off x="9454896" y="2468880"/>
            <a:ext cx="2194560" cy="502920"/>
          </a:xfrm>
          <a:prstGeom prst="rect">
            <a:avLst/>
          </a:prstGeom>
          <a:noFill/>
          <a:ln/>
        </p:spPr>
        <p:txBody>
          <a:bodyPr wrap="square" lIns="0" tIns="0" rIns="0" bIns="0" rtlCol="0" anchor="t"/>
          <a:lstStyle/>
          <a:p>
            <a:pPr marL="0" indent="0">
              <a:buNone/>
            </a:pPr>
            <a:r>
              <a:rPr lang="en-US" sz="1350" b="1" dirty="0">
                <a:solidFill>
                  <a:srgbClr val="1F2937"/>
                </a:solidFill>
                <a:latin typeface="Georgia" pitchFamily="34" charset="0"/>
                <a:ea typeface="Georgia" pitchFamily="34" charset="-122"/>
                <a:cs typeface="Georgia" pitchFamily="34" charset="-120"/>
              </a:rPr>
              <a:t>Staying supported</a:t>
            </a:r>
            <a:endParaRPr lang="en-US" sz="1350" dirty="0"/>
          </a:p>
        </p:txBody>
      </p:sp>
      <p:sp>
        <p:nvSpPr>
          <p:cNvPr id="36" name="Text 30"/>
          <p:cNvSpPr/>
          <p:nvPr/>
        </p:nvSpPr>
        <p:spPr>
          <a:xfrm>
            <a:off x="9454896" y="2971800"/>
            <a:ext cx="2194560" cy="77724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Each semester, upload your results + a short progress note. Support continues as you progress.</a:t>
            </a:r>
            <a:endParaRPr lang="en-US" sz="1050" dirty="0"/>
          </a:p>
        </p:txBody>
      </p:sp>
      <p:sp>
        <p:nvSpPr>
          <p:cNvPr id="37" name="Text 31"/>
          <p:cNvSpPr/>
          <p:nvPr/>
        </p:nvSpPr>
        <p:spPr>
          <a:xfrm>
            <a:off x="594360" y="3977640"/>
            <a:ext cx="10972800" cy="411480"/>
          </a:xfrm>
          <a:prstGeom prst="rect">
            <a:avLst/>
          </a:prstGeom>
          <a:noFill/>
          <a:ln/>
        </p:spPr>
        <p:txBody>
          <a:bodyPr wrap="square" lIns="0" tIns="0" rIns="0" bIns="0" rtlCol="0" anchor="t"/>
          <a:lstStyle/>
          <a:p>
            <a:pPr marL="0" indent="0">
              <a:buNone/>
            </a:pPr>
            <a:r>
              <a:rPr lang="en-US" sz="1800" b="1" dirty="0">
                <a:solidFill>
                  <a:srgbClr val="115E59"/>
                </a:solidFill>
                <a:latin typeface="Georgia" pitchFamily="34" charset="0"/>
                <a:ea typeface="Georgia" pitchFamily="34" charset="-122"/>
                <a:cs typeface="Georgia" pitchFamily="34" charset="-120"/>
              </a:rPr>
              <a:t>A few important things, plainly</a:t>
            </a:r>
            <a:endParaRPr lang="en-US" sz="1800" dirty="0"/>
          </a:p>
        </p:txBody>
      </p:sp>
      <p:sp>
        <p:nvSpPr>
          <p:cNvPr id="38" name="Shape 32"/>
          <p:cNvSpPr/>
          <p:nvPr/>
        </p:nvSpPr>
        <p:spPr>
          <a:xfrm>
            <a:off x="594360" y="4389120"/>
            <a:ext cx="548640" cy="22860"/>
          </a:xfrm>
          <a:prstGeom prst="rect">
            <a:avLst/>
          </a:prstGeom>
          <a:solidFill>
            <a:srgbClr val="E76F51"/>
          </a:solidFill>
          <a:ln/>
        </p:spPr>
      </p:sp>
      <p:sp>
        <p:nvSpPr>
          <p:cNvPr id="39" name="Shape 33"/>
          <p:cNvSpPr/>
          <p:nvPr/>
        </p:nvSpPr>
        <p:spPr>
          <a:xfrm>
            <a:off x="594360" y="4572000"/>
            <a:ext cx="3776472" cy="841248"/>
          </a:xfrm>
          <a:prstGeom prst="rect">
            <a:avLst/>
          </a:prstGeom>
          <a:solidFill>
            <a:srgbClr val="FFFFFF"/>
          </a:solidFill>
          <a:ln w="6350">
            <a:solidFill>
              <a:srgbClr val="E5E0D5"/>
            </a:solidFill>
            <a:prstDash val="solid"/>
          </a:ln>
        </p:spPr>
      </p:sp>
      <p:sp>
        <p:nvSpPr>
          <p:cNvPr id="40" name="Shape 34"/>
          <p:cNvSpPr/>
          <p:nvPr/>
        </p:nvSpPr>
        <p:spPr>
          <a:xfrm>
            <a:off x="758952" y="4754880"/>
            <a:ext cx="502920" cy="502920"/>
          </a:xfrm>
          <a:prstGeom prst="ellipse">
            <a:avLst/>
          </a:prstGeom>
          <a:solidFill>
            <a:srgbClr val="E0F2EF"/>
          </a:solidFill>
          <a:ln/>
        </p:spPr>
      </p:sp>
      <p:pic>
        <p:nvPicPr>
          <p:cNvPr id="41" name="Image 4" descr="preencoded.png"/>
          <p:cNvPicPr>
            <a:picLocks noChangeAspect="1"/>
          </p:cNvPicPr>
          <p:nvPr/>
        </p:nvPicPr>
        <p:blipFill>
          <a:blip r:embed="rId7"/>
          <a:stretch>
            <a:fillRect/>
          </a:stretch>
        </p:blipFill>
        <p:spPr>
          <a:xfrm>
            <a:off x="877824" y="4873752"/>
            <a:ext cx="274320" cy="274320"/>
          </a:xfrm>
          <a:prstGeom prst="rect">
            <a:avLst/>
          </a:prstGeom>
        </p:spPr>
      </p:pic>
      <p:sp>
        <p:nvSpPr>
          <p:cNvPr id="42" name="Text 35"/>
          <p:cNvSpPr/>
          <p:nvPr/>
        </p:nvSpPr>
        <p:spPr>
          <a:xfrm>
            <a:off x="1371600" y="4690872"/>
            <a:ext cx="2907792" cy="292608"/>
          </a:xfrm>
          <a:prstGeom prst="rect">
            <a:avLst/>
          </a:prstGeom>
          <a:noFill/>
          <a:ln/>
        </p:spPr>
        <p:txBody>
          <a:bodyPr wrap="square" lIns="0" tIns="0" rIns="0" bIns="0" rtlCol="0" anchor="t"/>
          <a:lstStyle/>
          <a:p>
            <a:pPr marL="0" indent="0">
              <a:buNone/>
            </a:pPr>
            <a:r>
              <a:rPr lang="en-US" sz="1250" b="1" dirty="0">
                <a:solidFill>
                  <a:srgbClr val="1F2937"/>
                </a:solidFill>
                <a:latin typeface="Georgia" pitchFamily="34" charset="0"/>
                <a:ea typeface="Georgia" pitchFamily="34" charset="-122"/>
                <a:cs typeface="Georgia" pitchFamily="34" charset="-120"/>
              </a:rPr>
              <a:t>No fee, ever.</a:t>
            </a:r>
            <a:endParaRPr lang="en-US" sz="1250" dirty="0"/>
          </a:p>
        </p:txBody>
      </p:sp>
      <p:sp>
        <p:nvSpPr>
          <p:cNvPr id="43" name="Text 36"/>
          <p:cNvSpPr/>
          <p:nvPr/>
        </p:nvSpPr>
        <p:spPr>
          <a:xfrm>
            <a:off x="1371600" y="4965192"/>
            <a:ext cx="2907792" cy="402336"/>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Free to apply, free to be in.</a:t>
            </a:r>
            <a:endParaRPr lang="en-US" sz="1000" dirty="0"/>
          </a:p>
        </p:txBody>
      </p:sp>
      <p:sp>
        <p:nvSpPr>
          <p:cNvPr id="44" name="Shape 37"/>
          <p:cNvSpPr/>
          <p:nvPr/>
        </p:nvSpPr>
        <p:spPr>
          <a:xfrm>
            <a:off x="4480560" y="4572000"/>
            <a:ext cx="3776472" cy="841248"/>
          </a:xfrm>
          <a:prstGeom prst="rect">
            <a:avLst/>
          </a:prstGeom>
          <a:solidFill>
            <a:srgbClr val="FFFFFF"/>
          </a:solidFill>
          <a:ln w="6350">
            <a:solidFill>
              <a:srgbClr val="E5E0D5"/>
            </a:solidFill>
            <a:prstDash val="solid"/>
          </a:ln>
        </p:spPr>
      </p:sp>
      <p:sp>
        <p:nvSpPr>
          <p:cNvPr id="45" name="Shape 38"/>
          <p:cNvSpPr/>
          <p:nvPr/>
        </p:nvSpPr>
        <p:spPr>
          <a:xfrm>
            <a:off x="4645152" y="4754880"/>
            <a:ext cx="502920" cy="502920"/>
          </a:xfrm>
          <a:prstGeom prst="ellipse">
            <a:avLst/>
          </a:prstGeom>
          <a:solidFill>
            <a:srgbClr val="E0F2EF"/>
          </a:solidFill>
          <a:ln/>
        </p:spPr>
      </p:sp>
      <p:pic>
        <p:nvPicPr>
          <p:cNvPr id="46" name="Image 5" descr="preencoded.png"/>
          <p:cNvPicPr>
            <a:picLocks noChangeAspect="1"/>
          </p:cNvPicPr>
          <p:nvPr/>
        </p:nvPicPr>
        <p:blipFill>
          <a:blip r:embed="rId8"/>
          <a:stretch>
            <a:fillRect/>
          </a:stretch>
        </p:blipFill>
        <p:spPr>
          <a:xfrm>
            <a:off x="4764024" y="4873752"/>
            <a:ext cx="274320" cy="274320"/>
          </a:xfrm>
          <a:prstGeom prst="rect">
            <a:avLst/>
          </a:prstGeom>
        </p:spPr>
      </p:pic>
      <p:sp>
        <p:nvSpPr>
          <p:cNvPr id="47" name="Text 39"/>
          <p:cNvSpPr/>
          <p:nvPr/>
        </p:nvSpPr>
        <p:spPr>
          <a:xfrm>
            <a:off x="5257800" y="4690872"/>
            <a:ext cx="2907792" cy="292608"/>
          </a:xfrm>
          <a:prstGeom prst="rect">
            <a:avLst/>
          </a:prstGeom>
          <a:noFill/>
          <a:ln/>
        </p:spPr>
        <p:txBody>
          <a:bodyPr wrap="square" lIns="0" tIns="0" rIns="0" bIns="0" rtlCol="0" anchor="t"/>
          <a:lstStyle/>
          <a:p>
            <a:pPr marL="0" indent="0">
              <a:buNone/>
            </a:pPr>
            <a:r>
              <a:rPr lang="en-US" sz="1250" b="1" dirty="0">
                <a:solidFill>
                  <a:srgbClr val="1F2937"/>
                </a:solidFill>
                <a:latin typeface="Georgia" pitchFamily="34" charset="0"/>
                <a:ea typeface="Georgia" pitchFamily="34" charset="-122"/>
                <a:cs typeface="Georgia" pitchFamily="34" charset="-120"/>
              </a:rPr>
              <a:t>Confidential.</a:t>
            </a:r>
            <a:endParaRPr lang="en-US" sz="1250" dirty="0"/>
          </a:p>
        </p:txBody>
      </p:sp>
      <p:sp>
        <p:nvSpPr>
          <p:cNvPr id="48" name="Text 40"/>
          <p:cNvSpPr/>
          <p:nvPr/>
        </p:nvSpPr>
        <p:spPr>
          <a:xfrm>
            <a:off x="5257800" y="4965192"/>
            <a:ext cx="2907792" cy="402336"/>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Only our coordinator team — and, with consent, sponsors.</a:t>
            </a:r>
            <a:endParaRPr lang="en-US" sz="1000" dirty="0"/>
          </a:p>
        </p:txBody>
      </p:sp>
      <p:sp>
        <p:nvSpPr>
          <p:cNvPr id="49" name="Shape 41"/>
          <p:cNvSpPr/>
          <p:nvPr/>
        </p:nvSpPr>
        <p:spPr>
          <a:xfrm>
            <a:off x="8366760" y="4572000"/>
            <a:ext cx="3776472" cy="841248"/>
          </a:xfrm>
          <a:prstGeom prst="rect">
            <a:avLst/>
          </a:prstGeom>
          <a:solidFill>
            <a:srgbClr val="FFFFFF"/>
          </a:solidFill>
          <a:ln w="6350">
            <a:solidFill>
              <a:srgbClr val="E5E0D5"/>
            </a:solidFill>
            <a:prstDash val="solid"/>
          </a:ln>
        </p:spPr>
      </p:sp>
      <p:sp>
        <p:nvSpPr>
          <p:cNvPr id="50" name="Shape 42"/>
          <p:cNvSpPr/>
          <p:nvPr/>
        </p:nvSpPr>
        <p:spPr>
          <a:xfrm>
            <a:off x="8531352" y="4754880"/>
            <a:ext cx="502920" cy="502920"/>
          </a:xfrm>
          <a:prstGeom prst="ellipse">
            <a:avLst/>
          </a:prstGeom>
          <a:solidFill>
            <a:srgbClr val="E0F2EF"/>
          </a:solidFill>
          <a:ln/>
        </p:spPr>
      </p:sp>
      <p:pic>
        <p:nvPicPr>
          <p:cNvPr id="51" name="Image 6" descr="preencoded.png"/>
          <p:cNvPicPr>
            <a:picLocks noChangeAspect="1"/>
          </p:cNvPicPr>
          <p:nvPr/>
        </p:nvPicPr>
        <p:blipFill>
          <a:blip r:embed="rId9"/>
          <a:stretch>
            <a:fillRect/>
          </a:stretch>
        </p:blipFill>
        <p:spPr>
          <a:xfrm>
            <a:off x="8650224" y="4873752"/>
            <a:ext cx="274320" cy="274320"/>
          </a:xfrm>
          <a:prstGeom prst="rect">
            <a:avLst/>
          </a:prstGeom>
        </p:spPr>
      </p:pic>
      <p:sp>
        <p:nvSpPr>
          <p:cNvPr id="52" name="Text 43"/>
          <p:cNvSpPr/>
          <p:nvPr/>
        </p:nvSpPr>
        <p:spPr>
          <a:xfrm>
            <a:off x="9144000" y="4690872"/>
            <a:ext cx="2907792" cy="292608"/>
          </a:xfrm>
          <a:prstGeom prst="rect">
            <a:avLst/>
          </a:prstGeom>
          <a:noFill/>
          <a:ln/>
        </p:spPr>
        <p:txBody>
          <a:bodyPr wrap="square" lIns="0" tIns="0" rIns="0" bIns="0" rtlCol="0" anchor="t"/>
          <a:lstStyle/>
          <a:p>
            <a:pPr marL="0" indent="0">
              <a:buNone/>
            </a:pPr>
            <a:r>
              <a:rPr lang="en-US" sz="1250" b="1" dirty="0">
                <a:solidFill>
                  <a:srgbClr val="1F2937"/>
                </a:solidFill>
                <a:latin typeface="Georgia" pitchFamily="34" charset="0"/>
                <a:ea typeface="Georgia" pitchFamily="34" charset="-122"/>
                <a:cs typeface="Georgia" pitchFamily="34" charset="-120"/>
              </a:rPr>
              <a:t>Soft signals only.</a:t>
            </a:r>
            <a:endParaRPr lang="en-US" sz="1250" dirty="0"/>
          </a:p>
        </p:txBody>
      </p:sp>
      <p:sp>
        <p:nvSpPr>
          <p:cNvPr id="53" name="Text 44"/>
          <p:cNvSpPr/>
          <p:nvPr/>
        </p:nvSpPr>
        <p:spPr>
          <a:xfrm>
            <a:off x="9144000" y="4965192"/>
            <a:ext cx="2907792" cy="402336"/>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The IC auto-check is a hint; a human reviews every document.</a:t>
            </a:r>
            <a:endParaRPr lang="en-US" sz="1000" dirty="0"/>
          </a:p>
        </p:txBody>
      </p:sp>
      <p:sp>
        <p:nvSpPr>
          <p:cNvPr id="54" name="Shape 45"/>
          <p:cNvSpPr/>
          <p:nvPr/>
        </p:nvSpPr>
        <p:spPr>
          <a:xfrm>
            <a:off x="594360" y="5495544"/>
            <a:ext cx="3776472" cy="841248"/>
          </a:xfrm>
          <a:prstGeom prst="rect">
            <a:avLst/>
          </a:prstGeom>
          <a:solidFill>
            <a:srgbClr val="FFFFFF"/>
          </a:solidFill>
          <a:ln w="6350">
            <a:solidFill>
              <a:srgbClr val="E5E0D5"/>
            </a:solidFill>
            <a:prstDash val="solid"/>
          </a:ln>
        </p:spPr>
      </p:sp>
      <p:sp>
        <p:nvSpPr>
          <p:cNvPr id="55" name="Shape 46"/>
          <p:cNvSpPr/>
          <p:nvPr/>
        </p:nvSpPr>
        <p:spPr>
          <a:xfrm>
            <a:off x="758952" y="5678424"/>
            <a:ext cx="502920" cy="502920"/>
          </a:xfrm>
          <a:prstGeom prst="ellipse">
            <a:avLst/>
          </a:prstGeom>
          <a:solidFill>
            <a:srgbClr val="FBE4DC"/>
          </a:solidFill>
          <a:ln/>
        </p:spPr>
      </p:sp>
      <p:pic>
        <p:nvPicPr>
          <p:cNvPr id="56" name="Image 7" descr="preencoded.png"/>
          <p:cNvPicPr>
            <a:picLocks noChangeAspect="1"/>
          </p:cNvPicPr>
          <p:nvPr/>
        </p:nvPicPr>
        <p:blipFill>
          <a:blip r:embed="rId10"/>
          <a:stretch>
            <a:fillRect/>
          </a:stretch>
        </p:blipFill>
        <p:spPr>
          <a:xfrm>
            <a:off x="877824" y="5797296"/>
            <a:ext cx="274320" cy="274320"/>
          </a:xfrm>
          <a:prstGeom prst="rect">
            <a:avLst/>
          </a:prstGeom>
        </p:spPr>
      </p:pic>
      <p:sp>
        <p:nvSpPr>
          <p:cNvPr id="57" name="Text 47"/>
          <p:cNvSpPr/>
          <p:nvPr/>
        </p:nvSpPr>
        <p:spPr>
          <a:xfrm>
            <a:off x="1371600" y="5614416"/>
            <a:ext cx="2907792" cy="292608"/>
          </a:xfrm>
          <a:prstGeom prst="rect">
            <a:avLst/>
          </a:prstGeom>
          <a:noFill/>
          <a:ln/>
        </p:spPr>
        <p:txBody>
          <a:bodyPr wrap="square" lIns="0" tIns="0" rIns="0" bIns="0" rtlCol="0" anchor="t"/>
          <a:lstStyle/>
          <a:p>
            <a:pPr marL="0" indent="0">
              <a:buNone/>
            </a:pPr>
            <a:r>
              <a:rPr lang="en-US" sz="1250" b="1" dirty="0">
                <a:solidFill>
                  <a:srgbClr val="1F2937"/>
                </a:solidFill>
                <a:latin typeface="Georgia" pitchFamily="34" charset="0"/>
                <a:ea typeface="Georgia" pitchFamily="34" charset="-122"/>
                <a:cs typeface="Georgia" pitchFamily="34" charset="-120"/>
              </a:rPr>
              <a:t>Mismatches disqualify.</a:t>
            </a:r>
            <a:endParaRPr lang="en-US" sz="1250" dirty="0"/>
          </a:p>
        </p:txBody>
      </p:sp>
      <p:sp>
        <p:nvSpPr>
          <p:cNvPr id="58" name="Text 48"/>
          <p:cNvSpPr/>
          <p:nvPr/>
        </p:nvSpPr>
        <p:spPr>
          <a:xfrm>
            <a:off x="1371600" y="5888736"/>
            <a:ext cx="2907792" cy="402336"/>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Be honest about uncertainty rather than guessing.</a:t>
            </a:r>
            <a:endParaRPr lang="en-US" sz="1000" dirty="0"/>
          </a:p>
        </p:txBody>
      </p:sp>
      <p:sp>
        <p:nvSpPr>
          <p:cNvPr id="59" name="Shape 49"/>
          <p:cNvSpPr/>
          <p:nvPr/>
        </p:nvSpPr>
        <p:spPr>
          <a:xfrm>
            <a:off x="4480560" y="5495544"/>
            <a:ext cx="3776472" cy="841248"/>
          </a:xfrm>
          <a:prstGeom prst="rect">
            <a:avLst/>
          </a:prstGeom>
          <a:solidFill>
            <a:srgbClr val="FFFFFF"/>
          </a:solidFill>
          <a:ln w="6350">
            <a:solidFill>
              <a:srgbClr val="E5E0D5"/>
            </a:solidFill>
            <a:prstDash val="solid"/>
          </a:ln>
        </p:spPr>
      </p:sp>
      <p:sp>
        <p:nvSpPr>
          <p:cNvPr id="60" name="Shape 50"/>
          <p:cNvSpPr/>
          <p:nvPr/>
        </p:nvSpPr>
        <p:spPr>
          <a:xfrm>
            <a:off x="4645152" y="5678424"/>
            <a:ext cx="502920" cy="502920"/>
          </a:xfrm>
          <a:prstGeom prst="ellipse">
            <a:avLst/>
          </a:prstGeom>
          <a:solidFill>
            <a:srgbClr val="E0F2EF"/>
          </a:solidFill>
          <a:ln/>
        </p:spPr>
      </p:sp>
      <p:pic>
        <p:nvPicPr>
          <p:cNvPr id="61" name="Image 8" descr="preencoded.png"/>
          <p:cNvPicPr>
            <a:picLocks noChangeAspect="1"/>
          </p:cNvPicPr>
          <p:nvPr/>
        </p:nvPicPr>
        <p:blipFill>
          <a:blip r:embed="rId11"/>
          <a:stretch>
            <a:fillRect/>
          </a:stretch>
        </p:blipFill>
        <p:spPr>
          <a:xfrm>
            <a:off x="4764024" y="5797296"/>
            <a:ext cx="274320" cy="274320"/>
          </a:xfrm>
          <a:prstGeom prst="rect">
            <a:avLst/>
          </a:prstGeom>
        </p:spPr>
      </p:pic>
      <p:sp>
        <p:nvSpPr>
          <p:cNvPr id="62" name="Text 51"/>
          <p:cNvSpPr/>
          <p:nvPr/>
        </p:nvSpPr>
        <p:spPr>
          <a:xfrm>
            <a:off x="5257800" y="5614416"/>
            <a:ext cx="2907792" cy="292608"/>
          </a:xfrm>
          <a:prstGeom prst="rect">
            <a:avLst/>
          </a:prstGeom>
          <a:noFill/>
          <a:ln/>
        </p:spPr>
        <p:txBody>
          <a:bodyPr wrap="square" lIns="0" tIns="0" rIns="0" bIns="0" rtlCol="0" anchor="t"/>
          <a:lstStyle/>
          <a:p>
            <a:pPr marL="0" indent="0">
              <a:buNone/>
            </a:pPr>
            <a:r>
              <a:rPr lang="en-US" sz="1250" b="1" dirty="0">
                <a:solidFill>
                  <a:srgbClr val="1F2937"/>
                </a:solidFill>
                <a:latin typeface="Georgia" pitchFamily="34" charset="0"/>
                <a:ea typeface="Georgia" pitchFamily="34" charset="-122"/>
                <a:cs typeface="Georgia" pitchFamily="34" charset="-120"/>
              </a:rPr>
              <a:t>Under 18?</a:t>
            </a:r>
            <a:endParaRPr lang="en-US" sz="1250" dirty="0"/>
          </a:p>
        </p:txBody>
      </p:sp>
      <p:sp>
        <p:nvSpPr>
          <p:cNvPr id="63" name="Text 52"/>
          <p:cNvSpPr/>
          <p:nvPr/>
        </p:nvSpPr>
        <p:spPr>
          <a:xfrm>
            <a:off x="5257800" y="5888736"/>
            <a:ext cx="2907792" cy="402336"/>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A parent/guardian co-signs. We’ll guide you through it.</a:t>
            </a:r>
            <a:endParaRPr lang="en-US" sz="1000" dirty="0"/>
          </a:p>
        </p:txBody>
      </p:sp>
      <p:sp>
        <p:nvSpPr>
          <p:cNvPr id="64" name="Shape 53"/>
          <p:cNvSpPr/>
          <p:nvPr/>
        </p:nvSpPr>
        <p:spPr>
          <a:xfrm>
            <a:off x="8366760" y="5495544"/>
            <a:ext cx="3776472" cy="841248"/>
          </a:xfrm>
          <a:prstGeom prst="rect">
            <a:avLst/>
          </a:prstGeom>
          <a:solidFill>
            <a:srgbClr val="FFFFFF"/>
          </a:solidFill>
          <a:ln w="6350">
            <a:solidFill>
              <a:srgbClr val="E5E0D5"/>
            </a:solidFill>
            <a:prstDash val="solid"/>
          </a:ln>
        </p:spPr>
      </p:sp>
      <p:sp>
        <p:nvSpPr>
          <p:cNvPr id="65" name="Shape 54"/>
          <p:cNvSpPr/>
          <p:nvPr/>
        </p:nvSpPr>
        <p:spPr>
          <a:xfrm>
            <a:off x="8531352" y="5678424"/>
            <a:ext cx="502920" cy="502920"/>
          </a:xfrm>
          <a:prstGeom prst="ellipse">
            <a:avLst/>
          </a:prstGeom>
          <a:solidFill>
            <a:srgbClr val="E0F2EF"/>
          </a:solidFill>
          <a:ln/>
        </p:spPr>
      </p:sp>
      <p:pic>
        <p:nvPicPr>
          <p:cNvPr id="66" name="Image 9" descr="preencoded.png"/>
          <p:cNvPicPr>
            <a:picLocks noChangeAspect="1"/>
          </p:cNvPicPr>
          <p:nvPr/>
        </p:nvPicPr>
        <p:blipFill>
          <a:blip r:embed="rId12"/>
          <a:stretch>
            <a:fillRect/>
          </a:stretch>
        </p:blipFill>
        <p:spPr>
          <a:xfrm>
            <a:off x="8650224" y="5797296"/>
            <a:ext cx="274320" cy="274320"/>
          </a:xfrm>
          <a:prstGeom prst="rect">
            <a:avLst/>
          </a:prstGeom>
        </p:spPr>
      </p:pic>
      <p:sp>
        <p:nvSpPr>
          <p:cNvPr id="67" name="Text 55"/>
          <p:cNvSpPr/>
          <p:nvPr/>
        </p:nvSpPr>
        <p:spPr>
          <a:xfrm>
            <a:off x="9144000" y="5614416"/>
            <a:ext cx="2907792" cy="292608"/>
          </a:xfrm>
          <a:prstGeom prst="rect">
            <a:avLst/>
          </a:prstGeom>
          <a:noFill/>
          <a:ln/>
        </p:spPr>
        <p:txBody>
          <a:bodyPr wrap="square" lIns="0" tIns="0" rIns="0" bIns="0" rtlCol="0" anchor="t"/>
          <a:lstStyle/>
          <a:p>
            <a:pPr marL="0" indent="0">
              <a:buNone/>
            </a:pPr>
            <a:r>
              <a:rPr lang="en-US" sz="1250" b="1" dirty="0">
                <a:solidFill>
                  <a:srgbClr val="1F2937"/>
                </a:solidFill>
                <a:latin typeface="Georgia" pitchFamily="34" charset="0"/>
                <a:ea typeface="Georgia" pitchFamily="34" charset="-122"/>
                <a:cs typeface="Georgia" pitchFamily="34" charset="-120"/>
              </a:rPr>
              <a:t>Public institutions only.</a:t>
            </a:r>
            <a:endParaRPr lang="en-US" sz="1250" dirty="0"/>
          </a:p>
        </p:txBody>
      </p:sp>
      <p:sp>
        <p:nvSpPr>
          <p:cNvPr id="68" name="Text 56"/>
          <p:cNvSpPr/>
          <p:nvPr/>
        </p:nvSpPr>
        <p:spPr>
          <a:xfrm>
            <a:off x="9144000" y="5888736"/>
            <a:ext cx="2907792" cy="402336"/>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Matrikulasi, Asasi, STPM, university, polytechnic, Kolej Komuniti, IPGM, ILKA.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5E59"/>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76F51"/>
          </a:solidFill>
          <a:ln/>
        </p:spPr>
      </p:sp>
      <p:sp>
        <p:nvSpPr>
          <p:cNvPr id="3" name="Text 1"/>
          <p:cNvSpPr/>
          <p:nvPr/>
        </p:nvSpPr>
        <p:spPr>
          <a:xfrm>
            <a:off x="457200" y="2011680"/>
            <a:ext cx="11277295" cy="1463040"/>
          </a:xfrm>
          <a:prstGeom prst="rect">
            <a:avLst/>
          </a:prstGeom>
          <a:noFill/>
          <a:ln/>
        </p:spPr>
        <p:txBody>
          <a:bodyPr wrap="square" lIns="0" tIns="0" rIns="0" bIns="0" rtlCol="0" anchor="ctr"/>
          <a:lstStyle/>
          <a:p>
            <a:pPr marL="0" indent="0" algn="ctr">
              <a:buNone/>
            </a:pPr>
            <a:r>
              <a:rPr lang="en-US" sz="8800" b="1" dirty="0">
                <a:solidFill>
                  <a:srgbClr val="FFFFFF"/>
                </a:solidFill>
                <a:latin typeface="Georgia" pitchFamily="34" charset="0"/>
                <a:ea typeface="Georgia" pitchFamily="34" charset="-122"/>
                <a:cs typeface="Georgia" pitchFamily="34" charset="-120"/>
              </a:rPr>
              <a:t>Questions?</a:t>
            </a:r>
            <a:endParaRPr lang="en-US" sz="8800" dirty="0"/>
          </a:p>
        </p:txBody>
      </p:sp>
      <p:sp>
        <p:nvSpPr>
          <p:cNvPr id="4" name="Text 2"/>
          <p:cNvSpPr/>
          <p:nvPr/>
        </p:nvSpPr>
        <p:spPr>
          <a:xfrm>
            <a:off x="457200" y="3520440"/>
            <a:ext cx="11277295" cy="731520"/>
          </a:xfrm>
          <a:prstGeom prst="rect">
            <a:avLst/>
          </a:prstGeom>
          <a:noFill/>
          <a:ln/>
        </p:spPr>
        <p:txBody>
          <a:bodyPr wrap="square" lIns="0" tIns="0" rIns="0" bIns="0" rtlCol="0" anchor="ctr"/>
          <a:lstStyle/>
          <a:p>
            <a:pPr marL="0" indent="0" algn="ctr">
              <a:buNone/>
            </a:pPr>
            <a:r>
              <a:rPr lang="en-US" sz="2600" i="1" dirty="0">
                <a:solidFill>
                  <a:srgbClr val="FBE4DC"/>
                </a:solidFill>
                <a:latin typeface="Georgia" pitchFamily="34" charset="0"/>
                <a:ea typeface="Georgia" pitchFamily="34" charset="-122"/>
                <a:cs typeface="Georgia" pitchFamily="34" charset="-120"/>
              </a:rPr>
              <a:t>We’re glad you’re here.</a:t>
            </a:r>
            <a:endParaRPr lang="en-US" sz="2600" dirty="0"/>
          </a:p>
        </p:txBody>
      </p:sp>
      <p:sp>
        <p:nvSpPr>
          <p:cNvPr id="5" name="Shape 3"/>
          <p:cNvSpPr/>
          <p:nvPr/>
        </p:nvSpPr>
        <p:spPr>
          <a:xfrm>
            <a:off x="5547208" y="5212080"/>
            <a:ext cx="1097280" cy="22860"/>
          </a:xfrm>
          <a:prstGeom prst="rect">
            <a:avLst/>
          </a:prstGeom>
          <a:solidFill>
            <a:srgbClr val="E76F51"/>
          </a:solidFill>
          <a:ln/>
        </p:spPr>
      </p:sp>
      <p:sp>
        <p:nvSpPr>
          <p:cNvPr id="6" name="Text 4"/>
          <p:cNvSpPr/>
          <p:nvPr/>
        </p:nvSpPr>
        <p:spPr>
          <a:xfrm>
            <a:off x="457200" y="5486400"/>
            <a:ext cx="11277295"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halatuju.xyz/scholarship</a:t>
            </a:r>
            <a:endParaRPr lang="en-US" sz="1600" dirty="0"/>
          </a:p>
        </p:txBody>
      </p:sp>
      <p:sp>
        <p:nvSpPr>
          <p:cNvPr id="7" name="Text 5"/>
          <p:cNvSpPr/>
          <p:nvPr/>
        </p:nvSpPr>
        <p:spPr>
          <a:xfrm>
            <a:off x="457200" y="5897880"/>
            <a:ext cx="11277295" cy="365760"/>
          </a:xfrm>
          <a:prstGeom prst="rect">
            <a:avLst/>
          </a:prstGeom>
          <a:noFill/>
          <a:ln/>
        </p:spPr>
        <p:txBody>
          <a:bodyPr wrap="square" lIns="0" tIns="0" rIns="0" bIns="0" rtlCol="0" anchor="ctr"/>
          <a:lstStyle/>
          <a:p>
            <a:pPr marL="0" indent="0" algn="ctr">
              <a:buNone/>
            </a:pPr>
            <a:r>
              <a:rPr lang="en-US" sz="1200" i="1" dirty="0">
                <a:solidFill>
                  <a:srgbClr val="FBE4DC"/>
                </a:solidFill>
                <a:latin typeface="Calibri" pitchFamily="34" charset="0"/>
                <a:ea typeface="Calibri" pitchFamily="34" charset="-122"/>
                <a:cs typeface="Calibri" pitchFamily="34" charset="-120"/>
              </a:rPr>
              <a:t>Rolling basis  ·  No fee, ever  ·  Confidential</a:t>
            </a:r>
            <a:endParaRPr lang="en-US" sz="1200" dirty="0"/>
          </a:p>
        </p:txBody>
      </p:sp>
      <p:sp>
        <p:nvSpPr>
          <p:cNvPr id="8" name="Text 6"/>
          <p:cNvSpPr/>
          <p:nvPr/>
        </p:nvSpPr>
        <p:spPr>
          <a:xfrm>
            <a:off x="11002975" y="6510528"/>
            <a:ext cx="640080" cy="274320"/>
          </a:xfrm>
          <a:prstGeom prst="rect">
            <a:avLst/>
          </a:prstGeom>
          <a:noFill/>
          <a:ln/>
        </p:spPr>
        <p:txBody>
          <a:bodyPr wrap="square" lIns="0" tIns="0" rIns="0" bIns="0" rtlCol="0" anchor="ctr"/>
          <a:lstStyle/>
          <a:p>
            <a:pPr marL="0" indent="0" algn="r">
              <a:buNone/>
            </a:pPr>
            <a:r>
              <a:rPr lang="en-US" sz="900" dirty="0">
                <a:solidFill>
                  <a:srgbClr val="FBE4DC"/>
                </a:solidFill>
                <a:latin typeface="Calibri" pitchFamily="34" charset="0"/>
                <a:ea typeface="Calibri" pitchFamily="34" charset="-122"/>
                <a:cs typeface="Calibri" pitchFamily="34" charset="-120"/>
              </a:rPr>
              <a:t>7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2328</Words>
  <Application>Microsoft Office PowerPoint</Application>
  <PresentationFormat>Widescreen</PresentationFormat>
  <Paragraphs>166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B40 Education Assistance — Onboarding</dc:title>
  <dc:subject>PptxGenJS Presentation</dc:subject>
  <dc:creator>HalaTuju</dc:creator>
  <cp:lastModifiedBy>இளஞ்செழியன் வேணுகோபால்</cp:lastModifiedBy>
  <cp:revision>1</cp:revision>
  <dcterms:created xsi:type="dcterms:W3CDTF">2026-05-28T11:12:42Z</dcterms:created>
  <dcterms:modified xsi:type="dcterms:W3CDTF">2026-05-28T11:19:59Z</dcterms:modified>
</cp:coreProperties>
</file>