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 room — they know me, not the platform. Open by naming what all three of them already do well, then say: the constraint isn't generosity or judgement, it's process. This deck is about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none of this is criticism. Every one of these is a rational choice made by a small team with no budget for software. The point is that all three are solving the same problem separately,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three-level model isn't architecture for its own sake. Two real prospects arrived in the same week and needed different answers: a separate charity needed a new Organisation; a regional fund run by the same team needed a new Programme. That's why the level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credibility here. Thirteen volunteers, nobody full-time, 143 students taken from a form to money in an account. That's the scale a foundation actually runs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room came for, whether they say so or not. Every officer's real fear is that a machine quietly rejects a deserving student. Say out loud: the model cannot reject anybody. It can only read, and flag, and hand a human better-organised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one officer in the room is technical, this is where they engage. The EPF formula is the detail that proves this was built by someone who read the documents, not someone who bought an API. And volunteer the limitation before they ask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five is the one to dwell on. Most vendors will not show you how often their model was wrong. This platform measures it, per fact, and puts it on the screen your officers open every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and let each officer find their own column. The specifics — RM11,820, the CTOS letter, the two guarantors — are from their own published documents. That's the proof that this is a real proposal and not a template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this slide or rush it. Volunteering the gaps is the single strongest move available in a room of people whose job is to be careful with other people's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naming the collective argument: none of the three of you can justify building this alone, and none of you should have to. Ask each officer for one name and one date before the meeting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33"/>
        </a:solidFill>
      </p:bgPr>
    </p:bg>
    <p:spTree>
      <p:nvGrpSpPr>
        <p:cNvPr id="1" name=""/>
        <p:cNvGrpSpPr/>
        <p:nvPr/>
      </p:nvGrpSpPr>
      <p:grpSpPr>
        <a:xfrm>
          <a:off x="0" y="0"/>
          <a:ext cx="0" cy="0"/>
          <a:chOff x="0" y="0"/>
          <a:chExt cx="0" cy="0"/>
        </a:xfrm>
      </p:grpSpPr>
      <p:sp>
        <p:nvSpPr>
          <p:cNvPr id="2" name="Shape 0"/>
          <p:cNvSpPr/>
          <p:nvPr/>
        </p:nvSpPr>
        <p:spPr>
          <a:xfrm>
            <a:off x="8595360" y="960120"/>
            <a:ext cx="4937760" cy="4937760"/>
          </a:xfrm>
          <a:prstGeom prst="ellipse">
            <a:avLst/>
          </a:prstGeom>
          <a:solidFill>
            <a:srgbClr val="16294A"/>
          </a:solidFill>
          <a:ln/>
        </p:spPr>
      </p:sp>
      <p:sp>
        <p:nvSpPr>
          <p:cNvPr id="3" name="Shape 1"/>
          <p:cNvSpPr/>
          <p:nvPr/>
        </p:nvSpPr>
        <p:spPr>
          <a:xfrm>
            <a:off x="9418320" y="1783080"/>
            <a:ext cx="3291840" cy="3291840"/>
          </a:xfrm>
          <a:prstGeom prst="ellipse">
            <a:avLst/>
          </a:prstGeom>
          <a:solidFill>
            <a:srgbClr val="1B3A5C"/>
          </a:solidFill>
          <a:ln/>
        </p:spPr>
      </p:sp>
      <p:sp>
        <p:nvSpPr>
          <p:cNvPr id="4" name="Shape 2"/>
          <p:cNvSpPr/>
          <p:nvPr/>
        </p:nvSpPr>
        <p:spPr>
          <a:xfrm>
            <a:off x="10104120" y="2468880"/>
            <a:ext cx="1920240" cy="1920240"/>
          </a:xfrm>
          <a:prstGeom prst="ellipse">
            <a:avLst/>
          </a:prstGeom>
          <a:solidFill>
            <a:srgbClr val="137FEC"/>
          </a:solidFill>
          <a:ln/>
        </p:spPr>
      </p:sp>
      <p:sp>
        <p:nvSpPr>
          <p:cNvPr id="5" name="Text 3"/>
          <p:cNvSpPr/>
          <p:nvPr/>
        </p:nvSpPr>
        <p:spPr>
          <a:xfrm>
            <a:off x="502920" y="658368"/>
            <a:ext cx="5486400" cy="274320"/>
          </a:xfrm>
          <a:prstGeom prst="rect">
            <a:avLst/>
          </a:prstGeom>
          <a:noFill/>
          <a:ln/>
        </p:spPr>
        <p:txBody>
          <a:bodyPr wrap="square" lIns="0" tIns="0" rIns="0" bIns="0" rtlCol="0" anchor="ctr"/>
          <a:lstStyle/>
          <a:p>
            <a:pPr indent="0" marL="0">
              <a:buNone/>
            </a:pPr>
            <a:r>
              <a:rPr lang="en-US" sz="1200" b="1" spc="400" kern="0" dirty="0">
                <a:solidFill>
                  <a:srgbClr val="8FC1F5"/>
                </a:solidFill>
                <a:latin typeface="Calibri" pitchFamily="34" charset="0"/>
                <a:ea typeface="Calibri" pitchFamily="34" charset="-122"/>
                <a:cs typeface="Calibri" pitchFamily="34" charset="-120"/>
              </a:rPr>
              <a:t>HALATUJU</a:t>
            </a:r>
            <a:endParaRPr lang="en-US" sz="1200" dirty="0"/>
          </a:p>
        </p:txBody>
      </p:sp>
      <p:sp>
        <p:nvSpPr>
          <p:cNvPr id="6" name="Text 4"/>
          <p:cNvSpPr/>
          <p:nvPr/>
        </p:nvSpPr>
        <p:spPr>
          <a:xfrm>
            <a:off x="502920" y="1371600"/>
            <a:ext cx="7589520" cy="22860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Running a scholarship</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programme with AI</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in the loop</a:t>
            </a:r>
            <a:endParaRPr lang="en-US" sz="4000" dirty="0"/>
          </a:p>
        </p:txBody>
      </p:sp>
      <p:sp>
        <p:nvSpPr>
          <p:cNvPr id="7" name="Text 5"/>
          <p:cNvSpPr/>
          <p:nvPr/>
        </p:nvSpPr>
        <p:spPr>
          <a:xfrm>
            <a:off x="502920" y="3794760"/>
            <a:ext cx="6949440" cy="685800"/>
          </a:xfrm>
          <a:prstGeom prst="rect">
            <a:avLst/>
          </a:prstGeom>
          <a:noFill/>
          <a:ln/>
        </p:spPr>
        <p:txBody>
          <a:bodyPr wrap="square" lIns="0" tIns="0" rIns="0" bIns="0" rtlCol="0" anchor="ctr"/>
          <a:lstStyle/>
          <a:p>
            <a:pPr indent="0" marL="0">
              <a:lnSpc>
                <a:spcPts val="2200"/>
              </a:lnSpc>
              <a:buNone/>
            </a:pPr>
            <a:r>
              <a:rPr lang="en-US" sz="1500" dirty="0">
                <a:solidFill>
                  <a:srgbClr val="8FC1F5"/>
                </a:solidFill>
                <a:latin typeface="Calibri" pitchFamily="34" charset="0"/>
                <a:ea typeface="Calibri" pitchFamily="34" charset="-122"/>
                <a:cs typeface="Calibri" pitchFamily="34" charset="-120"/>
              </a:rPr>
              <a:t>The HalaTuju platform, shown through one programme that has already run a full cohort — the BrightPath Bursary.</a:t>
            </a:r>
            <a:endParaRPr lang="en-US" sz="1500" dirty="0"/>
          </a:p>
        </p:txBody>
      </p:sp>
      <p:sp>
        <p:nvSpPr>
          <p:cNvPr id="8" name="Text 6"/>
          <p:cNvSpPr/>
          <p:nvPr/>
        </p:nvSpPr>
        <p:spPr>
          <a:xfrm>
            <a:off x="502920" y="4892040"/>
            <a:ext cx="6949440" cy="219456"/>
          </a:xfrm>
          <a:prstGeom prst="rect">
            <a:avLst/>
          </a:prstGeom>
          <a:noFill/>
          <a:ln/>
        </p:spPr>
        <p:txBody>
          <a:bodyPr wrap="square" lIns="0" tIns="0" rIns="0" bIns="0" rtlCol="0" anchor="ctr"/>
          <a:lstStyle/>
          <a:p>
            <a:pPr indent="0" marL="0">
              <a:buNone/>
            </a:pPr>
            <a:r>
              <a:rPr lang="en-US" sz="1000" b="1" spc="200" kern="0" dirty="0">
                <a:solidFill>
                  <a:srgbClr val="7C8CA1"/>
                </a:solidFill>
                <a:latin typeface="Calibri" pitchFamily="34" charset="0"/>
                <a:ea typeface="Calibri" pitchFamily="34" charset="-122"/>
                <a:cs typeface="Calibri" pitchFamily="34" charset="-120"/>
              </a:rPr>
              <a:t>Prepared for</a:t>
            </a:r>
            <a:endParaRPr lang="en-US" sz="1000" dirty="0"/>
          </a:p>
        </p:txBody>
      </p:sp>
      <p:sp>
        <p:nvSpPr>
          <p:cNvPr id="9" name="Text 7"/>
          <p:cNvSpPr/>
          <p:nvPr/>
        </p:nvSpPr>
        <p:spPr>
          <a:xfrm>
            <a:off x="502920" y="5138928"/>
            <a:ext cx="758952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Yayasan DayaDiri   ·   Yu Cai Foundation   ·   Malaysian Community &amp; Education Foundation</a:t>
            </a:r>
            <a:endParaRPr lang="en-US" sz="1300" dirty="0"/>
          </a:p>
        </p:txBody>
      </p:sp>
      <p:sp>
        <p:nvSpPr>
          <p:cNvPr id="10" name="Text 8"/>
          <p:cNvSpPr/>
          <p:nvPr/>
        </p:nvSpPr>
        <p:spPr>
          <a:xfrm>
            <a:off x="502920" y="5806440"/>
            <a:ext cx="5486400" cy="274320"/>
          </a:xfrm>
          <a:prstGeom prst="rect">
            <a:avLst/>
          </a:prstGeom>
          <a:noFill/>
          <a:ln/>
        </p:spPr>
        <p:txBody>
          <a:bodyPr wrap="square" lIns="0" tIns="0" rIns="0" bIns="0" rtlCol="0" anchor="ctr"/>
          <a:lstStyle/>
          <a:p>
            <a:pPr indent="0" marL="0">
              <a:buNone/>
            </a:pPr>
            <a:r>
              <a:rPr lang="en-US" sz="1100" dirty="0">
                <a:solidFill>
                  <a:srgbClr val="7C8CA1"/>
                </a:solidFill>
                <a:latin typeface="Calibri" pitchFamily="34" charset="0"/>
                <a:ea typeface="Calibri" pitchFamily="34" charset="-122"/>
                <a:cs typeface="Calibri" pitchFamily="34" charset="-120"/>
              </a:rPr>
              <a:t>Ve. Elanjelian   ·   August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384048"/>
            <a:ext cx="11185855" cy="237744"/>
          </a:xfrm>
          <a:prstGeom prst="rect">
            <a:avLst/>
          </a:prstGeom>
          <a:noFill/>
          <a:ln/>
        </p:spPr>
        <p:txBody>
          <a:bodyPr wrap="square" lIns="0" tIns="0" rIns="0" bIns="0" rtlCol="0" anchor="ctr"/>
          <a:lstStyle/>
          <a:p>
            <a:pPr indent="0" marL="0">
              <a:buNone/>
            </a:pPr>
            <a:r>
              <a:rPr lang="en-US" sz="1100" b="1" spc="200" kern="0" dirty="0">
                <a:solidFill>
                  <a:srgbClr val="137FEC"/>
                </a:solidFill>
                <a:latin typeface="Calibri" pitchFamily="34" charset="0"/>
                <a:ea typeface="Calibri" pitchFamily="34" charset="-122"/>
                <a:cs typeface="Calibri" pitchFamily="34" charset="-120"/>
              </a:rPr>
              <a:t>WHERE ALL THREE OF YOU ARE TODAY</a:t>
            </a:r>
            <a:endParaRPr lang="en-US" sz="1100" dirty="0"/>
          </a:p>
        </p:txBody>
      </p:sp>
      <p:sp>
        <p:nvSpPr>
          <p:cNvPr id="3" name="Text 1"/>
          <p:cNvSpPr/>
          <p:nvPr/>
        </p:nvSpPr>
        <p:spPr>
          <a:xfrm>
            <a:off x="502920" y="658368"/>
            <a:ext cx="11185855" cy="658368"/>
          </a:xfrm>
          <a:prstGeom prst="rect">
            <a:avLst/>
          </a:prstGeom>
          <a:noFill/>
          <a:ln/>
        </p:spPr>
        <p:txBody>
          <a:bodyPr wrap="square" lIns="0" tIns="0" rIns="0" bIns="0" rtlCol="0" anchor="t"/>
          <a:lstStyle/>
          <a:p>
            <a:pPr indent="0" marL="0">
              <a:buNone/>
            </a:pPr>
            <a:r>
              <a:rPr lang="en-US" sz="3000" b="1" dirty="0">
                <a:solidFill>
                  <a:srgbClr val="0B1B33"/>
                </a:solidFill>
                <a:latin typeface="Cambria" pitchFamily="34" charset="0"/>
                <a:ea typeface="Cambria" pitchFamily="34" charset="-122"/>
                <a:cs typeface="Cambria" pitchFamily="34" charset="-120"/>
              </a:rPr>
              <a:t>Three different programmes, one operating shape</a:t>
            </a:r>
            <a:endParaRPr lang="en-US" sz="3000" dirty="0"/>
          </a:p>
        </p:txBody>
      </p:sp>
      <p:sp>
        <p:nvSpPr>
          <p:cNvPr id="4" name="Shape 2"/>
          <p:cNvSpPr/>
          <p:nvPr/>
        </p:nvSpPr>
        <p:spPr>
          <a:xfrm>
            <a:off x="502920" y="1481328"/>
            <a:ext cx="3511296" cy="3310128"/>
          </a:xfrm>
          <a:prstGeom prst="roundRect">
            <a:avLst>
              <a:gd name="adj" fmla="val 1657"/>
            </a:avLst>
          </a:prstGeom>
          <a:solidFill>
            <a:srgbClr val="FFFFFF"/>
          </a:solidFill>
          <a:ln w="12700">
            <a:solidFill>
              <a:srgbClr val="DDE6F2"/>
            </a:solidFill>
            <a:prstDash val="solid"/>
          </a:ln>
          <a:effectLst>
            <a:outerShdw sx="100000" sy="100000" kx="0" ky="0" algn="bl" rotWithShape="0" blurRad="127000" dist="25400" dir="5400000">
              <a:srgbClr val="0B1B33">
                <a:alpha val="10000"/>
              </a:srgbClr>
            </a:outerShdw>
          </a:effectLst>
        </p:spPr>
      </p:sp>
      <p:sp>
        <p:nvSpPr>
          <p:cNvPr id="5" name="Text 3"/>
          <p:cNvSpPr/>
          <p:nvPr/>
        </p:nvSpPr>
        <p:spPr>
          <a:xfrm>
            <a:off x="777240" y="1719072"/>
            <a:ext cx="2962656" cy="310896"/>
          </a:xfrm>
          <a:prstGeom prst="rect">
            <a:avLst/>
          </a:prstGeom>
          <a:noFill/>
          <a:ln/>
        </p:spPr>
        <p:txBody>
          <a:bodyPr wrap="square" lIns="0" tIns="0" rIns="0" bIns="0" rtlCol="0" anchor="ctr"/>
          <a:lstStyle/>
          <a:p>
            <a:pPr indent="0" marL="0">
              <a:buNone/>
            </a:pPr>
            <a:r>
              <a:rPr lang="en-US" sz="1700" b="1" dirty="0">
                <a:solidFill>
                  <a:srgbClr val="0B1B33"/>
                </a:solidFill>
                <a:latin typeface="Cambria" pitchFamily="34" charset="0"/>
                <a:ea typeface="Cambria" pitchFamily="34" charset="-122"/>
                <a:cs typeface="Cambria" pitchFamily="34" charset="-120"/>
              </a:rPr>
              <a:t>Yayasan DayaDiri</a:t>
            </a:r>
            <a:endParaRPr lang="en-US" sz="1700" dirty="0"/>
          </a:p>
        </p:txBody>
      </p:sp>
      <p:sp>
        <p:nvSpPr>
          <p:cNvPr id="6" name="Text 4"/>
          <p:cNvSpPr/>
          <p:nvPr/>
        </p:nvSpPr>
        <p:spPr>
          <a:xfrm>
            <a:off x="777240" y="2048256"/>
            <a:ext cx="2962656" cy="237744"/>
          </a:xfrm>
          <a:prstGeom prst="rect">
            <a:avLst/>
          </a:prstGeom>
          <a:noFill/>
          <a:ln/>
        </p:spPr>
        <p:txBody>
          <a:bodyPr wrap="square" lIns="0" tIns="0" rIns="0" bIns="0" rtlCol="0" anchor="ctr"/>
          <a:lstStyle/>
          <a:p>
            <a:pPr indent="0" marL="0">
              <a:buNone/>
            </a:pPr>
            <a:r>
              <a:rPr lang="en-US" sz="1000" b="1" spc="60" kern="0" dirty="0">
                <a:solidFill>
                  <a:srgbClr val="137FEC"/>
                </a:solidFill>
                <a:latin typeface="Calibri" pitchFamily="34" charset="0"/>
                <a:ea typeface="Calibri" pitchFamily="34" charset="-122"/>
                <a:cs typeface="Calibri" pitchFamily="34" charset="-120"/>
              </a:rPr>
              <a:t>Post-SPM · Biasiswa IPTA · Overseas</a:t>
            </a:r>
            <a:endParaRPr lang="en-US" sz="1000" dirty="0"/>
          </a:p>
        </p:txBody>
      </p:sp>
      <p:sp>
        <p:nvSpPr>
          <p:cNvPr id="7" name="Text 5"/>
          <p:cNvSpPr/>
          <p:nvPr/>
        </p:nvSpPr>
        <p:spPr>
          <a:xfrm>
            <a:off x="777240" y="2395728"/>
            <a:ext cx="2980944" cy="2194560"/>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150" dirty="0">
                <a:solidFill>
                  <a:srgbClr val="44536B"/>
                </a:solidFill>
                <a:latin typeface="Calibri" pitchFamily="34" charset="0"/>
                <a:ea typeface="Calibri" pitchFamily="34" charset="-122"/>
                <a:cs typeface="Calibri" pitchFamily="34" charset="-120"/>
              </a:rPr>
              <a:t>The 2025 Post-SPM intake ran on two JotForms.</a:t>
            </a:r>
            <a:endParaRPr lang="en-US" sz="1150" dirty="0"/>
          </a:p>
          <a:p>
            <a:pPr marL="342900" indent="-342900">
              <a:lnSpc>
                <a:spcPts val="1600"/>
              </a:lnSpc>
              <a:spcAft>
                <a:spcPts val="800"/>
              </a:spcAft>
              <a:buSzPct val="100000"/>
              <a:buChar char="•"/>
            </a:pPr>
            <a:r>
              <a:rPr lang="en-US" sz="1150" dirty="0">
                <a:solidFill>
                  <a:srgbClr val="44536B"/>
                </a:solidFill>
                <a:latin typeface="Calibri" pitchFamily="34" charset="0"/>
                <a:ea typeface="Calibri" pitchFamily="34" charset="-122"/>
                <a:cs typeface="Calibri" pitchFamily="34" charset="-120"/>
              </a:rPr>
              <a:t>Passport, certified NRIC, birth certificate, results, three months of salary statements, a 200-word essay.</a:t>
            </a:r>
            <a:endParaRPr lang="en-US" sz="1150" dirty="0"/>
          </a:p>
          <a:p>
            <a:pPr marL="342900" indent="-342900">
              <a:lnSpc>
                <a:spcPts val="1600"/>
              </a:lnSpc>
              <a:spcAft>
                <a:spcPts val="800"/>
              </a:spcAft>
              <a:buSzPct val="100000"/>
              <a:buChar char="•"/>
            </a:pPr>
            <a:r>
              <a:rPr lang="en-US" sz="1150" dirty="0">
                <a:solidFill>
                  <a:srgbClr val="44536B"/>
                </a:solidFill>
                <a:latin typeface="Calibri" pitchFamily="34" charset="0"/>
                <a:ea typeface="Calibri" pitchFamily="34" charset="-122"/>
                <a:cs typeface="Calibri" pitchFamily="34" charset="-120"/>
              </a:rPr>
              <a:t>Intake windows announced on Facebook and X. Shortlisted candidates bring originals to interview.</a:t>
            </a:r>
            <a:endParaRPr lang="en-US" sz="1150" dirty="0"/>
          </a:p>
          <a:p>
            <a:pPr marL="342900" indent="-342900">
              <a:lnSpc>
                <a:spcPts val="1600"/>
              </a:lnSpc>
              <a:spcAft>
                <a:spcPts val="800"/>
              </a:spcAft>
              <a:buSzPct val="100000"/>
              <a:buChar char="•"/>
            </a:pPr>
            <a:r>
              <a:rPr lang="en-US" sz="1150" dirty="0">
                <a:solidFill>
                  <a:srgbClr val="44536B"/>
                </a:solidFill>
                <a:latin typeface="Calibri" pitchFamily="34" charset="0"/>
                <a:ea typeface="Calibri" pitchFamily="34" charset="-122"/>
                <a:cs typeface="Calibri" pitchFamily="34" charset="-120"/>
              </a:rPr>
              <a:t>PTPTN loans cancelled before disbursement; CGPA maintained every semester thereafter.</a:t>
            </a:r>
            <a:endParaRPr lang="en-US" sz="1150" dirty="0"/>
          </a:p>
        </p:txBody>
      </p:sp>
      <p:sp>
        <p:nvSpPr>
          <p:cNvPr id="8" name="Shape 6"/>
          <p:cNvSpPr/>
          <p:nvPr/>
        </p:nvSpPr>
        <p:spPr>
          <a:xfrm>
            <a:off x="4334256" y="1481328"/>
            <a:ext cx="3511296" cy="3310128"/>
          </a:xfrm>
          <a:prstGeom prst="roundRect">
            <a:avLst>
              <a:gd name="adj" fmla="val 1657"/>
            </a:avLst>
          </a:prstGeom>
          <a:solidFill>
            <a:srgbClr val="FFFFFF"/>
          </a:solidFill>
          <a:ln w="12700">
            <a:solidFill>
              <a:srgbClr val="DDE6F2"/>
            </a:solidFill>
            <a:prstDash val="solid"/>
          </a:ln>
          <a:effectLst>
            <a:outerShdw sx="100000" sy="100000" kx="0" ky="0" algn="bl" rotWithShape="0" blurRad="127000" dist="25400" dir="5400000">
              <a:srgbClr val="0B1B33">
                <a:alpha val="10000"/>
              </a:srgbClr>
            </a:outerShdw>
          </a:effectLst>
        </p:spPr>
      </p:sp>
      <p:sp>
        <p:nvSpPr>
          <p:cNvPr id="9" name="Text 7"/>
          <p:cNvSpPr/>
          <p:nvPr/>
        </p:nvSpPr>
        <p:spPr>
          <a:xfrm>
            <a:off x="4608576" y="1719072"/>
            <a:ext cx="2962656" cy="310896"/>
          </a:xfrm>
          <a:prstGeom prst="rect">
            <a:avLst/>
          </a:prstGeom>
          <a:noFill/>
          <a:ln/>
        </p:spPr>
        <p:txBody>
          <a:bodyPr wrap="square" lIns="0" tIns="0" rIns="0" bIns="0" rtlCol="0" anchor="ctr"/>
          <a:lstStyle/>
          <a:p>
            <a:pPr indent="0" marL="0">
              <a:buNone/>
            </a:pPr>
            <a:r>
              <a:rPr lang="en-US" sz="1700" b="1" dirty="0">
                <a:solidFill>
                  <a:srgbClr val="0B1B33"/>
                </a:solidFill>
                <a:latin typeface="Cambria" pitchFamily="34" charset="0"/>
                <a:ea typeface="Cambria" pitchFamily="34" charset="-122"/>
                <a:cs typeface="Cambria" pitchFamily="34" charset="-120"/>
              </a:rPr>
              <a:t>Yu Cai Foundation</a:t>
            </a:r>
            <a:endParaRPr lang="en-US" sz="1700" dirty="0"/>
          </a:p>
        </p:txBody>
      </p:sp>
      <p:sp>
        <p:nvSpPr>
          <p:cNvPr id="10" name="Text 8"/>
          <p:cNvSpPr/>
          <p:nvPr/>
        </p:nvSpPr>
        <p:spPr>
          <a:xfrm>
            <a:off x="4608576" y="2048256"/>
            <a:ext cx="2962656" cy="237744"/>
          </a:xfrm>
          <a:prstGeom prst="rect">
            <a:avLst/>
          </a:prstGeom>
          <a:noFill/>
          <a:ln/>
        </p:spPr>
        <p:txBody>
          <a:bodyPr wrap="square" lIns="0" tIns="0" rIns="0" bIns="0" rtlCol="0" anchor="ctr"/>
          <a:lstStyle/>
          <a:p>
            <a:pPr indent="0" marL="0">
              <a:buNone/>
            </a:pPr>
            <a:r>
              <a:rPr lang="en-US" sz="1000" b="1" spc="60" kern="0" dirty="0">
                <a:solidFill>
                  <a:srgbClr val="137FEC"/>
                </a:solidFill>
                <a:latin typeface="Calibri" pitchFamily="34" charset="0"/>
                <a:ea typeface="Calibri" pitchFamily="34" charset="-122"/>
                <a:cs typeface="Calibri" pitchFamily="34" charset="-120"/>
              </a:rPr>
              <a:t>~11 concurrent schemes · RM25m since 2015</a:t>
            </a:r>
            <a:endParaRPr lang="en-US" sz="1000" dirty="0"/>
          </a:p>
        </p:txBody>
      </p:sp>
      <p:sp>
        <p:nvSpPr>
          <p:cNvPr id="11" name="Text 9"/>
          <p:cNvSpPr/>
          <p:nvPr/>
        </p:nvSpPr>
        <p:spPr>
          <a:xfrm>
            <a:off x="4608576" y="2395728"/>
            <a:ext cx="2980944" cy="2194560"/>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150" dirty="0">
                <a:solidFill>
                  <a:srgbClr val="44536B"/>
                </a:solidFill>
                <a:latin typeface="Calibri" pitchFamily="34" charset="0"/>
                <a:ea typeface="Calibri" pitchFamily="34" charset="-122"/>
                <a:cs typeface="Calibri" pitchFamily="34" charset="-120"/>
              </a:rPr>
              <a:t>Form 6: apply online 1–31 August, then courier or hand-deliver certified paper copies by 7 September.</a:t>
            </a:r>
            <a:endParaRPr lang="en-US" sz="1150" dirty="0"/>
          </a:p>
          <a:p>
            <a:pPr marL="342900" indent="-342900">
              <a:lnSpc>
                <a:spcPts val="1600"/>
              </a:lnSpc>
              <a:spcAft>
                <a:spcPts val="800"/>
              </a:spcAft>
              <a:buSzPct val="100000"/>
              <a:buChar char="•"/>
            </a:pPr>
            <a:r>
              <a:rPr lang="en-US" sz="1150" dirty="0">
                <a:solidFill>
                  <a:srgbClr val="44536B"/>
                </a:solidFill>
                <a:latin typeface="Calibri" pitchFamily="34" charset="0"/>
                <a:ea typeface="Calibri" pitchFamily="34" charset="-122"/>
                <a:cs typeface="Calibri" pitchFamily="34" charset="-120"/>
              </a:rPr>
              <a:t>SMJK: three downloadable PDFs, including a statutory declaration and a CTOS consent letter.</a:t>
            </a:r>
            <a:endParaRPr lang="en-US" sz="1150" dirty="0"/>
          </a:p>
          <a:p>
            <a:pPr marL="342900" indent="-342900">
              <a:lnSpc>
                <a:spcPts val="1600"/>
              </a:lnSpc>
              <a:spcAft>
                <a:spcPts val="800"/>
              </a:spcAft>
              <a:buSzPct val="100000"/>
              <a:buChar char="•"/>
            </a:pPr>
            <a:r>
              <a:rPr lang="en-US" sz="1150" dirty="0">
                <a:solidFill>
                  <a:srgbClr val="44536B"/>
                </a:solidFill>
                <a:latin typeface="Calibri" pitchFamily="34" charset="0"/>
                <a:ea typeface="Calibri" pitchFamily="34" charset="-122"/>
                <a:cs typeface="Calibri" pitchFamily="34" charset="-120"/>
              </a:rPr>
              <a:t>Programme pages read “Application is currently closed” with no reopening date.</a:t>
            </a:r>
            <a:endParaRPr lang="en-US" sz="1150" dirty="0"/>
          </a:p>
        </p:txBody>
      </p:sp>
      <p:sp>
        <p:nvSpPr>
          <p:cNvPr id="12" name="Shape 10"/>
          <p:cNvSpPr/>
          <p:nvPr/>
        </p:nvSpPr>
        <p:spPr>
          <a:xfrm>
            <a:off x="8165592" y="1481328"/>
            <a:ext cx="3511296" cy="3310128"/>
          </a:xfrm>
          <a:prstGeom prst="roundRect">
            <a:avLst>
              <a:gd name="adj" fmla="val 1657"/>
            </a:avLst>
          </a:prstGeom>
          <a:solidFill>
            <a:srgbClr val="FFFFFF"/>
          </a:solidFill>
          <a:ln w="12700">
            <a:solidFill>
              <a:srgbClr val="DDE6F2"/>
            </a:solidFill>
            <a:prstDash val="solid"/>
          </a:ln>
          <a:effectLst>
            <a:outerShdw sx="100000" sy="100000" kx="0" ky="0" algn="bl" rotWithShape="0" blurRad="127000" dist="25400" dir="5400000">
              <a:srgbClr val="0B1B33">
                <a:alpha val="10000"/>
              </a:srgbClr>
            </a:outerShdw>
          </a:effectLst>
        </p:spPr>
      </p:sp>
      <p:sp>
        <p:nvSpPr>
          <p:cNvPr id="13" name="Text 11"/>
          <p:cNvSpPr/>
          <p:nvPr/>
        </p:nvSpPr>
        <p:spPr>
          <a:xfrm>
            <a:off x="8439912" y="1719072"/>
            <a:ext cx="2962656" cy="310896"/>
          </a:xfrm>
          <a:prstGeom prst="rect">
            <a:avLst/>
          </a:prstGeom>
          <a:noFill/>
          <a:ln/>
        </p:spPr>
        <p:txBody>
          <a:bodyPr wrap="square" lIns="0" tIns="0" rIns="0" bIns="0" rtlCol="0" anchor="ctr"/>
          <a:lstStyle/>
          <a:p>
            <a:pPr indent="0" marL="0">
              <a:buNone/>
            </a:pPr>
            <a:r>
              <a:rPr lang="en-US" sz="1700" b="1" dirty="0">
                <a:solidFill>
                  <a:srgbClr val="0B1B33"/>
                </a:solidFill>
                <a:latin typeface="Cambria" pitchFamily="34" charset="0"/>
                <a:ea typeface="Cambria" pitchFamily="34" charset="-122"/>
                <a:cs typeface="Cambria" pitchFamily="34" charset="-120"/>
              </a:rPr>
              <a:t>MCEF</a:t>
            </a:r>
            <a:endParaRPr lang="en-US" sz="1700" dirty="0"/>
          </a:p>
        </p:txBody>
      </p:sp>
      <p:sp>
        <p:nvSpPr>
          <p:cNvPr id="14" name="Text 12"/>
          <p:cNvSpPr/>
          <p:nvPr/>
        </p:nvSpPr>
        <p:spPr>
          <a:xfrm>
            <a:off x="8439912" y="2048256"/>
            <a:ext cx="2962656" cy="237744"/>
          </a:xfrm>
          <a:prstGeom prst="rect">
            <a:avLst/>
          </a:prstGeom>
          <a:noFill/>
          <a:ln/>
        </p:spPr>
        <p:txBody>
          <a:bodyPr wrap="square" lIns="0" tIns="0" rIns="0" bIns="0" rtlCol="0" anchor="ctr"/>
          <a:lstStyle/>
          <a:p>
            <a:pPr indent="0" marL="0">
              <a:buNone/>
            </a:pPr>
            <a:r>
              <a:rPr lang="en-US" sz="1000" b="1" spc="60" kern="0" dirty="0">
                <a:solidFill>
                  <a:srgbClr val="137FEC"/>
                </a:solidFill>
                <a:latin typeface="Calibri" pitchFamily="34" charset="0"/>
                <a:ea typeface="Calibri" pitchFamily="34" charset="-122"/>
                <a:cs typeface="Calibri" pitchFamily="34" charset="-120"/>
              </a:rPr>
              <a:t>Student Loan Scheme · 50 years</a:t>
            </a:r>
            <a:endParaRPr lang="en-US" sz="1000" dirty="0"/>
          </a:p>
        </p:txBody>
      </p:sp>
      <p:sp>
        <p:nvSpPr>
          <p:cNvPr id="15" name="Text 13"/>
          <p:cNvSpPr/>
          <p:nvPr/>
        </p:nvSpPr>
        <p:spPr>
          <a:xfrm>
            <a:off x="8439912" y="2395728"/>
            <a:ext cx="2980944" cy="2194560"/>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150" dirty="0">
                <a:solidFill>
                  <a:srgbClr val="44536B"/>
                </a:solidFill>
                <a:latin typeface="Calibri" pitchFamily="34" charset="0"/>
                <a:ea typeface="Calibri" pitchFamily="34" charset="-122"/>
                <a:cs typeface="Calibri" pitchFamily="34" charset="-120"/>
              </a:rPr>
              <a:t>Forms obtained from the Brickfields office or by email, completed on paper.</a:t>
            </a:r>
            <a:endParaRPr lang="en-US" sz="1150" dirty="0"/>
          </a:p>
          <a:p>
            <a:pPr marL="342900" indent="-342900">
              <a:lnSpc>
                <a:spcPts val="1600"/>
              </a:lnSpc>
              <a:spcAft>
                <a:spcPts val="800"/>
              </a:spcAft>
              <a:buSzPct val="100000"/>
              <a:buChar char="•"/>
            </a:pPr>
            <a:r>
              <a:rPr lang="en-US" sz="1150" dirty="0">
                <a:solidFill>
                  <a:srgbClr val="44536B"/>
                </a:solidFill>
                <a:latin typeface="Calibri" pitchFamily="34" charset="0"/>
                <a:ea typeface="Calibri" pitchFamily="34" charset="-122"/>
                <a:cs typeface="Calibri" pitchFamily="34" charset="-120"/>
              </a:rPr>
              <a:t>Certified true copies attached, two guarantors signing, no published deadline.</a:t>
            </a:r>
            <a:endParaRPr lang="en-US" sz="1150" dirty="0"/>
          </a:p>
          <a:p>
            <a:pPr marL="342900" indent="-342900">
              <a:lnSpc>
                <a:spcPts val="1600"/>
              </a:lnSpc>
              <a:spcAft>
                <a:spcPts val="800"/>
              </a:spcAft>
              <a:buSzPct val="100000"/>
              <a:buChar char="•"/>
            </a:pPr>
            <a:r>
              <a:rPr lang="en-US" sz="1150" dirty="0">
                <a:solidFill>
                  <a:srgbClr val="44536B"/>
                </a:solidFill>
                <a:latin typeface="Calibri" pitchFamily="34" charset="0"/>
                <a:ea typeface="Calibri" pitchFamily="34" charset="-122"/>
                <a:cs typeface="Calibri" pitchFamily="34" charset="-120"/>
              </a:rPr>
              <a:t>The scheme guidelines survive publicly because six universities re-host the PDFs.</a:t>
            </a:r>
            <a:endParaRPr lang="en-US" sz="1150" dirty="0"/>
          </a:p>
          <a:p>
            <a:pPr marL="342900" indent="-342900">
              <a:lnSpc>
                <a:spcPts val="1600"/>
              </a:lnSpc>
              <a:spcAft>
                <a:spcPts val="800"/>
              </a:spcAft>
              <a:buSzPct val="100000"/>
              <a:buChar char="•"/>
            </a:pPr>
            <a:r>
              <a:rPr lang="en-US" sz="1150" dirty="0">
                <a:solidFill>
                  <a:srgbClr val="44536B"/>
                </a:solidFill>
                <a:latin typeface="Calibri" pitchFamily="34" charset="0"/>
                <a:ea typeface="Calibri" pitchFamily="34" charset="-122"/>
                <a:cs typeface="Calibri" pitchFamily="34" charset="-120"/>
              </a:rPr>
              <a:t>The loan converts to a full scholarship for First Class graduates — an outcome that has to be tracked.</a:t>
            </a:r>
            <a:endParaRPr lang="en-US" sz="1150" dirty="0"/>
          </a:p>
        </p:txBody>
      </p:sp>
      <p:sp>
        <p:nvSpPr>
          <p:cNvPr id="16" name="Shape 14"/>
          <p:cNvSpPr/>
          <p:nvPr/>
        </p:nvSpPr>
        <p:spPr>
          <a:xfrm>
            <a:off x="502920" y="5010912"/>
            <a:ext cx="11185855" cy="1024128"/>
          </a:xfrm>
          <a:prstGeom prst="roundRect">
            <a:avLst>
              <a:gd name="adj" fmla="val 4464"/>
            </a:avLst>
          </a:prstGeom>
          <a:solidFill>
            <a:srgbClr val="EAF1FB"/>
          </a:solidFill>
          <a:ln w="12700">
            <a:solidFill>
              <a:srgbClr val="D3E2F7"/>
            </a:solidFill>
            <a:prstDash val="solid"/>
          </a:ln>
        </p:spPr>
      </p:sp>
      <p:sp>
        <p:nvSpPr>
          <p:cNvPr id="17" name="Text 15"/>
          <p:cNvSpPr/>
          <p:nvPr/>
        </p:nvSpPr>
        <p:spPr>
          <a:xfrm>
            <a:off x="822960" y="5193792"/>
            <a:ext cx="10545775" cy="685800"/>
          </a:xfrm>
          <a:prstGeom prst="rect">
            <a:avLst/>
          </a:prstGeom>
          <a:noFill/>
          <a:ln/>
        </p:spPr>
        <p:txBody>
          <a:bodyPr wrap="square" lIns="0" tIns="0" rIns="0" bIns="0" rtlCol="0" anchor="ctr"/>
          <a:lstStyle/>
          <a:p>
            <a:pPr indent="0" marL="0">
              <a:lnSpc>
                <a:spcPts val="1900"/>
              </a:lnSpc>
              <a:buNone/>
            </a:pPr>
            <a:r>
              <a:rPr lang="en-US" sz="1300" b="1" dirty="0">
                <a:solidFill>
                  <a:srgbClr val="0B1B33"/>
                </a:solidFill>
                <a:latin typeface="Calibri" pitchFamily="34" charset="0"/>
                <a:ea typeface="Calibri" pitchFamily="34" charset="-122"/>
                <a:cs typeface="Calibri" pitchFamily="34" charset="-120"/>
              </a:rPr>
              <a:t>The same three bottlenecks, in three different buildings.  </a:t>
            </a:r>
            <a:pPr indent="0" marL="0">
              <a:lnSpc>
                <a:spcPts val="1900"/>
              </a:lnSpc>
              <a:buNone/>
            </a:pPr>
            <a:r>
              <a:rPr lang="en-US" sz="1300" dirty="0">
                <a:solidFill>
                  <a:srgbClr val="44536B"/>
                </a:solidFill>
                <a:latin typeface="Calibri" pitchFamily="34" charset="0"/>
                <a:ea typeface="Calibri" pitchFamily="34" charset="-122"/>
                <a:cs typeface="Calibri" pitchFamily="34" charset="-120"/>
              </a:rPr>
              <a:t>Intake arrives unstructured. Means-testing is done by officers reading PDFs. Multi-year obligations — a CGPA condition, a service bond, a five-year commitment, a First Class conversion — are tracked on spreadsheets.</a:t>
            </a:r>
            <a:endParaRPr lang="en-US" sz="1300" dirty="0"/>
          </a:p>
        </p:txBody>
      </p:sp>
      <p:sp>
        <p:nvSpPr>
          <p:cNvPr id="18" name="Text 16"/>
          <p:cNvSpPr/>
          <p:nvPr/>
        </p:nvSpPr>
        <p:spPr>
          <a:xfrm>
            <a:off x="11277295" y="6382512"/>
            <a:ext cx="411480" cy="256032"/>
          </a:xfrm>
          <a:prstGeom prst="rect">
            <a:avLst/>
          </a:prstGeom>
          <a:noFill/>
          <a:ln/>
        </p:spPr>
        <p:txBody>
          <a:bodyPr wrap="square" lIns="0" tIns="0" rIns="0" bIns="0" rtlCol="0" anchor="ctr"/>
          <a:lstStyle/>
          <a:p>
            <a:pPr algn="r" indent="0" marL="0">
              <a:buNone/>
            </a:pPr>
            <a:r>
              <a:rPr lang="en-US" sz="1000" dirty="0">
                <a:solidFill>
                  <a:srgbClr val="7C8CA1"/>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384048"/>
            <a:ext cx="11185855" cy="237744"/>
          </a:xfrm>
          <a:prstGeom prst="rect">
            <a:avLst/>
          </a:prstGeom>
          <a:noFill/>
          <a:ln/>
        </p:spPr>
        <p:txBody>
          <a:bodyPr wrap="square" lIns="0" tIns="0" rIns="0" bIns="0" rtlCol="0" anchor="ctr"/>
          <a:lstStyle/>
          <a:p>
            <a:pPr indent="0" marL="0">
              <a:buNone/>
            </a:pPr>
            <a:r>
              <a:rPr lang="en-US" sz="1100" b="1" spc="200" kern="0" dirty="0">
                <a:solidFill>
                  <a:srgbClr val="137FEC"/>
                </a:solidFill>
                <a:latin typeface="Calibri" pitchFamily="34" charset="0"/>
                <a:ea typeface="Calibri" pitchFamily="34" charset="-122"/>
                <a:cs typeface="Calibri" pitchFamily="34" charset="-120"/>
              </a:rPr>
              <a:t>THE PLATFORM</a:t>
            </a:r>
            <a:endParaRPr lang="en-US" sz="1100" dirty="0"/>
          </a:p>
        </p:txBody>
      </p:sp>
      <p:sp>
        <p:nvSpPr>
          <p:cNvPr id="3" name="Text 1"/>
          <p:cNvSpPr/>
          <p:nvPr/>
        </p:nvSpPr>
        <p:spPr>
          <a:xfrm>
            <a:off x="502920" y="658368"/>
            <a:ext cx="11185855" cy="658368"/>
          </a:xfrm>
          <a:prstGeom prst="rect">
            <a:avLst/>
          </a:prstGeom>
          <a:noFill/>
          <a:ln/>
        </p:spPr>
        <p:txBody>
          <a:bodyPr wrap="square" lIns="0" tIns="0" rIns="0" bIns="0" rtlCol="0" anchor="t"/>
          <a:lstStyle/>
          <a:p>
            <a:pPr indent="0" marL="0">
              <a:buNone/>
            </a:pPr>
            <a:r>
              <a:rPr lang="en-US" sz="3000" b="1" dirty="0">
                <a:solidFill>
                  <a:srgbClr val="0B1B33"/>
                </a:solidFill>
                <a:latin typeface="Cambria" pitchFamily="34" charset="0"/>
                <a:ea typeface="Cambria" pitchFamily="34" charset="-122"/>
                <a:cs typeface="Cambria" pitchFamily="34" charset="-120"/>
              </a:rPr>
              <a:t>One codebase, one deployment, many foundations</a:t>
            </a:r>
            <a:endParaRPr lang="en-US" sz="3000" dirty="0"/>
          </a:p>
        </p:txBody>
      </p:sp>
      <p:sp>
        <p:nvSpPr>
          <p:cNvPr id="4" name="Text 2"/>
          <p:cNvSpPr/>
          <p:nvPr/>
        </p:nvSpPr>
        <p:spPr>
          <a:xfrm>
            <a:off x="502920" y="1517904"/>
            <a:ext cx="4846320" cy="822960"/>
          </a:xfrm>
          <a:prstGeom prst="rect">
            <a:avLst/>
          </a:prstGeom>
          <a:noFill/>
          <a:ln/>
        </p:spPr>
        <p:txBody>
          <a:bodyPr wrap="square" lIns="0" tIns="0" rIns="0" bIns="0" rtlCol="0" anchor="ctr"/>
          <a:lstStyle/>
          <a:p>
            <a:pPr indent="0" marL="0">
              <a:lnSpc>
                <a:spcPts val="2000"/>
              </a:lnSpc>
              <a:buNone/>
            </a:pPr>
            <a:r>
              <a:rPr lang="en-US" sz="1350" dirty="0">
                <a:solidFill>
                  <a:srgbClr val="44536B"/>
                </a:solidFill>
                <a:latin typeface="Calibri" pitchFamily="34" charset="0"/>
                <a:ea typeface="Calibri" pitchFamily="34" charset="-122"/>
                <a:cs typeface="Calibri" pitchFamily="34" charset="-120"/>
              </a:rPr>
              <a:t>HalaTuju began as a course-recommendation engine for SPM leavers — 383 courses across 239 institutions, in English, Bahasa Melayu and Tamil.</a:t>
            </a:r>
            <a:endParaRPr lang="en-US" sz="1350" dirty="0"/>
          </a:p>
        </p:txBody>
      </p:sp>
      <p:sp>
        <p:nvSpPr>
          <p:cNvPr id="5" name="Text 3"/>
          <p:cNvSpPr/>
          <p:nvPr/>
        </p:nvSpPr>
        <p:spPr>
          <a:xfrm>
            <a:off x="502920" y="2377440"/>
            <a:ext cx="4846320" cy="1188720"/>
          </a:xfrm>
          <a:prstGeom prst="rect">
            <a:avLst/>
          </a:prstGeom>
          <a:noFill/>
          <a:ln/>
        </p:spPr>
        <p:txBody>
          <a:bodyPr wrap="square" lIns="0" tIns="0" rIns="0" bIns="0" rtlCol="0" anchor="ctr"/>
          <a:lstStyle/>
          <a:p>
            <a:pPr indent="0" marL="0">
              <a:lnSpc>
                <a:spcPts val="2000"/>
              </a:lnSpc>
              <a:buNone/>
            </a:pPr>
            <a:r>
              <a:rPr lang="en-US" sz="1350" dirty="0">
                <a:solidFill>
                  <a:srgbClr val="44536B"/>
                </a:solidFill>
                <a:latin typeface="Calibri" pitchFamily="34" charset="0"/>
                <a:ea typeface="Calibri" pitchFamily="34" charset="-122"/>
                <a:cs typeface="Calibri" pitchFamily="34" charset="-120"/>
              </a:rPr>
              <a:t>Built on top of it is a scholarship platform: a foundation runs its programme end to end — intake, document verification, human review, QC, award, signing, disbursement and in-programme maintenance — inside its own locked room.</a:t>
            </a:r>
            <a:endParaRPr lang="en-US" sz="1350" dirty="0"/>
          </a:p>
        </p:txBody>
      </p:sp>
      <p:sp>
        <p:nvSpPr>
          <p:cNvPr id="6" name="Shape 4"/>
          <p:cNvSpPr/>
          <p:nvPr/>
        </p:nvSpPr>
        <p:spPr>
          <a:xfrm>
            <a:off x="502920" y="3675888"/>
            <a:ext cx="4846320" cy="2148840"/>
          </a:xfrm>
          <a:prstGeom prst="roundRect">
            <a:avLst>
              <a:gd name="adj" fmla="val 2128"/>
            </a:avLst>
          </a:prstGeom>
          <a:solidFill>
            <a:srgbClr val="FFFFFF"/>
          </a:solidFill>
          <a:ln w="12700">
            <a:solidFill>
              <a:srgbClr val="DDE6F2"/>
            </a:solidFill>
            <a:prstDash val="solid"/>
          </a:ln>
          <a:effectLst>
            <a:outerShdw sx="100000" sy="100000" kx="0" ky="0" algn="bl" rotWithShape="0" blurRad="127000" dist="25400" dir="5400000">
              <a:srgbClr val="0B1B33">
                <a:alpha val="10000"/>
              </a:srgbClr>
            </a:outerShdw>
          </a:effectLst>
        </p:spPr>
      </p:sp>
      <p:sp>
        <p:nvSpPr>
          <p:cNvPr id="7" name="Text 5"/>
          <p:cNvSpPr/>
          <p:nvPr/>
        </p:nvSpPr>
        <p:spPr>
          <a:xfrm>
            <a:off x="777240" y="3877056"/>
            <a:ext cx="4297680" cy="274320"/>
          </a:xfrm>
          <a:prstGeom prst="rect">
            <a:avLst/>
          </a:prstGeom>
          <a:noFill/>
          <a:ln/>
        </p:spPr>
        <p:txBody>
          <a:bodyPr wrap="square" lIns="0" tIns="0" rIns="0" bIns="0" rtlCol="0" anchor="ctr"/>
          <a:lstStyle/>
          <a:p>
            <a:pPr indent="0" marL="0">
              <a:buNone/>
            </a:pPr>
            <a:r>
              <a:rPr lang="en-US" sz="1200" b="1" spc="100" kern="0" dirty="0">
                <a:solidFill>
                  <a:srgbClr val="137FEC"/>
                </a:solidFill>
                <a:latin typeface="Calibri" pitchFamily="34" charset="0"/>
                <a:ea typeface="Calibri" pitchFamily="34" charset="-122"/>
                <a:cs typeface="Calibri" pitchFamily="34" charset="-120"/>
              </a:rPr>
              <a:t>Two shapes of growth</a:t>
            </a:r>
            <a:endParaRPr lang="en-US" sz="1200" dirty="0"/>
          </a:p>
        </p:txBody>
      </p:sp>
      <p:sp>
        <p:nvSpPr>
          <p:cNvPr id="8" name="Text 6"/>
          <p:cNvSpPr/>
          <p:nvPr/>
        </p:nvSpPr>
        <p:spPr>
          <a:xfrm>
            <a:off x="777240" y="4206240"/>
            <a:ext cx="4315968" cy="1463040"/>
          </a:xfrm>
          <a:prstGeom prst="rect">
            <a:avLst/>
          </a:prstGeom>
          <a:noFill/>
          <a:ln/>
        </p:spPr>
        <p:txBody>
          <a:bodyPr wrap="square" lIns="0" tIns="0" rIns="0" bIns="0" rtlCol="0" anchor="t"/>
          <a:lstStyle/>
          <a:p>
            <a:pPr indent="0" marL="0">
              <a:lnSpc>
                <a:spcPts val="1800"/>
              </a:lnSpc>
              <a:spcAft>
                <a:spcPts val="800"/>
              </a:spcAft>
              <a:buNone/>
            </a:pPr>
            <a:r>
              <a:rPr lang="en-US" sz="1250" b="1" dirty="0">
                <a:solidFill>
                  <a:srgbClr val="0B1B33"/>
                </a:solidFill>
                <a:latin typeface="Calibri" pitchFamily="34" charset="0"/>
                <a:ea typeface="Calibri" pitchFamily="34" charset="-122"/>
                <a:cs typeface="Calibri" pitchFamily="34" charset="-120"/>
              </a:rPr>
              <a:t>A separate legal entity</a:t>
            </a:r>
            <a:pPr indent="0" marL="0">
              <a:lnSpc>
                <a:spcPts val="1800"/>
              </a:lnSpc>
              <a:spcAft>
                <a:spcPts val="800"/>
              </a:spcAft>
              <a:buNone/>
            </a:pPr>
            <a:r>
              <a:rPr lang="en-US" sz="1250" dirty="0">
                <a:solidFill>
                  <a:srgbClr val="44536B"/>
                </a:solidFill>
                <a:latin typeface="Calibri" pitchFamily="34" charset="0"/>
                <a:ea typeface="Calibri" pitchFamily="34" charset="-122"/>
                <a:cs typeface="Calibri" pitchFamily="34" charset="-120"/>
              </a:rPr>
              <a:t> — your foundation — becomes a new </a:t>
            </a:r>
            <a:pPr indent="0" marL="0">
              <a:lnSpc>
                <a:spcPts val="1800"/>
              </a:lnSpc>
              <a:spcAft>
                <a:spcPts val="800"/>
              </a:spcAft>
              <a:buNone/>
            </a:pPr>
            <a:r>
              <a:rPr lang="en-US" sz="1250" b="1" dirty="0">
                <a:solidFill>
                  <a:srgbClr val="0B1B33"/>
                </a:solidFill>
                <a:latin typeface="Calibri" pitchFamily="34" charset="0"/>
                <a:ea typeface="Calibri" pitchFamily="34" charset="-122"/>
                <a:cs typeface="Calibri" pitchFamily="34" charset="-120"/>
              </a:rPr>
              <a:t>Organisation</a:t>
            </a:r>
            <a:pPr indent="0" marL="0">
              <a:lnSpc>
                <a:spcPts val="1800"/>
              </a:lnSpc>
              <a:spcAft>
                <a:spcPts val="800"/>
              </a:spcAft>
              <a:buNone/>
            </a:pPr>
            <a:r>
              <a:rPr lang="en-US" sz="1250" dirty="0">
                <a:solidFill>
                  <a:srgbClr val="44536B"/>
                </a:solidFill>
                <a:latin typeface="Calibri" pitchFamily="34" charset="0"/>
                <a:ea typeface="Calibri" pitchFamily="34" charset="-122"/>
                <a:cs typeface="Calibri" pitchFamily="34" charset="-120"/>
              </a:rPr>
              <a:t>, with its own fence, branding and data-processing agreement.</a:t>
            </a:r>
            <a:endParaRPr lang="en-US" sz="1250" dirty="0"/>
          </a:p>
          <a:p>
            <a:pPr indent="0" marL="0">
              <a:lnSpc>
                <a:spcPts val="1800"/>
              </a:lnSpc>
              <a:spcAft>
                <a:spcPts val="800"/>
              </a:spcAft>
              <a:buNone/>
            </a:pPr>
            <a:r>
              <a:rPr lang="en-US" sz="1250" b="1" dirty="0">
                <a:solidFill>
                  <a:srgbClr val="0B1B33"/>
                </a:solidFill>
                <a:latin typeface="Calibri" pitchFamily="34" charset="0"/>
                <a:ea typeface="Calibri" pitchFamily="34" charset="-122"/>
                <a:cs typeface="Calibri" pitchFamily="34" charset="-120"/>
              </a:rPr>
              <a:t>Same team, different rules</a:t>
            </a:r>
            <a:pPr indent="0" marL="0">
              <a:lnSpc>
                <a:spcPts val="1800"/>
              </a:lnSpc>
              <a:spcAft>
                <a:spcPts val="800"/>
              </a:spcAft>
              <a:buNone/>
            </a:pPr>
            <a:r>
              <a:rPr lang="en-US" sz="1250" dirty="0">
                <a:solidFill>
                  <a:srgbClr val="44536B"/>
                </a:solidFill>
                <a:latin typeface="Calibri" pitchFamily="34" charset="0"/>
                <a:ea typeface="Calibri" pitchFamily="34" charset="-122"/>
                <a:cs typeface="Calibri" pitchFamily="34" charset="-120"/>
              </a:rPr>
              <a:t> — a second scheme, a restricted fund, a regional intake — becomes a new </a:t>
            </a:r>
            <a:pPr indent="0" marL="0">
              <a:lnSpc>
                <a:spcPts val="1800"/>
              </a:lnSpc>
              <a:spcAft>
                <a:spcPts val="800"/>
              </a:spcAft>
              <a:buNone/>
            </a:pPr>
            <a:r>
              <a:rPr lang="en-US" sz="1250" b="1" dirty="0">
                <a:solidFill>
                  <a:srgbClr val="0B1B33"/>
                </a:solidFill>
                <a:latin typeface="Calibri" pitchFamily="34" charset="0"/>
                <a:ea typeface="Calibri" pitchFamily="34" charset="-122"/>
                <a:cs typeface="Calibri" pitchFamily="34" charset="-120"/>
              </a:rPr>
              <a:t>Programme</a:t>
            </a:r>
            <a:pPr indent="0" marL="0">
              <a:lnSpc>
                <a:spcPts val="1800"/>
              </a:lnSpc>
              <a:spcAft>
                <a:spcPts val="800"/>
              </a:spcAft>
              <a:buNone/>
            </a:pPr>
            <a:r>
              <a:rPr lang="en-US" sz="1250" dirty="0">
                <a:solidFill>
                  <a:srgbClr val="44536B"/>
                </a:solidFill>
                <a:latin typeface="Calibri" pitchFamily="34" charset="0"/>
                <a:ea typeface="Calibri" pitchFamily="34" charset="-122"/>
                <a:cs typeface="Calibri" pitchFamily="34" charset="-120"/>
              </a:rPr>
              <a:t> under the organisation you already have.</a:t>
            </a:r>
            <a:endParaRPr lang="en-US" sz="1250" dirty="0"/>
          </a:p>
        </p:txBody>
      </p:sp>
      <p:sp>
        <p:nvSpPr>
          <p:cNvPr id="9" name="Shape 7"/>
          <p:cNvSpPr/>
          <p:nvPr/>
        </p:nvSpPr>
        <p:spPr>
          <a:xfrm>
            <a:off x="5897880" y="1517904"/>
            <a:ext cx="5788152" cy="841248"/>
          </a:xfrm>
          <a:prstGeom prst="roundRect">
            <a:avLst>
              <a:gd name="adj" fmla="val 5435"/>
            </a:avLst>
          </a:prstGeom>
          <a:solidFill>
            <a:srgbClr val="FFFFFF"/>
          </a:solidFill>
          <a:ln w="12700">
            <a:solidFill>
              <a:srgbClr val="DDE6F2"/>
            </a:solidFill>
            <a:prstDash val="solid"/>
          </a:ln>
        </p:spPr>
      </p:sp>
      <p:sp>
        <p:nvSpPr>
          <p:cNvPr id="10" name="Text 8"/>
          <p:cNvSpPr/>
          <p:nvPr/>
        </p:nvSpPr>
        <p:spPr>
          <a:xfrm>
            <a:off x="6135624" y="1627632"/>
            <a:ext cx="1645920" cy="219456"/>
          </a:xfrm>
          <a:prstGeom prst="rect">
            <a:avLst/>
          </a:prstGeom>
          <a:noFill/>
          <a:ln/>
        </p:spPr>
        <p:txBody>
          <a:bodyPr wrap="square" lIns="0" tIns="0" rIns="0" bIns="0" rtlCol="0" anchor="ctr"/>
          <a:lstStyle/>
          <a:p>
            <a:pPr indent="0" marL="0">
              <a:buNone/>
            </a:pPr>
            <a:r>
              <a:rPr lang="en-US" sz="950" b="1" spc="140" kern="0" dirty="0">
                <a:solidFill>
                  <a:srgbClr val="0B1B33"/>
                </a:solidFill>
                <a:latin typeface="Calibri" pitchFamily="34" charset="0"/>
                <a:ea typeface="Calibri" pitchFamily="34" charset="-122"/>
                <a:cs typeface="Calibri" pitchFamily="34" charset="-120"/>
              </a:rPr>
              <a:t>PLATFORM</a:t>
            </a:r>
            <a:endParaRPr lang="en-US" sz="950" dirty="0"/>
          </a:p>
        </p:txBody>
      </p:sp>
      <p:sp>
        <p:nvSpPr>
          <p:cNvPr id="11" name="Text 9"/>
          <p:cNvSpPr/>
          <p:nvPr/>
        </p:nvSpPr>
        <p:spPr>
          <a:xfrm>
            <a:off x="6135624" y="1819656"/>
            <a:ext cx="5330952" cy="274320"/>
          </a:xfrm>
          <a:prstGeom prst="rect">
            <a:avLst/>
          </a:prstGeom>
          <a:noFill/>
          <a:ln/>
        </p:spPr>
        <p:txBody>
          <a:bodyPr wrap="square" lIns="0" tIns="0" rIns="0" bIns="0" rtlCol="0" anchor="ctr"/>
          <a:lstStyle/>
          <a:p>
            <a:pPr indent="0" marL="0">
              <a:buNone/>
            </a:pPr>
            <a:r>
              <a:rPr lang="en-US" sz="1500" b="1" dirty="0">
                <a:solidFill>
                  <a:srgbClr val="0B1B33"/>
                </a:solidFill>
                <a:latin typeface="Cambria" pitchFamily="34" charset="0"/>
                <a:ea typeface="Cambria" pitchFamily="34" charset="-122"/>
                <a:cs typeface="Cambria" pitchFamily="34" charset="-120"/>
              </a:rPr>
              <a:t>HalaTuju</a:t>
            </a:r>
            <a:endParaRPr lang="en-US" sz="1500" dirty="0"/>
          </a:p>
        </p:txBody>
      </p:sp>
      <p:sp>
        <p:nvSpPr>
          <p:cNvPr id="12" name="Text 10"/>
          <p:cNvSpPr/>
          <p:nvPr/>
        </p:nvSpPr>
        <p:spPr>
          <a:xfrm>
            <a:off x="6135624" y="2093976"/>
            <a:ext cx="5330952" cy="256032"/>
          </a:xfrm>
          <a:prstGeom prst="rect">
            <a:avLst/>
          </a:prstGeom>
          <a:noFill/>
          <a:ln/>
        </p:spPr>
        <p:txBody>
          <a:bodyPr wrap="square" lIns="0" tIns="0" rIns="0" bIns="0" rtlCol="0" anchor="ctr"/>
          <a:lstStyle/>
          <a:p>
            <a:pPr indent="0" marL="0">
              <a:buNone/>
            </a:pPr>
            <a:r>
              <a:rPr lang="en-US" sz="1050" dirty="0">
                <a:solidFill>
                  <a:srgbClr val="44536B"/>
                </a:solidFill>
                <a:latin typeface="Calibri" pitchFamily="34" charset="0"/>
                <a:ea typeface="Calibri" pitchFamily="34" charset="-122"/>
                <a:cs typeface="Calibri" pitchFamily="34" charset="-120"/>
              </a:rPr>
              <a:t>The shared course catalogue, the student accounts, the verification engine.</a:t>
            </a:r>
            <a:endParaRPr lang="en-US" sz="1050" dirty="0"/>
          </a:p>
        </p:txBody>
      </p:sp>
      <p:sp>
        <p:nvSpPr>
          <p:cNvPr id="13" name="Shape 11"/>
          <p:cNvSpPr/>
          <p:nvPr/>
        </p:nvSpPr>
        <p:spPr>
          <a:xfrm>
            <a:off x="6135624" y="2487168"/>
            <a:ext cx="5550408" cy="841248"/>
          </a:xfrm>
          <a:prstGeom prst="roundRect">
            <a:avLst>
              <a:gd name="adj" fmla="val 5435"/>
            </a:avLst>
          </a:prstGeom>
          <a:solidFill>
            <a:srgbClr val="FFFFFF"/>
          </a:solidFill>
          <a:ln w="12700">
            <a:solidFill>
              <a:srgbClr val="DDE6F2"/>
            </a:solidFill>
            <a:prstDash val="solid"/>
          </a:ln>
        </p:spPr>
      </p:sp>
      <p:sp>
        <p:nvSpPr>
          <p:cNvPr id="14" name="Text 12"/>
          <p:cNvSpPr/>
          <p:nvPr/>
        </p:nvSpPr>
        <p:spPr>
          <a:xfrm>
            <a:off x="6373368" y="2596896"/>
            <a:ext cx="1645920" cy="219456"/>
          </a:xfrm>
          <a:prstGeom prst="rect">
            <a:avLst/>
          </a:prstGeom>
          <a:noFill/>
          <a:ln/>
        </p:spPr>
        <p:txBody>
          <a:bodyPr wrap="square" lIns="0" tIns="0" rIns="0" bIns="0" rtlCol="0" anchor="ctr"/>
          <a:lstStyle/>
          <a:p>
            <a:pPr indent="0" marL="0">
              <a:buNone/>
            </a:pPr>
            <a:r>
              <a:rPr lang="en-US" sz="950" b="1" spc="140" kern="0" dirty="0">
                <a:solidFill>
                  <a:srgbClr val="1B3A5C"/>
                </a:solidFill>
                <a:latin typeface="Calibri" pitchFamily="34" charset="0"/>
                <a:ea typeface="Calibri" pitchFamily="34" charset="-122"/>
                <a:cs typeface="Calibri" pitchFamily="34" charset="-120"/>
              </a:rPr>
              <a:t>ORGANISATION</a:t>
            </a:r>
            <a:endParaRPr lang="en-US" sz="950" dirty="0"/>
          </a:p>
        </p:txBody>
      </p:sp>
      <p:sp>
        <p:nvSpPr>
          <p:cNvPr id="15" name="Text 13"/>
          <p:cNvSpPr/>
          <p:nvPr/>
        </p:nvSpPr>
        <p:spPr>
          <a:xfrm>
            <a:off x="6373368" y="2788920"/>
            <a:ext cx="5093208" cy="274320"/>
          </a:xfrm>
          <a:prstGeom prst="rect">
            <a:avLst/>
          </a:prstGeom>
          <a:noFill/>
          <a:ln/>
        </p:spPr>
        <p:txBody>
          <a:bodyPr wrap="square" lIns="0" tIns="0" rIns="0" bIns="0" rtlCol="0" anchor="ctr"/>
          <a:lstStyle/>
          <a:p>
            <a:pPr indent="0" marL="0">
              <a:buNone/>
            </a:pPr>
            <a:r>
              <a:rPr lang="en-US" sz="1500" b="1" dirty="0">
                <a:solidFill>
                  <a:srgbClr val="0B1B33"/>
                </a:solidFill>
                <a:latin typeface="Cambria" pitchFamily="34" charset="0"/>
                <a:ea typeface="Cambria" pitchFamily="34" charset="-122"/>
                <a:cs typeface="Cambria" pitchFamily="34" charset="-120"/>
              </a:rPr>
              <a:t>BrightPath</a:t>
            </a:r>
            <a:endParaRPr lang="en-US" sz="1500" dirty="0"/>
          </a:p>
        </p:txBody>
      </p:sp>
      <p:sp>
        <p:nvSpPr>
          <p:cNvPr id="16" name="Text 14"/>
          <p:cNvSpPr/>
          <p:nvPr/>
        </p:nvSpPr>
        <p:spPr>
          <a:xfrm>
            <a:off x="6373368" y="3063240"/>
            <a:ext cx="5093208" cy="256032"/>
          </a:xfrm>
          <a:prstGeom prst="rect">
            <a:avLst/>
          </a:prstGeom>
          <a:noFill/>
          <a:ln/>
        </p:spPr>
        <p:txBody>
          <a:bodyPr wrap="square" lIns="0" tIns="0" rIns="0" bIns="0" rtlCol="0" anchor="ctr"/>
          <a:lstStyle/>
          <a:p>
            <a:pPr indent="0" marL="0">
              <a:buNone/>
            </a:pPr>
            <a:r>
              <a:rPr lang="en-US" sz="1050" dirty="0">
                <a:solidFill>
                  <a:srgbClr val="44536B"/>
                </a:solidFill>
                <a:latin typeface="Calibri" pitchFamily="34" charset="0"/>
                <a:ea typeface="Calibri" pitchFamily="34" charset="-122"/>
                <a:cs typeface="Calibri" pitchFamily="34" charset="-120"/>
              </a:rPr>
              <a:t>The tenant, and the security fence. Your foundation would sit here.</a:t>
            </a:r>
            <a:endParaRPr lang="en-US" sz="1050" dirty="0"/>
          </a:p>
        </p:txBody>
      </p:sp>
      <p:sp>
        <p:nvSpPr>
          <p:cNvPr id="17" name="Shape 15"/>
          <p:cNvSpPr/>
          <p:nvPr/>
        </p:nvSpPr>
        <p:spPr>
          <a:xfrm>
            <a:off x="6373368" y="3456432"/>
            <a:ext cx="5312664" cy="841248"/>
          </a:xfrm>
          <a:prstGeom prst="roundRect">
            <a:avLst>
              <a:gd name="adj" fmla="val 5435"/>
            </a:avLst>
          </a:prstGeom>
          <a:solidFill>
            <a:srgbClr val="EAF1FB"/>
          </a:solidFill>
          <a:ln w="19050">
            <a:solidFill>
              <a:srgbClr val="137FEC"/>
            </a:solidFill>
            <a:prstDash val="solid"/>
          </a:ln>
        </p:spPr>
      </p:sp>
      <p:sp>
        <p:nvSpPr>
          <p:cNvPr id="18" name="Text 16"/>
          <p:cNvSpPr/>
          <p:nvPr/>
        </p:nvSpPr>
        <p:spPr>
          <a:xfrm>
            <a:off x="6611112" y="3566160"/>
            <a:ext cx="1645920" cy="219456"/>
          </a:xfrm>
          <a:prstGeom prst="rect">
            <a:avLst/>
          </a:prstGeom>
          <a:noFill/>
          <a:ln/>
        </p:spPr>
        <p:txBody>
          <a:bodyPr wrap="square" lIns="0" tIns="0" rIns="0" bIns="0" rtlCol="0" anchor="ctr"/>
          <a:lstStyle/>
          <a:p>
            <a:pPr indent="0" marL="0">
              <a:buNone/>
            </a:pPr>
            <a:r>
              <a:rPr lang="en-US" sz="950" b="1" spc="140" kern="0" dirty="0">
                <a:solidFill>
                  <a:srgbClr val="137FEC"/>
                </a:solidFill>
                <a:latin typeface="Calibri" pitchFamily="34" charset="0"/>
                <a:ea typeface="Calibri" pitchFamily="34" charset="-122"/>
                <a:cs typeface="Calibri" pitchFamily="34" charset="-120"/>
              </a:rPr>
              <a:t>PROGRAMME</a:t>
            </a:r>
            <a:endParaRPr lang="en-US" sz="950" dirty="0"/>
          </a:p>
        </p:txBody>
      </p:sp>
      <p:sp>
        <p:nvSpPr>
          <p:cNvPr id="19" name="Text 17"/>
          <p:cNvSpPr/>
          <p:nvPr/>
        </p:nvSpPr>
        <p:spPr>
          <a:xfrm>
            <a:off x="6611112" y="3758184"/>
            <a:ext cx="4855464" cy="274320"/>
          </a:xfrm>
          <a:prstGeom prst="rect">
            <a:avLst/>
          </a:prstGeom>
          <a:noFill/>
          <a:ln/>
        </p:spPr>
        <p:txBody>
          <a:bodyPr wrap="square" lIns="0" tIns="0" rIns="0" bIns="0" rtlCol="0" anchor="ctr"/>
          <a:lstStyle/>
          <a:p>
            <a:pPr indent="0" marL="0">
              <a:buNone/>
            </a:pPr>
            <a:r>
              <a:rPr lang="en-US" sz="1500" b="1" dirty="0">
                <a:solidFill>
                  <a:srgbClr val="0B1B33"/>
                </a:solidFill>
                <a:latin typeface="Cambria" pitchFamily="34" charset="0"/>
                <a:ea typeface="Cambria" pitchFamily="34" charset="-122"/>
                <a:cs typeface="Cambria" pitchFamily="34" charset="-120"/>
              </a:rPr>
              <a:t>BrightPath Bursary</a:t>
            </a:r>
            <a:endParaRPr lang="en-US" sz="1500" dirty="0"/>
          </a:p>
        </p:txBody>
      </p:sp>
      <p:sp>
        <p:nvSpPr>
          <p:cNvPr id="20" name="Text 18"/>
          <p:cNvSpPr/>
          <p:nvPr/>
        </p:nvSpPr>
        <p:spPr>
          <a:xfrm>
            <a:off x="6611112" y="4032504"/>
            <a:ext cx="4855464" cy="256032"/>
          </a:xfrm>
          <a:prstGeom prst="rect">
            <a:avLst/>
          </a:prstGeom>
          <a:noFill/>
          <a:ln/>
        </p:spPr>
        <p:txBody>
          <a:bodyPr wrap="square" lIns="0" tIns="0" rIns="0" bIns="0" rtlCol="0" anchor="ctr"/>
          <a:lstStyle/>
          <a:p>
            <a:pPr indent="0" marL="0">
              <a:buNone/>
            </a:pPr>
            <a:r>
              <a:rPr lang="en-US" sz="1050" dirty="0">
                <a:solidFill>
                  <a:srgbClr val="44536B"/>
                </a:solidFill>
                <a:latin typeface="Calibri" pitchFamily="34" charset="0"/>
                <a:ea typeface="Calibri" pitchFamily="34" charset="-122"/>
                <a:cs typeface="Calibri" pitchFamily="34" charset="-120"/>
              </a:rPr>
              <a:t>The gift itself — the rules, the amounts and the fund. Durable; never lapses.</a:t>
            </a:r>
            <a:endParaRPr lang="en-US" sz="1050" dirty="0"/>
          </a:p>
        </p:txBody>
      </p:sp>
      <p:sp>
        <p:nvSpPr>
          <p:cNvPr id="21" name="Shape 19"/>
          <p:cNvSpPr/>
          <p:nvPr/>
        </p:nvSpPr>
        <p:spPr>
          <a:xfrm>
            <a:off x="6611112" y="4425696"/>
            <a:ext cx="5074920" cy="585216"/>
          </a:xfrm>
          <a:prstGeom prst="roundRect">
            <a:avLst>
              <a:gd name="adj" fmla="val 7813"/>
            </a:avLst>
          </a:prstGeom>
          <a:solidFill>
            <a:srgbClr val="FFFFFF"/>
          </a:solidFill>
          <a:ln w="12700">
            <a:solidFill>
              <a:srgbClr val="DDE6F2"/>
            </a:solidFill>
            <a:prstDash val="solid"/>
          </a:ln>
        </p:spPr>
      </p:sp>
      <p:sp>
        <p:nvSpPr>
          <p:cNvPr id="22" name="Text 20"/>
          <p:cNvSpPr/>
          <p:nvPr/>
        </p:nvSpPr>
        <p:spPr>
          <a:xfrm>
            <a:off x="6848856" y="4535424"/>
            <a:ext cx="1645920" cy="219456"/>
          </a:xfrm>
          <a:prstGeom prst="rect">
            <a:avLst/>
          </a:prstGeom>
          <a:noFill/>
          <a:ln/>
        </p:spPr>
        <p:txBody>
          <a:bodyPr wrap="square" lIns="0" tIns="0" rIns="0" bIns="0" rtlCol="0" anchor="ctr"/>
          <a:lstStyle/>
          <a:p>
            <a:pPr indent="0" marL="0">
              <a:buNone/>
            </a:pPr>
            <a:r>
              <a:rPr lang="en-US" sz="950" b="1" spc="140" kern="0" dirty="0">
                <a:solidFill>
                  <a:srgbClr val="0B5AAD"/>
                </a:solidFill>
                <a:latin typeface="Calibri" pitchFamily="34" charset="0"/>
                <a:ea typeface="Calibri" pitchFamily="34" charset="-122"/>
                <a:cs typeface="Calibri" pitchFamily="34" charset="-120"/>
              </a:rPr>
              <a:t>YEAR</a:t>
            </a:r>
            <a:endParaRPr lang="en-US" sz="950" dirty="0"/>
          </a:p>
        </p:txBody>
      </p:sp>
      <p:sp>
        <p:nvSpPr>
          <p:cNvPr id="23" name="Text 21"/>
          <p:cNvSpPr/>
          <p:nvPr/>
        </p:nvSpPr>
        <p:spPr>
          <a:xfrm>
            <a:off x="6848856" y="4727448"/>
            <a:ext cx="4617720" cy="274320"/>
          </a:xfrm>
          <a:prstGeom prst="rect">
            <a:avLst/>
          </a:prstGeom>
          <a:noFill/>
          <a:ln/>
        </p:spPr>
        <p:txBody>
          <a:bodyPr wrap="square" lIns="0" tIns="0" rIns="0" bIns="0" rtlCol="0" anchor="ctr"/>
          <a:lstStyle/>
          <a:p>
            <a:pPr indent="0" marL="0">
              <a:buNone/>
            </a:pPr>
            <a:r>
              <a:rPr lang="en-US" sz="1500" b="1" dirty="0">
                <a:solidFill>
                  <a:srgbClr val="0B1B33"/>
                </a:solidFill>
                <a:latin typeface="Cambria" pitchFamily="34" charset="0"/>
                <a:ea typeface="Cambria" pitchFamily="34" charset="-122"/>
                <a:cs typeface="Cambria" pitchFamily="34" charset="-120"/>
              </a:rPr>
              <a:t>b40-2026</a:t>
            </a:r>
            <a:endParaRPr lang="en-US" sz="1500" dirty="0"/>
          </a:p>
        </p:txBody>
      </p:sp>
      <p:sp>
        <p:nvSpPr>
          <p:cNvPr id="24" name="Text 22"/>
          <p:cNvSpPr/>
          <p:nvPr/>
        </p:nvSpPr>
        <p:spPr>
          <a:xfrm>
            <a:off x="8622792" y="4727448"/>
            <a:ext cx="2834640" cy="274320"/>
          </a:xfrm>
          <a:prstGeom prst="rect">
            <a:avLst/>
          </a:prstGeom>
          <a:noFill/>
          <a:ln/>
        </p:spPr>
        <p:txBody>
          <a:bodyPr wrap="square" lIns="0" tIns="0" rIns="0" bIns="0" rtlCol="0" anchor="ctr"/>
          <a:lstStyle/>
          <a:p>
            <a:pPr indent="0" marL="0">
              <a:buNone/>
            </a:pPr>
            <a:r>
              <a:rPr lang="en-US" sz="1050" dirty="0">
                <a:solidFill>
                  <a:srgbClr val="44536B"/>
                </a:solidFill>
                <a:latin typeface="Calibri" pitchFamily="34" charset="0"/>
                <a:ea typeface="Calibri" pitchFamily="34" charset="-122"/>
                <a:cs typeface="Calibri" pitchFamily="34" charset="-120"/>
              </a:rPr>
              <a:t>The annual cohort.</a:t>
            </a:r>
            <a:endParaRPr lang="en-US" sz="1050" dirty="0"/>
          </a:p>
        </p:txBody>
      </p:sp>
      <p:sp>
        <p:nvSpPr>
          <p:cNvPr id="25" name="Shape 23"/>
          <p:cNvSpPr/>
          <p:nvPr/>
        </p:nvSpPr>
        <p:spPr>
          <a:xfrm>
            <a:off x="6848856" y="5138928"/>
            <a:ext cx="4837176" cy="585216"/>
          </a:xfrm>
          <a:prstGeom prst="roundRect">
            <a:avLst>
              <a:gd name="adj" fmla="val 7813"/>
            </a:avLst>
          </a:prstGeom>
          <a:solidFill>
            <a:srgbClr val="FFFFFF"/>
          </a:solidFill>
          <a:ln w="12700">
            <a:solidFill>
              <a:srgbClr val="DDE6F2"/>
            </a:solidFill>
            <a:prstDash val="solid"/>
          </a:ln>
        </p:spPr>
      </p:sp>
      <p:sp>
        <p:nvSpPr>
          <p:cNvPr id="26" name="Text 24"/>
          <p:cNvSpPr/>
          <p:nvPr/>
        </p:nvSpPr>
        <p:spPr>
          <a:xfrm>
            <a:off x="7086600" y="5248656"/>
            <a:ext cx="1645920" cy="219456"/>
          </a:xfrm>
          <a:prstGeom prst="rect">
            <a:avLst/>
          </a:prstGeom>
          <a:noFill/>
          <a:ln/>
        </p:spPr>
        <p:txBody>
          <a:bodyPr wrap="square" lIns="0" tIns="0" rIns="0" bIns="0" rtlCol="0" anchor="ctr"/>
          <a:lstStyle/>
          <a:p>
            <a:pPr indent="0" marL="0">
              <a:buNone/>
            </a:pPr>
            <a:r>
              <a:rPr lang="en-US" sz="950" b="1" spc="140" kern="0" dirty="0">
                <a:solidFill>
                  <a:srgbClr val="E8A33D"/>
                </a:solidFill>
                <a:latin typeface="Calibri" pitchFamily="34" charset="0"/>
                <a:ea typeface="Calibri" pitchFamily="34" charset="-122"/>
                <a:cs typeface="Calibri" pitchFamily="34" charset="-120"/>
              </a:rPr>
              <a:t>AWARD</a:t>
            </a:r>
            <a:endParaRPr lang="en-US" sz="950" dirty="0"/>
          </a:p>
        </p:txBody>
      </p:sp>
      <p:sp>
        <p:nvSpPr>
          <p:cNvPr id="27" name="Text 25"/>
          <p:cNvSpPr/>
          <p:nvPr/>
        </p:nvSpPr>
        <p:spPr>
          <a:xfrm>
            <a:off x="7086600" y="5440680"/>
            <a:ext cx="4379976" cy="274320"/>
          </a:xfrm>
          <a:prstGeom prst="rect">
            <a:avLst/>
          </a:prstGeom>
          <a:noFill/>
          <a:ln/>
        </p:spPr>
        <p:txBody>
          <a:bodyPr wrap="square" lIns="0" tIns="0" rIns="0" bIns="0" rtlCol="0" anchor="ctr"/>
          <a:lstStyle/>
          <a:p>
            <a:pPr indent="0" marL="0">
              <a:buNone/>
            </a:pPr>
            <a:r>
              <a:rPr lang="en-US" sz="1500" b="1" dirty="0">
                <a:solidFill>
                  <a:srgbClr val="0B1B33"/>
                </a:solidFill>
                <a:latin typeface="Cambria" pitchFamily="34" charset="0"/>
                <a:ea typeface="Cambria" pitchFamily="34" charset="-122"/>
                <a:cs typeface="Cambria" pitchFamily="34" charset="-120"/>
              </a:rPr>
              <a:t>one student</a:t>
            </a:r>
            <a:endParaRPr lang="en-US" sz="1500" dirty="0"/>
          </a:p>
        </p:txBody>
      </p:sp>
      <p:sp>
        <p:nvSpPr>
          <p:cNvPr id="28" name="Text 26"/>
          <p:cNvSpPr/>
          <p:nvPr/>
        </p:nvSpPr>
        <p:spPr>
          <a:xfrm>
            <a:off x="8860536" y="5440680"/>
            <a:ext cx="2596896" cy="274320"/>
          </a:xfrm>
          <a:prstGeom prst="rect">
            <a:avLst/>
          </a:prstGeom>
          <a:noFill/>
          <a:ln/>
        </p:spPr>
        <p:txBody>
          <a:bodyPr wrap="square" lIns="0" tIns="0" rIns="0" bIns="0" rtlCol="0" anchor="ctr"/>
          <a:lstStyle/>
          <a:p>
            <a:pPr indent="0" marL="0">
              <a:buNone/>
            </a:pPr>
            <a:r>
              <a:rPr lang="en-US" sz="1050" dirty="0">
                <a:solidFill>
                  <a:srgbClr val="44536B"/>
                </a:solidFill>
                <a:latin typeface="Calibri" pitchFamily="34" charset="0"/>
                <a:ea typeface="Calibri" pitchFamily="34" charset="-122"/>
                <a:cs typeface="Calibri" pitchFamily="34" charset="-120"/>
              </a:rPr>
              <a:t>Application → award → payment.</a:t>
            </a:r>
            <a:endParaRPr lang="en-US" sz="1050" dirty="0"/>
          </a:p>
        </p:txBody>
      </p:sp>
      <p:sp>
        <p:nvSpPr>
          <p:cNvPr id="29" name="Text 27"/>
          <p:cNvSpPr/>
          <p:nvPr/>
        </p:nvSpPr>
        <p:spPr>
          <a:xfrm>
            <a:off x="5897880" y="5742432"/>
            <a:ext cx="5788152" cy="457200"/>
          </a:xfrm>
          <a:prstGeom prst="rect">
            <a:avLst/>
          </a:prstGeom>
          <a:noFill/>
          <a:ln/>
        </p:spPr>
        <p:txBody>
          <a:bodyPr wrap="square" lIns="0" tIns="0" rIns="0" bIns="0" rtlCol="0" anchor="ctr"/>
          <a:lstStyle/>
          <a:p>
            <a:pPr indent="0" marL="0">
              <a:lnSpc>
                <a:spcPts val="1500"/>
              </a:lnSpc>
              <a:buNone/>
            </a:pPr>
            <a:r>
              <a:rPr lang="en-US" sz="1100" i="1" dirty="0">
                <a:solidFill>
                  <a:srgbClr val="7C8CA1"/>
                </a:solidFill>
                <a:latin typeface="Calibri" pitchFamily="34" charset="0"/>
                <a:ea typeface="Calibri" pitchFamily="34" charset="-122"/>
                <a:cs typeface="Calibri" pitchFamily="34" charset="-120"/>
              </a:rPr>
              <a:t>Each level is a real object in the system, not a label. An organisation can never see another organisation's applicants, verdicts, documents or reviewer notes.</a:t>
            </a:r>
            <a:endParaRPr lang="en-US" sz="1100" dirty="0"/>
          </a:p>
        </p:txBody>
      </p:sp>
      <p:sp>
        <p:nvSpPr>
          <p:cNvPr id="30" name="Text 28"/>
          <p:cNvSpPr/>
          <p:nvPr/>
        </p:nvSpPr>
        <p:spPr>
          <a:xfrm>
            <a:off x="11277295" y="6382512"/>
            <a:ext cx="411480" cy="256032"/>
          </a:xfrm>
          <a:prstGeom prst="rect">
            <a:avLst/>
          </a:prstGeom>
          <a:noFill/>
          <a:ln/>
        </p:spPr>
        <p:txBody>
          <a:bodyPr wrap="square" lIns="0" tIns="0" rIns="0" bIns="0" rtlCol="0" anchor="ctr"/>
          <a:lstStyle/>
          <a:p>
            <a:pPr algn="r" indent="0" marL="0">
              <a:buNone/>
            </a:pPr>
            <a:r>
              <a:rPr lang="en-US" sz="1000" dirty="0">
                <a:solidFill>
                  <a:srgbClr val="7C8CA1"/>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384048"/>
            <a:ext cx="11185855" cy="237744"/>
          </a:xfrm>
          <a:prstGeom prst="rect">
            <a:avLst/>
          </a:prstGeom>
          <a:noFill/>
          <a:ln/>
        </p:spPr>
        <p:txBody>
          <a:bodyPr wrap="square" lIns="0" tIns="0" rIns="0" bIns="0" rtlCol="0" anchor="ctr"/>
          <a:lstStyle/>
          <a:p>
            <a:pPr indent="0" marL="0">
              <a:buNone/>
            </a:pPr>
            <a:r>
              <a:rPr lang="en-US" sz="1100" b="1" spc="200" kern="0" dirty="0">
                <a:solidFill>
                  <a:srgbClr val="137FEC"/>
                </a:solidFill>
                <a:latin typeface="Calibri" pitchFamily="34" charset="0"/>
                <a:ea typeface="Calibri" pitchFamily="34" charset="-122"/>
                <a:cs typeface="Calibri" pitchFamily="34" charset="-120"/>
              </a:rPr>
              <a:t>THE WORKED EXAMPLE</a:t>
            </a:r>
            <a:endParaRPr lang="en-US" sz="1100" dirty="0"/>
          </a:p>
        </p:txBody>
      </p:sp>
      <p:sp>
        <p:nvSpPr>
          <p:cNvPr id="3" name="Text 1"/>
          <p:cNvSpPr/>
          <p:nvPr/>
        </p:nvSpPr>
        <p:spPr>
          <a:xfrm>
            <a:off x="502920" y="658368"/>
            <a:ext cx="11185855" cy="658368"/>
          </a:xfrm>
          <a:prstGeom prst="rect">
            <a:avLst/>
          </a:prstGeom>
          <a:noFill/>
          <a:ln/>
        </p:spPr>
        <p:txBody>
          <a:bodyPr wrap="square" lIns="0" tIns="0" rIns="0" bIns="0" rtlCol="0" anchor="t"/>
          <a:lstStyle/>
          <a:p>
            <a:pPr indent="0" marL="0">
              <a:buNone/>
            </a:pPr>
            <a:r>
              <a:rPr lang="en-US" sz="3000" b="1" dirty="0">
                <a:solidFill>
                  <a:srgbClr val="0B1B33"/>
                </a:solidFill>
                <a:latin typeface="Cambria" pitchFamily="34" charset="0"/>
                <a:ea typeface="Cambria" pitchFamily="34" charset="-122"/>
                <a:cs typeface="Cambria" pitchFamily="34" charset="-120"/>
              </a:rPr>
              <a:t>BrightPath Bursary: one cohort, taken all the way through</a:t>
            </a:r>
            <a:endParaRPr lang="en-US" sz="3000" dirty="0"/>
          </a:p>
        </p:txBody>
      </p:sp>
      <p:sp>
        <p:nvSpPr>
          <p:cNvPr id="4" name="Shape 2"/>
          <p:cNvSpPr/>
          <p:nvPr/>
        </p:nvSpPr>
        <p:spPr>
          <a:xfrm>
            <a:off x="502920" y="1481328"/>
            <a:ext cx="2590724" cy="1371600"/>
          </a:xfrm>
          <a:prstGeom prst="roundRect">
            <a:avLst>
              <a:gd name="adj" fmla="val 3333"/>
            </a:avLst>
          </a:prstGeom>
          <a:solidFill>
            <a:srgbClr val="FFFFFF"/>
          </a:solidFill>
          <a:ln w="12700">
            <a:solidFill>
              <a:srgbClr val="DDE6F2"/>
            </a:solidFill>
            <a:prstDash val="solid"/>
          </a:ln>
          <a:effectLst>
            <a:outerShdw sx="100000" sy="100000" kx="0" ky="0" algn="bl" rotWithShape="0" blurRad="127000" dist="25400" dir="5400000">
              <a:srgbClr val="0B1B33">
                <a:alpha val="10000"/>
              </a:srgbClr>
            </a:outerShdw>
          </a:effectLst>
        </p:spPr>
      </p:sp>
      <p:sp>
        <p:nvSpPr>
          <p:cNvPr id="5" name="Text 3"/>
          <p:cNvSpPr/>
          <p:nvPr/>
        </p:nvSpPr>
        <p:spPr>
          <a:xfrm>
            <a:off x="722376" y="1591056"/>
            <a:ext cx="2151812" cy="566928"/>
          </a:xfrm>
          <a:prstGeom prst="rect">
            <a:avLst/>
          </a:prstGeom>
          <a:noFill/>
          <a:ln/>
        </p:spPr>
        <p:txBody>
          <a:bodyPr wrap="square" lIns="0" tIns="0" rIns="0" bIns="0" rtlCol="0" anchor="ctr"/>
          <a:lstStyle/>
          <a:p>
            <a:pPr indent="0" marL="0">
              <a:buNone/>
            </a:pPr>
            <a:r>
              <a:rPr lang="en-US" sz="3400" b="1" dirty="0">
                <a:solidFill>
                  <a:srgbClr val="137FEC"/>
                </a:solidFill>
                <a:latin typeface="Cambria" pitchFamily="34" charset="0"/>
                <a:ea typeface="Cambria" pitchFamily="34" charset="-122"/>
                <a:cs typeface="Cambria" pitchFamily="34" charset="-120"/>
              </a:rPr>
              <a:t>143</a:t>
            </a:r>
            <a:endParaRPr lang="en-US" sz="3400" dirty="0"/>
          </a:p>
        </p:txBody>
      </p:sp>
      <p:sp>
        <p:nvSpPr>
          <p:cNvPr id="6" name="Text 4"/>
          <p:cNvSpPr/>
          <p:nvPr/>
        </p:nvSpPr>
        <p:spPr>
          <a:xfrm>
            <a:off x="722376" y="2176272"/>
            <a:ext cx="2224964" cy="566928"/>
          </a:xfrm>
          <a:prstGeom prst="rect">
            <a:avLst/>
          </a:prstGeom>
          <a:noFill/>
          <a:ln/>
        </p:spPr>
        <p:txBody>
          <a:bodyPr wrap="square" lIns="0" tIns="0" rIns="0" bIns="0" rtlCol="0" anchor="ctr"/>
          <a:lstStyle/>
          <a:p>
            <a:pPr indent="0" marL="0">
              <a:lnSpc>
                <a:spcPts val="1400"/>
              </a:lnSpc>
              <a:buNone/>
            </a:pPr>
            <a:r>
              <a:rPr lang="en-US" sz="1100" dirty="0">
                <a:solidFill>
                  <a:srgbClr val="44536B"/>
                </a:solidFill>
                <a:latin typeface="Calibri" pitchFamily="34" charset="0"/>
                <a:ea typeface="Calibri" pitchFamily="34" charset="-122"/>
                <a:cs typeface="Calibri" pitchFamily="34" charset="-120"/>
              </a:rPr>
              <a:t>applications in the</a:t>
            </a:r>
            <a:endParaRPr lang="en-US" sz="1100" dirty="0"/>
          </a:p>
          <a:p>
            <a:pPr indent="0" marL="0">
              <a:lnSpc>
                <a:spcPts val="1400"/>
              </a:lnSpc>
              <a:buNone/>
            </a:pPr>
            <a:r>
              <a:rPr lang="en-US" sz="1100" dirty="0">
                <a:solidFill>
                  <a:srgbClr val="44536B"/>
                </a:solidFill>
                <a:latin typeface="Calibri" pitchFamily="34" charset="0"/>
                <a:ea typeface="Calibri" pitchFamily="34" charset="-122"/>
                <a:cs typeface="Calibri" pitchFamily="34" charset="-120"/>
              </a:rPr>
              <a:t>2026 cohort</a:t>
            </a:r>
            <a:endParaRPr lang="en-US" sz="1100" dirty="0"/>
          </a:p>
        </p:txBody>
      </p:sp>
      <p:sp>
        <p:nvSpPr>
          <p:cNvPr id="7" name="Shape 5"/>
          <p:cNvSpPr/>
          <p:nvPr/>
        </p:nvSpPr>
        <p:spPr>
          <a:xfrm>
            <a:off x="3367964" y="1481328"/>
            <a:ext cx="2590724" cy="1371600"/>
          </a:xfrm>
          <a:prstGeom prst="roundRect">
            <a:avLst>
              <a:gd name="adj" fmla="val 3333"/>
            </a:avLst>
          </a:prstGeom>
          <a:solidFill>
            <a:srgbClr val="FFFFFF"/>
          </a:solidFill>
          <a:ln w="12700">
            <a:solidFill>
              <a:srgbClr val="DDE6F2"/>
            </a:solidFill>
            <a:prstDash val="solid"/>
          </a:ln>
          <a:effectLst>
            <a:outerShdw sx="100000" sy="100000" kx="0" ky="0" algn="bl" rotWithShape="0" blurRad="127000" dist="25400" dir="5400000">
              <a:srgbClr val="0B1B33">
                <a:alpha val="10000"/>
              </a:srgbClr>
            </a:outerShdw>
          </a:effectLst>
        </p:spPr>
      </p:sp>
      <p:sp>
        <p:nvSpPr>
          <p:cNvPr id="8" name="Text 6"/>
          <p:cNvSpPr/>
          <p:nvPr/>
        </p:nvSpPr>
        <p:spPr>
          <a:xfrm>
            <a:off x="3587420" y="1591056"/>
            <a:ext cx="2151812" cy="566928"/>
          </a:xfrm>
          <a:prstGeom prst="rect">
            <a:avLst/>
          </a:prstGeom>
          <a:noFill/>
          <a:ln/>
        </p:spPr>
        <p:txBody>
          <a:bodyPr wrap="square" lIns="0" tIns="0" rIns="0" bIns="0" rtlCol="0" anchor="ctr"/>
          <a:lstStyle/>
          <a:p>
            <a:pPr indent="0" marL="0">
              <a:buNone/>
            </a:pPr>
            <a:r>
              <a:rPr lang="en-US" sz="3400" b="1" dirty="0">
                <a:solidFill>
                  <a:srgbClr val="137FEC"/>
                </a:solidFill>
                <a:latin typeface="Cambria" pitchFamily="34" charset="0"/>
                <a:ea typeface="Cambria" pitchFamily="34" charset="-122"/>
                <a:cs typeface="Cambria" pitchFamily="34" charset="-120"/>
              </a:rPr>
              <a:t>58</a:t>
            </a:r>
            <a:endParaRPr lang="en-US" sz="3400" dirty="0"/>
          </a:p>
        </p:txBody>
      </p:sp>
      <p:sp>
        <p:nvSpPr>
          <p:cNvPr id="9" name="Text 7"/>
          <p:cNvSpPr/>
          <p:nvPr/>
        </p:nvSpPr>
        <p:spPr>
          <a:xfrm>
            <a:off x="3587420" y="2176272"/>
            <a:ext cx="2224964" cy="566928"/>
          </a:xfrm>
          <a:prstGeom prst="rect">
            <a:avLst/>
          </a:prstGeom>
          <a:noFill/>
          <a:ln/>
        </p:spPr>
        <p:txBody>
          <a:bodyPr wrap="square" lIns="0" tIns="0" rIns="0" bIns="0" rtlCol="0" anchor="ctr"/>
          <a:lstStyle/>
          <a:p>
            <a:pPr indent="0" marL="0">
              <a:lnSpc>
                <a:spcPts val="1400"/>
              </a:lnSpc>
              <a:buNone/>
            </a:pPr>
            <a:r>
              <a:rPr lang="en-US" sz="1100" dirty="0">
                <a:solidFill>
                  <a:srgbClr val="44536B"/>
                </a:solidFill>
                <a:latin typeface="Calibri" pitchFamily="34" charset="0"/>
                <a:ea typeface="Calibri" pitchFamily="34" charset="-122"/>
                <a:cs typeface="Calibri" pitchFamily="34" charset="-120"/>
              </a:rPr>
              <a:t>awarded; 65 decisions</a:t>
            </a:r>
            <a:endParaRPr lang="en-US" sz="1100" dirty="0"/>
          </a:p>
          <a:p>
            <a:pPr indent="0" marL="0">
              <a:lnSpc>
                <a:spcPts val="1400"/>
              </a:lnSpc>
              <a:buNone/>
            </a:pPr>
            <a:r>
              <a:rPr lang="en-US" sz="1100" dirty="0">
                <a:solidFill>
                  <a:srgbClr val="44536B"/>
                </a:solidFill>
                <a:latin typeface="Calibri" pitchFamily="34" charset="0"/>
                <a:ea typeface="Calibri" pitchFamily="34" charset="-122"/>
                <a:cs typeface="Calibri" pitchFamily="34" charset="-120"/>
              </a:rPr>
              <a:t>formally recorded</a:t>
            </a:r>
            <a:endParaRPr lang="en-US" sz="1100" dirty="0"/>
          </a:p>
        </p:txBody>
      </p:sp>
      <p:sp>
        <p:nvSpPr>
          <p:cNvPr id="10" name="Shape 8"/>
          <p:cNvSpPr/>
          <p:nvPr/>
        </p:nvSpPr>
        <p:spPr>
          <a:xfrm>
            <a:off x="6233008" y="1481328"/>
            <a:ext cx="2590724" cy="1371600"/>
          </a:xfrm>
          <a:prstGeom prst="roundRect">
            <a:avLst>
              <a:gd name="adj" fmla="val 3333"/>
            </a:avLst>
          </a:prstGeom>
          <a:solidFill>
            <a:srgbClr val="FFFFFF"/>
          </a:solidFill>
          <a:ln w="12700">
            <a:solidFill>
              <a:srgbClr val="DDE6F2"/>
            </a:solidFill>
            <a:prstDash val="solid"/>
          </a:ln>
          <a:effectLst>
            <a:outerShdw sx="100000" sy="100000" kx="0" ky="0" algn="bl" rotWithShape="0" blurRad="127000" dist="25400" dir="5400000">
              <a:srgbClr val="0B1B33">
                <a:alpha val="10000"/>
              </a:srgbClr>
            </a:outerShdw>
          </a:effectLst>
        </p:spPr>
      </p:sp>
      <p:sp>
        <p:nvSpPr>
          <p:cNvPr id="11" name="Text 9"/>
          <p:cNvSpPr/>
          <p:nvPr/>
        </p:nvSpPr>
        <p:spPr>
          <a:xfrm>
            <a:off x="6452464" y="1591056"/>
            <a:ext cx="2151812" cy="566928"/>
          </a:xfrm>
          <a:prstGeom prst="rect">
            <a:avLst/>
          </a:prstGeom>
          <a:noFill/>
          <a:ln/>
        </p:spPr>
        <p:txBody>
          <a:bodyPr wrap="square" lIns="0" tIns="0" rIns="0" bIns="0" rtlCol="0" anchor="ctr"/>
          <a:lstStyle/>
          <a:p>
            <a:pPr indent="0" marL="0">
              <a:buNone/>
            </a:pPr>
            <a:r>
              <a:rPr lang="en-US" sz="3400" b="1" dirty="0">
                <a:solidFill>
                  <a:srgbClr val="137FEC"/>
                </a:solidFill>
                <a:latin typeface="Cambria" pitchFamily="34" charset="0"/>
                <a:ea typeface="Cambria" pitchFamily="34" charset="-122"/>
                <a:cs typeface="Cambria" pitchFamily="34" charset="-120"/>
              </a:rPr>
              <a:t>13</a:t>
            </a:r>
            <a:endParaRPr lang="en-US" sz="3400" dirty="0"/>
          </a:p>
        </p:txBody>
      </p:sp>
      <p:sp>
        <p:nvSpPr>
          <p:cNvPr id="12" name="Text 10"/>
          <p:cNvSpPr/>
          <p:nvPr/>
        </p:nvSpPr>
        <p:spPr>
          <a:xfrm>
            <a:off x="6452464" y="2176272"/>
            <a:ext cx="2224964" cy="566928"/>
          </a:xfrm>
          <a:prstGeom prst="rect">
            <a:avLst/>
          </a:prstGeom>
          <a:noFill/>
          <a:ln/>
        </p:spPr>
        <p:txBody>
          <a:bodyPr wrap="square" lIns="0" tIns="0" rIns="0" bIns="0" rtlCol="0" anchor="ctr"/>
          <a:lstStyle/>
          <a:p>
            <a:pPr indent="0" marL="0">
              <a:lnSpc>
                <a:spcPts val="1400"/>
              </a:lnSpc>
              <a:buNone/>
            </a:pPr>
            <a:r>
              <a:rPr lang="en-US" sz="1100" dirty="0">
                <a:solidFill>
                  <a:srgbClr val="44536B"/>
                </a:solidFill>
                <a:latin typeface="Calibri" pitchFamily="34" charset="0"/>
                <a:ea typeface="Calibri" pitchFamily="34" charset="-122"/>
                <a:cs typeface="Calibri" pitchFamily="34" charset="-120"/>
              </a:rPr>
              <a:t>volunteer reviewers,</a:t>
            </a:r>
            <a:endParaRPr lang="en-US" sz="1100" dirty="0"/>
          </a:p>
          <a:p>
            <a:pPr indent="0" marL="0">
              <a:lnSpc>
                <a:spcPts val="1400"/>
              </a:lnSpc>
              <a:buNone/>
            </a:pPr>
            <a:r>
              <a:rPr lang="en-US" sz="1100" dirty="0">
                <a:solidFill>
                  <a:srgbClr val="44536B"/>
                </a:solidFill>
                <a:latin typeface="Calibri" pitchFamily="34" charset="0"/>
                <a:ea typeface="Calibri" pitchFamily="34" charset="-122"/>
                <a:cs typeface="Calibri" pitchFamily="34" charset="-120"/>
              </a:rPr>
              <a:t>none full-time</a:t>
            </a:r>
            <a:endParaRPr lang="en-US" sz="1100" dirty="0"/>
          </a:p>
        </p:txBody>
      </p:sp>
      <p:sp>
        <p:nvSpPr>
          <p:cNvPr id="13" name="Shape 11"/>
          <p:cNvSpPr/>
          <p:nvPr/>
        </p:nvSpPr>
        <p:spPr>
          <a:xfrm>
            <a:off x="9098051" y="1481328"/>
            <a:ext cx="2590724" cy="1371600"/>
          </a:xfrm>
          <a:prstGeom prst="roundRect">
            <a:avLst>
              <a:gd name="adj" fmla="val 3333"/>
            </a:avLst>
          </a:prstGeom>
          <a:solidFill>
            <a:srgbClr val="FFFFFF"/>
          </a:solidFill>
          <a:ln w="12700">
            <a:solidFill>
              <a:srgbClr val="DDE6F2"/>
            </a:solidFill>
            <a:prstDash val="solid"/>
          </a:ln>
          <a:effectLst>
            <a:outerShdw sx="100000" sy="100000" kx="0" ky="0" algn="bl" rotWithShape="0" blurRad="127000" dist="25400" dir="5400000">
              <a:srgbClr val="0B1B33">
                <a:alpha val="10000"/>
              </a:srgbClr>
            </a:outerShdw>
          </a:effectLst>
        </p:spPr>
      </p:sp>
      <p:sp>
        <p:nvSpPr>
          <p:cNvPr id="14" name="Text 12"/>
          <p:cNvSpPr/>
          <p:nvPr/>
        </p:nvSpPr>
        <p:spPr>
          <a:xfrm>
            <a:off x="9317507" y="1591056"/>
            <a:ext cx="2151812" cy="566928"/>
          </a:xfrm>
          <a:prstGeom prst="rect">
            <a:avLst/>
          </a:prstGeom>
          <a:noFill/>
          <a:ln/>
        </p:spPr>
        <p:txBody>
          <a:bodyPr wrap="square" lIns="0" tIns="0" rIns="0" bIns="0" rtlCol="0" anchor="ctr"/>
          <a:lstStyle/>
          <a:p>
            <a:pPr indent="0" marL="0">
              <a:buNone/>
            </a:pPr>
            <a:r>
              <a:rPr lang="en-US" sz="3400" b="1" dirty="0">
                <a:solidFill>
                  <a:srgbClr val="137FEC"/>
                </a:solidFill>
                <a:latin typeface="Cambria" pitchFamily="34" charset="0"/>
                <a:ea typeface="Cambria" pitchFamily="34" charset="-122"/>
                <a:cs typeface="Cambria" pitchFamily="34" charset="-120"/>
              </a:rPr>
              <a:t>RM172,000</a:t>
            </a:r>
            <a:endParaRPr lang="en-US" sz="3400" dirty="0"/>
          </a:p>
        </p:txBody>
      </p:sp>
      <p:sp>
        <p:nvSpPr>
          <p:cNvPr id="15" name="Text 13"/>
          <p:cNvSpPr/>
          <p:nvPr/>
        </p:nvSpPr>
        <p:spPr>
          <a:xfrm>
            <a:off x="9317507" y="2176272"/>
            <a:ext cx="2224964" cy="566928"/>
          </a:xfrm>
          <a:prstGeom prst="rect">
            <a:avLst/>
          </a:prstGeom>
          <a:noFill/>
          <a:ln/>
        </p:spPr>
        <p:txBody>
          <a:bodyPr wrap="square" lIns="0" tIns="0" rIns="0" bIns="0" rtlCol="0" anchor="ctr"/>
          <a:lstStyle/>
          <a:p>
            <a:pPr indent="0" marL="0">
              <a:lnSpc>
                <a:spcPts val="1400"/>
              </a:lnSpc>
              <a:buNone/>
            </a:pPr>
            <a:r>
              <a:rPr lang="en-US" sz="1100" dirty="0">
                <a:solidFill>
                  <a:srgbClr val="44536B"/>
                </a:solidFill>
                <a:latin typeface="Calibri" pitchFamily="34" charset="0"/>
                <a:ea typeface="Calibri" pitchFamily="34" charset="-122"/>
                <a:cs typeface="Calibri" pitchFamily="34" charset="-120"/>
              </a:rPr>
              <a:t>committed by</a:t>
            </a:r>
            <a:endParaRPr lang="en-US" sz="1100" dirty="0"/>
          </a:p>
          <a:p>
            <a:pPr indent="0" marL="0">
              <a:lnSpc>
                <a:spcPts val="1400"/>
              </a:lnSpc>
              <a:buNone/>
            </a:pPr>
            <a:r>
              <a:rPr lang="en-US" sz="1100" dirty="0">
                <a:solidFill>
                  <a:srgbClr val="44536B"/>
                </a:solidFill>
                <a:latin typeface="Calibri" pitchFamily="34" charset="0"/>
                <a:ea typeface="Calibri" pitchFamily="34" charset="-122"/>
                <a:cs typeface="Calibri" pitchFamily="34" charset="-120"/>
              </a:rPr>
              <a:t>9 sponsors</a:t>
            </a:r>
            <a:endParaRPr lang="en-US" sz="1100" dirty="0"/>
          </a:p>
        </p:txBody>
      </p:sp>
      <p:sp>
        <p:nvSpPr>
          <p:cNvPr id="16" name="Text 14"/>
          <p:cNvSpPr/>
          <p:nvPr/>
        </p:nvSpPr>
        <p:spPr>
          <a:xfrm>
            <a:off x="502920" y="3035808"/>
            <a:ext cx="11185855" cy="274320"/>
          </a:xfrm>
          <a:prstGeom prst="rect">
            <a:avLst/>
          </a:prstGeom>
          <a:noFill/>
          <a:ln/>
        </p:spPr>
        <p:txBody>
          <a:bodyPr wrap="square" lIns="0" tIns="0" rIns="0" bIns="0" rtlCol="0" anchor="ctr"/>
          <a:lstStyle/>
          <a:p>
            <a:pPr indent="0" marL="0">
              <a:buNone/>
            </a:pPr>
            <a:r>
              <a:rPr lang="en-US" sz="1200" b="1" dirty="0">
                <a:solidFill>
                  <a:srgbClr val="0B1B33"/>
                </a:solidFill>
                <a:latin typeface="Calibri" pitchFamily="34" charset="0"/>
                <a:ea typeface="Calibri" pitchFamily="34" charset="-122"/>
                <a:cs typeface="Calibri" pitchFamily="34" charset="-120"/>
              </a:rPr>
              <a:t>The pipeline every one of those 143 applications passed through</a:t>
            </a:r>
            <a:endParaRPr lang="en-US" sz="1200" dirty="0"/>
          </a:p>
        </p:txBody>
      </p:sp>
      <p:sp>
        <p:nvSpPr>
          <p:cNvPr id="17" name="Shape 15"/>
          <p:cNvSpPr/>
          <p:nvPr/>
        </p:nvSpPr>
        <p:spPr>
          <a:xfrm>
            <a:off x="502920" y="3401568"/>
            <a:ext cx="2076237" cy="1773936"/>
          </a:xfrm>
          <a:prstGeom prst="roundRect">
            <a:avLst>
              <a:gd name="adj" fmla="val 2577"/>
            </a:avLst>
          </a:prstGeom>
          <a:solidFill>
            <a:srgbClr val="F1F4F8"/>
          </a:solidFill>
          <a:ln w="12700">
            <a:solidFill>
              <a:srgbClr val="E2E8F0"/>
            </a:solidFill>
            <a:prstDash val="solid"/>
          </a:ln>
        </p:spPr>
      </p:sp>
      <p:sp>
        <p:nvSpPr>
          <p:cNvPr id="18" name="Shape 16"/>
          <p:cNvSpPr/>
          <p:nvPr/>
        </p:nvSpPr>
        <p:spPr>
          <a:xfrm>
            <a:off x="704088" y="3584448"/>
            <a:ext cx="365760" cy="365760"/>
          </a:xfrm>
          <a:prstGeom prst="ellipse">
            <a:avLst/>
          </a:prstGeom>
          <a:solidFill>
            <a:srgbClr val="137FEC"/>
          </a:solidFill>
          <a:ln/>
        </p:spPr>
      </p:sp>
      <p:sp>
        <p:nvSpPr>
          <p:cNvPr id="19" name="Text 17"/>
          <p:cNvSpPr/>
          <p:nvPr/>
        </p:nvSpPr>
        <p:spPr>
          <a:xfrm>
            <a:off x="704088" y="35844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0" name="Text 18"/>
          <p:cNvSpPr/>
          <p:nvPr/>
        </p:nvSpPr>
        <p:spPr>
          <a:xfrm>
            <a:off x="704088" y="4059936"/>
            <a:ext cx="1673901" cy="457200"/>
          </a:xfrm>
          <a:prstGeom prst="rect">
            <a:avLst/>
          </a:prstGeom>
          <a:noFill/>
          <a:ln/>
        </p:spPr>
        <p:txBody>
          <a:bodyPr wrap="square" lIns="0" tIns="0" rIns="0" bIns="0" rtlCol="0" anchor="t"/>
          <a:lstStyle/>
          <a:p>
            <a:pPr indent="0" marL="0">
              <a:lnSpc>
                <a:spcPts val="1500"/>
              </a:lnSpc>
              <a:buNone/>
            </a:pPr>
            <a:r>
              <a:rPr lang="en-US" sz="1200" b="1" dirty="0">
                <a:solidFill>
                  <a:srgbClr val="0B1B33"/>
                </a:solidFill>
                <a:latin typeface="Calibri" pitchFamily="34" charset="0"/>
                <a:ea typeface="Calibri" pitchFamily="34" charset="-122"/>
                <a:cs typeface="Calibri" pitchFamily="34" charset="-120"/>
              </a:rPr>
              <a:t>Apply &amp; shortlist</a:t>
            </a:r>
            <a:endParaRPr lang="en-US" sz="1200" dirty="0"/>
          </a:p>
        </p:txBody>
      </p:sp>
      <p:sp>
        <p:nvSpPr>
          <p:cNvPr id="21" name="Text 19"/>
          <p:cNvSpPr/>
          <p:nvPr/>
        </p:nvSpPr>
        <p:spPr>
          <a:xfrm>
            <a:off x="704088" y="4498848"/>
            <a:ext cx="1710477" cy="621792"/>
          </a:xfrm>
          <a:prstGeom prst="rect">
            <a:avLst/>
          </a:prstGeom>
          <a:noFill/>
          <a:ln/>
        </p:spPr>
        <p:txBody>
          <a:bodyPr wrap="square" lIns="0" tIns="0" rIns="0" bIns="0" rtlCol="0" anchor="ctr"/>
          <a:lstStyle/>
          <a:p>
            <a:pPr indent="0" marL="0">
              <a:lnSpc>
                <a:spcPts val="1300"/>
              </a:lnSpc>
              <a:buNone/>
            </a:pPr>
            <a:r>
              <a:rPr lang="en-US" sz="1000" dirty="0">
                <a:solidFill>
                  <a:srgbClr val="44536B"/>
                </a:solidFill>
                <a:latin typeface="Calibri" pitchFamily="34" charset="0"/>
                <a:ea typeface="Calibri" pitchFamily="34" charset="-122"/>
                <a:cs typeface="Calibri" pitchFamily="34" charset="-120"/>
              </a:rPr>
              <a:t>Five sections, 5–10 minutes. A deterministic rule shortlists at submit — no model touches it.</a:t>
            </a:r>
            <a:endParaRPr lang="en-US" sz="1000" dirty="0"/>
          </a:p>
        </p:txBody>
      </p:sp>
      <p:sp>
        <p:nvSpPr>
          <p:cNvPr id="22" name="Shape 20"/>
          <p:cNvSpPr/>
          <p:nvPr/>
        </p:nvSpPr>
        <p:spPr>
          <a:xfrm>
            <a:off x="2780325" y="3401568"/>
            <a:ext cx="2076237" cy="1773936"/>
          </a:xfrm>
          <a:prstGeom prst="roundRect">
            <a:avLst>
              <a:gd name="adj" fmla="val 2577"/>
            </a:avLst>
          </a:prstGeom>
          <a:solidFill>
            <a:srgbClr val="F1F4F8"/>
          </a:solidFill>
          <a:ln w="12700">
            <a:solidFill>
              <a:srgbClr val="E2E8F0"/>
            </a:solidFill>
            <a:prstDash val="solid"/>
          </a:ln>
        </p:spPr>
      </p:sp>
      <p:sp>
        <p:nvSpPr>
          <p:cNvPr id="23" name="Shape 21"/>
          <p:cNvSpPr/>
          <p:nvPr/>
        </p:nvSpPr>
        <p:spPr>
          <a:xfrm>
            <a:off x="2981493" y="3584448"/>
            <a:ext cx="365760" cy="365760"/>
          </a:xfrm>
          <a:prstGeom prst="ellipse">
            <a:avLst/>
          </a:prstGeom>
          <a:solidFill>
            <a:srgbClr val="137FEC"/>
          </a:solidFill>
          <a:ln/>
        </p:spPr>
      </p:sp>
      <p:sp>
        <p:nvSpPr>
          <p:cNvPr id="24" name="Text 22"/>
          <p:cNvSpPr/>
          <p:nvPr/>
        </p:nvSpPr>
        <p:spPr>
          <a:xfrm>
            <a:off x="2981493" y="35844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5" name="Text 23"/>
          <p:cNvSpPr/>
          <p:nvPr/>
        </p:nvSpPr>
        <p:spPr>
          <a:xfrm>
            <a:off x="2981493" y="4059936"/>
            <a:ext cx="1673901" cy="457200"/>
          </a:xfrm>
          <a:prstGeom prst="rect">
            <a:avLst/>
          </a:prstGeom>
          <a:noFill/>
          <a:ln/>
        </p:spPr>
        <p:txBody>
          <a:bodyPr wrap="square" lIns="0" tIns="0" rIns="0" bIns="0" rtlCol="0" anchor="t"/>
          <a:lstStyle/>
          <a:p>
            <a:pPr indent="0" marL="0">
              <a:lnSpc>
                <a:spcPts val="1500"/>
              </a:lnSpc>
              <a:buNone/>
            </a:pPr>
            <a:r>
              <a:rPr lang="en-US" sz="1200" b="1" dirty="0">
                <a:solidFill>
                  <a:srgbClr val="0B1B33"/>
                </a:solidFill>
                <a:latin typeface="Calibri" pitchFamily="34" charset="0"/>
                <a:ea typeface="Calibri" pitchFamily="34" charset="-122"/>
                <a:cs typeface="Calibri" pitchFamily="34" charset="-120"/>
              </a:rPr>
              <a:t>Documents &amp; checks</a:t>
            </a:r>
            <a:endParaRPr lang="en-US" sz="1200" dirty="0"/>
          </a:p>
        </p:txBody>
      </p:sp>
      <p:sp>
        <p:nvSpPr>
          <p:cNvPr id="26" name="Text 24"/>
          <p:cNvSpPr/>
          <p:nvPr/>
        </p:nvSpPr>
        <p:spPr>
          <a:xfrm>
            <a:off x="2981493" y="4498848"/>
            <a:ext cx="1710477" cy="621792"/>
          </a:xfrm>
          <a:prstGeom prst="rect">
            <a:avLst/>
          </a:prstGeom>
          <a:noFill/>
          <a:ln/>
        </p:spPr>
        <p:txBody>
          <a:bodyPr wrap="square" lIns="0" tIns="0" rIns="0" bIns="0" rtlCol="0" anchor="ctr"/>
          <a:lstStyle/>
          <a:p>
            <a:pPr indent="0" marL="0">
              <a:lnSpc>
                <a:spcPts val="1300"/>
              </a:lnSpc>
              <a:buNone/>
            </a:pPr>
            <a:r>
              <a:rPr lang="en-US" sz="1000" dirty="0">
                <a:solidFill>
                  <a:srgbClr val="44536B"/>
                </a:solidFill>
                <a:latin typeface="Calibri" pitchFamily="34" charset="0"/>
                <a:ea typeface="Calibri" pitchFamily="34" charset="-122"/>
                <a:cs typeface="Calibri" pitchFamily="34" charset="-120"/>
              </a:rPr>
              <a:t>Every upload is read and scored at upload. Gaps become plain-language tasks for the student.</a:t>
            </a:r>
            <a:endParaRPr lang="en-US" sz="1000" dirty="0"/>
          </a:p>
        </p:txBody>
      </p:sp>
      <p:sp>
        <p:nvSpPr>
          <p:cNvPr id="27" name="Shape 25"/>
          <p:cNvSpPr/>
          <p:nvPr/>
        </p:nvSpPr>
        <p:spPr>
          <a:xfrm>
            <a:off x="5057729" y="3401568"/>
            <a:ext cx="2076237" cy="1773936"/>
          </a:xfrm>
          <a:prstGeom prst="roundRect">
            <a:avLst>
              <a:gd name="adj" fmla="val 2577"/>
            </a:avLst>
          </a:prstGeom>
          <a:solidFill>
            <a:srgbClr val="F1F4F8"/>
          </a:solidFill>
          <a:ln w="12700">
            <a:solidFill>
              <a:srgbClr val="E2E8F0"/>
            </a:solidFill>
            <a:prstDash val="solid"/>
          </a:ln>
        </p:spPr>
      </p:sp>
      <p:sp>
        <p:nvSpPr>
          <p:cNvPr id="28" name="Shape 26"/>
          <p:cNvSpPr/>
          <p:nvPr/>
        </p:nvSpPr>
        <p:spPr>
          <a:xfrm>
            <a:off x="5258897" y="3584448"/>
            <a:ext cx="365760" cy="365760"/>
          </a:xfrm>
          <a:prstGeom prst="ellipse">
            <a:avLst/>
          </a:prstGeom>
          <a:solidFill>
            <a:srgbClr val="137FEC"/>
          </a:solidFill>
          <a:ln/>
        </p:spPr>
      </p:sp>
      <p:sp>
        <p:nvSpPr>
          <p:cNvPr id="29" name="Text 27"/>
          <p:cNvSpPr/>
          <p:nvPr/>
        </p:nvSpPr>
        <p:spPr>
          <a:xfrm>
            <a:off x="5258897" y="35844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0" name="Text 28"/>
          <p:cNvSpPr/>
          <p:nvPr/>
        </p:nvSpPr>
        <p:spPr>
          <a:xfrm>
            <a:off x="5258897" y="4059936"/>
            <a:ext cx="1673901" cy="457200"/>
          </a:xfrm>
          <a:prstGeom prst="rect">
            <a:avLst/>
          </a:prstGeom>
          <a:noFill/>
          <a:ln/>
        </p:spPr>
        <p:txBody>
          <a:bodyPr wrap="square" lIns="0" tIns="0" rIns="0" bIns="0" rtlCol="0" anchor="t"/>
          <a:lstStyle/>
          <a:p>
            <a:pPr indent="0" marL="0">
              <a:lnSpc>
                <a:spcPts val="1500"/>
              </a:lnSpc>
              <a:buNone/>
            </a:pPr>
            <a:r>
              <a:rPr lang="en-US" sz="1200" b="1" dirty="0">
                <a:solidFill>
                  <a:srgbClr val="0B1B33"/>
                </a:solidFill>
                <a:latin typeface="Calibri" pitchFamily="34" charset="0"/>
                <a:ea typeface="Calibri" pitchFamily="34" charset="-122"/>
                <a:cs typeface="Calibri" pitchFamily="34" charset="-120"/>
              </a:rPr>
              <a:t>Review &amp; interview</a:t>
            </a:r>
            <a:endParaRPr lang="en-US" sz="1200" dirty="0"/>
          </a:p>
        </p:txBody>
      </p:sp>
      <p:sp>
        <p:nvSpPr>
          <p:cNvPr id="31" name="Text 29"/>
          <p:cNvSpPr/>
          <p:nvPr/>
        </p:nvSpPr>
        <p:spPr>
          <a:xfrm>
            <a:off x="5258897" y="4498848"/>
            <a:ext cx="1710477" cy="621792"/>
          </a:xfrm>
          <a:prstGeom prst="rect">
            <a:avLst/>
          </a:prstGeom>
          <a:noFill/>
          <a:ln/>
        </p:spPr>
        <p:txBody>
          <a:bodyPr wrap="square" lIns="0" tIns="0" rIns="0" bIns="0" rtlCol="0" anchor="ctr"/>
          <a:lstStyle/>
          <a:p>
            <a:pPr indent="0" marL="0">
              <a:lnSpc>
                <a:spcPts val="1300"/>
              </a:lnSpc>
              <a:buNone/>
            </a:pPr>
            <a:r>
              <a:rPr lang="en-US" sz="1000" dirty="0">
                <a:solidFill>
                  <a:srgbClr val="44536B"/>
                </a:solidFill>
                <a:latin typeface="Calibri" pitchFamily="34" charset="0"/>
                <a:ea typeface="Calibri" pitchFamily="34" charset="-122"/>
                <a:cs typeface="Calibri" pitchFamily="34" charset="-120"/>
              </a:rPr>
              <a:t>A ~20-minute call in the student's own language, against four pre-computed facts.</a:t>
            </a:r>
            <a:endParaRPr lang="en-US" sz="1000" dirty="0"/>
          </a:p>
        </p:txBody>
      </p:sp>
      <p:sp>
        <p:nvSpPr>
          <p:cNvPr id="32" name="Shape 30"/>
          <p:cNvSpPr/>
          <p:nvPr/>
        </p:nvSpPr>
        <p:spPr>
          <a:xfrm>
            <a:off x="7335134" y="3401568"/>
            <a:ext cx="2076237" cy="1773936"/>
          </a:xfrm>
          <a:prstGeom prst="roundRect">
            <a:avLst>
              <a:gd name="adj" fmla="val 2577"/>
            </a:avLst>
          </a:prstGeom>
          <a:solidFill>
            <a:srgbClr val="F1F4F8"/>
          </a:solidFill>
          <a:ln w="12700">
            <a:solidFill>
              <a:srgbClr val="E2E8F0"/>
            </a:solidFill>
            <a:prstDash val="solid"/>
          </a:ln>
        </p:spPr>
      </p:sp>
      <p:sp>
        <p:nvSpPr>
          <p:cNvPr id="33" name="Shape 31"/>
          <p:cNvSpPr/>
          <p:nvPr/>
        </p:nvSpPr>
        <p:spPr>
          <a:xfrm>
            <a:off x="7536302" y="3584448"/>
            <a:ext cx="365760" cy="365760"/>
          </a:xfrm>
          <a:prstGeom prst="ellipse">
            <a:avLst/>
          </a:prstGeom>
          <a:solidFill>
            <a:srgbClr val="137FEC"/>
          </a:solidFill>
          <a:ln/>
        </p:spPr>
      </p:sp>
      <p:sp>
        <p:nvSpPr>
          <p:cNvPr id="34" name="Text 32"/>
          <p:cNvSpPr/>
          <p:nvPr/>
        </p:nvSpPr>
        <p:spPr>
          <a:xfrm>
            <a:off x="7536302" y="35844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5" name="Text 33"/>
          <p:cNvSpPr/>
          <p:nvPr/>
        </p:nvSpPr>
        <p:spPr>
          <a:xfrm>
            <a:off x="7536302" y="4059936"/>
            <a:ext cx="1673901" cy="457200"/>
          </a:xfrm>
          <a:prstGeom prst="rect">
            <a:avLst/>
          </a:prstGeom>
          <a:noFill/>
          <a:ln/>
        </p:spPr>
        <p:txBody>
          <a:bodyPr wrap="square" lIns="0" tIns="0" rIns="0" bIns="0" rtlCol="0" anchor="t"/>
          <a:lstStyle/>
          <a:p>
            <a:pPr indent="0" marL="0">
              <a:lnSpc>
                <a:spcPts val="1500"/>
              </a:lnSpc>
              <a:buNone/>
            </a:pPr>
            <a:r>
              <a:rPr lang="en-US" sz="1200" b="1" dirty="0">
                <a:solidFill>
                  <a:srgbClr val="0B1B33"/>
                </a:solidFill>
                <a:latin typeface="Calibri" pitchFamily="34" charset="0"/>
                <a:ea typeface="Calibri" pitchFamily="34" charset="-122"/>
                <a:cs typeface="Calibri" pitchFamily="34" charset="-120"/>
              </a:rPr>
              <a:t>QC &amp; award</a:t>
            </a:r>
            <a:endParaRPr lang="en-US" sz="1200" dirty="0"/>
          </a:p>
        </p:txBody>
      </p:sp>
      <p:sp>
        <p:nvSpPr>
          <p:cNvPr id="36" name="Text 34"/>
          <p:cNvSpPr/>
          <p:nvPr/>
        </p:nvSpPr>
        <p:spPr>
          <a:xfrm>
            <a:off x="7536302" y="4498848"/>
            <a:ext cx="1710477" cy="621792"/>
          </a:xfrm>
          <a:prstGeom prst="rect">
            <a:avLst/>
          </a:prstGeom>
          <a:noFill/>
          <a:ln/>
        </p:spPr>
        <p:txBody>
          <a:bodyPr wrap="square" lIns="0" tIns="0" rIns="0" bIns="0" rtlCol="0" anchor="ctr"/>
          <a:lstStyle/>
          <a:p>
            <a:pPr indent="0" marL="0">
              <a:lnSpc>
                <a:spcPts val="1300"/>
              </a:lnSpc>
              <a:buNone/>
            </a:pPr>
            <a:r>
              <a:rPr lang="en-US" sz="1000" dirty="0">
                <a:solidFill>
                  <a:srgbClr val="44536B"/>
                </a:solidFill>
                <a:latin typeface="Calibri" pitchFamily="34" charset="0"/>
                <a:ea typeface="Calibri" pitchFamily="34" charset="-122"/>
                <a:cs typeface="Calibri" pitchFamily="34" charset="-120"/>
              </a:rPr>
              <a:t>A second person quality-controls the recommendation. Never the person who made it.</a:t>
            </a:r>
            <a:endParaRPr lang="en-US" sz="1000" dirty="0"/>
          </a:p>
        </p:txBody>
      </p:sp>
      <p:sp>
        <p:nvSpPr>
          <p:cNvPr id="37" name="Shape 35"/>
          <p:cNvSpPr/>
          <p:nvPr/>
        </p:nvSpPr>
        <p:spPr>
          <a:xfrm>
            <a:off x="9612539" y="3401568"/>
            <a:ext cx="2076237" cy="1773936"/>
          </a:xfrm>
          <a:prstGeom prst="roundRect">
            <a:avLst>
              <a:gd name="adj" fmla="val 2577"/>
            </a:avLst>
          </a:prstGeom>
          <a:solidFill>
            <a:srgbClr val="F1F4F8"/>
          </a:solidFill>
          <a:ln w="12700">
            <a:solidFill>
              <a:srgbClr val="E2E8F0"/>
            </a:solidFill>
            <a:prstDash val="solid"/>
          </a:ln>
        </p:spPr>
      </p:sp>
      <p:sp>
        <p:nvSpPr>
          <p:cNvPr id="38" name="Shape 36"/>
          <p:cNvSpPr/>
          <p:nvPr/>
        </p:nvSpPr>
        <p:spPr>
          <a:xfrm>
            <a:off x="9813707" y="3584448"/>
            <a:ext cx="365760" cy="365760"/>
          </a:xfrm>
          <a:prstGeom prst="ellipse">
            <a:avLst/>
          </a:prstGeom>
          <a:solidFill>
            <a:srgbClr val="137FEC"/>
          </a:solidFill>
          <a:ln/>
        </p:spPr>
      </p:sp>
      <p:sp>
        <p:nvSpPr>
          <p:cNvPr id="39" name="Text 37"/>
          <p:cNvSpPr/>
          <p:nvPr/>
        </p:nvSpPr>
        <p:spPr>
          <a:xfrm>
            <a:off x="9813707" y="35844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40" name="Text 38"/>
          <p:cNvSpPr/>
          <p:nvPr/>
        </p:nvSpPr>
        <p:spPr>
          <a:xfrm>
            <a:off x="9813707" y="4059936"/>
            <a:ext cx="1673901" cy="457200"/>
          </a:xfrm>
          <a:prstGeom prst="rect">
            <a:avLst/>
          </a:prstGeom>
          <a:noFill/>
          <a:ln/>
        </p:spPr>
        <p:txBody>
          <a:bodyPr wrap="square" lIns="0" tIns="0" rIns="0" bIns="0" rtlCol="0" anchor="t"/>
          <a:lstStyle/>
          <a:p>
            <a:pPr indent="0" marL="0">
              <a:lnSpc>
                <a:spcPts val="1500"/>
              </a:lnSpc>
              <a:buNone/>
            </a:pPr>
            <a:r>
              <a:rPr lang="en-US" sz="1200" b="1" dirty="0">
                <a:solidFill>
                  <a:srgbClr val="0B1B33"/>
                </a:solidFill>
                <a:latin typeface="Calibri" pitchFamily="34" charset="0"/>
                <a:ea typeface="Calibri" pitchFamily="34" charset="-122"/>
                <a:cs typeface="Calibri" pitchFamily="34" charset="-120"/>
              </a:rPr>
              <a:t>Sign, pay, maintain</a:t>
            </a:r>
            <a:endParaRPr lang="en-US" sz="1200" dirty="0"/>
          </a:p>
        </p:txBody>
      </p:sp>
      <p:sp>
        <p:nvSpPr>
          <p:cNvPr id="41" name="Text 39"/>
          <p:cNvSpPr/>
          <p:nvPr/>
        </p:nvSpPr>
        <p:spPr>
          <a:xfrm>
            <a:off x="9813707" y="4498848"/>
            <a:ext cx="1710477" cy="621792"/>
          </a:xfrm>
          <a:prstGeom prst="rect">
            <a:avLst/>
          </a:prstGeom>
          <a:noFill/>
          <a:ln/>
        </p:spPr>
        <p:txBody>
          <a:bodyPr wrap="square" lIns="0" tIns="0" rIns="0" bIns="0" rtlCol="0" anchor="ctr"/>
          <a:lstStyle/>
          <a:p>
            <a:pPr indent="0" marL="0">
              <a:lnSpc>
                <a:spcPts val="1300"/>
              </a:lnSpc>
              <a:buNone/>
            </a:pPr>
            <a:r>
              <a:rPr lang="en-US" sz="1000" dirty="0">
                <a:solidFill>
                  <a:srgbClr val="44536B"/>
                </a:solidFill>
                <a:latin typeface="Calibri" pitchFamily="34" charset="0"/>
                <a:ea typeface="Calibri" pitchFamily="34" charset="-122"/>
                <a:cs typeface="Calibri" pitchFamily="34" charset="-120"/>
              </a:rPr>
              <a:t>Comprehension quiz, signatures, monthly payment runs, then a per-semester progress loop.</a:t>
            </a:r>
            <a:endParaRPr lang="en-US" sz="1000" dirty="0"/>
          </a:p>
        </p:txBody>
      </p:sp>
      <p:sp>
        <p:nvSpPr>
          <p:cNvPr id="42" name="Shape 40"/>
          <p:cNvSpPr/>
          <p:nvPr/>
        </p:nvSpPr>
        <p:spPr>
          <a:xfrm>
            <a:off x="502920" y="5358384"/>
            <a:ext cx="11185855" cy="749808"/>
          </a:xfrm>
          <a:prstGeom prst="roundRect">
            <a:avLst>
              <a:gd name="adj" fmla="val 6098"/>
            </a:avLst>
          </a:prstGeom>
          <a:solidFill>
            <a:srgbClr val="EAF1FB"/>
          </a:solidFill>
          <a:ln w="12700">
            <a:solidFill>
              <a:srgbClr val="D3E2F7"/>
            </a:solidFill>
            <a:prstDash val="solid"/>
          </a:ln>
        </p:spPr>
      </p:sp>
      <p:sp>
        <p:nvSpPr>
          <p:cNvPr id="43" name="Text 41"/>
          <p:cNvSpPr/>
          <p:nvPr/>
        </p:nvSpPr>
        <p:spPr>
          <a:xfrm>
            <a:off x="777240" y="5468112"/>
            <a:ext cx="10637215" cy="530352"/>
          </a:xfrm>
          <a:prstGeom prst="rect">
            <a:avLst/>
          </a:prstGeom>
          <a:noFill/>
          <a:ln/>
        </p:spPr>
        <p:txBody>
          <a:bodyPr wrap="square" lIns="0" tIns="0" rIns="0" bIns="0" rtlCol="0" anchor="ctr"/>
          <a:lstStyle/>
          <a:p>
            <a:pPr indent="0" marL="0">
              <a:lnSpc>
                <a:spcPts val="1700"/>
              </a:lnSpc>
              <a:buNone/>
            </a:pPr>
            <a:r>
              <a:rPr lang="en-US" sz="1200" b="1" dirty="0">
                <a:solidFill>
                  <a:srgbClr val="0B1B33"/>
                </a:solidFill>
                <a:latin typeface="Calibri" pitchFamily="34" charset="0"/>
                <a:ea typeface="Calibri" pitchFamily="34" charset="-122"/>
                <a:cs typeface="Calibri" pitchFamily="34" charset="-120"/>
              </a:rPr>
              <a:t>Typical shape: </a:t>
            </a:r>
            <a:pPr indent="0" marL="0">
              <a:lnSpc>
                <a:spcPts val="1700"/>
              </a:lnSpc>
              <a:buNone/>
            </a:pPr>
            <a:r>
              <a:rPr lang="en-US" sz="1200" dirty="0">
                <a:solidFill>
                  <a:srgbClr val="44536B"/>
                </a:solidFill>
                <a:latin typeface="Calibri" pitchFamily="34" charset="0"/>
                <a:ea typeface="Calibri" pitchFamily="34" charset="-122"/>
                <a:cs typeface="Calibri" pitchFamily="34" charset="-120"/>
              </a:rPr>
              <a:t>about two months from application to award, with reviewer turnaround spread across 2.0 to 10.1 days.   </a:t>
            </a:r>
            <a:pPr indent="0" marL="0">
              <a:lnSpc>
                <a:spcPts val="1700"/>
              </a:lnSpc>
              <a:buNone/>
            </a:pPr>
            <a:r>
              <a:rPr lang="en-US" sz="1200" i="1" dirty="0">
                <a:solidFill>
                  <a:srgbClr val="7C8CA1"/>
                </a:solidFill>
                <a:latin typeface="Calibri" pitchFamily="34" charset="0"/>
                <a:ea typeface="Calibri" pitchFamily="34" charset="-122"/>
                <a:cs typeface="Calibri" pitchFamily="34" charset="-120"/>
              </a:rPr>
              <a:t>These are BrightPath's actual figures, not projections. The 2026 intake is now closed and reopens around mid-2027.</a:t>
            </a:r>
            <a:endParaRPr lang="en-US" sz="1200" dirty="0"/>
          </a:p>
        </p:txBody>
      </p:sp>
      <p:sp>
        <p:nvSpPr>
          <p:cNvPr id="44" name="Text 42"/>
          <p:cNvSpPr/>
          <p:nvPr/>
        </p:nvSpPr>
        <p:spPr>
          <a:xfrm>
            <a:off x="11277295" y="6382512"/>
            <a:ext cx="411480" cy="256032"/>
          </a:xfrm>
          <a:prstGeom prst="rect">
            <a:avLst/>
          </a:prstGeom>
          <a:noFill/>
          <a:ln/>
        </p:spPr>
        <p:txBody>
          <a:bodyPr wrap="square" lIns="0" tIns="0" rIns="0" bIns="0" rtlCol="0" anchor="ctr"/>
          <a:lstStyle/>
          <a:p>
            <a:pPr algn="r" indent="0" marL="0">
              <a:buNone/>
            </a:pPr>
            <a:r>
              <a:rPr lang="en-US" sz="1000" dirty="0">
                <a:solidFill>
                  <a:srgbClr val="7C8CA1"/>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502920" y="502920"/>
            <a:ext cx="11185855" cy="256032"/>
          </a:xfrm>
          <a:prstGeom prst="rect">
            <a:avLst/>
          </a:prstGeom>
          <a:noFill/>
          <a:ln/>
        </p:spPr>
        <p:txBody>
          <a:bodyPr wrap="square" lIns="0" tIns="0" rIns="0" bIns="0" rtlCol="0" anchor="ctr"/>
          <a:lstStyle/>
          <a:p>
            <a:pPr indent="0" marL="0">
              <a:buNone/>
            </a:pPr>
            <a:r>
              <a:rPr lang="en-US" sz="1100" b="1" spc="300" kern="0" dirty="0">
                <a:solidFill>
                  <a:srgbClr val="8FC1F5"/>
                </a:solidFill>
                <a:latin typeface="Calibri" pitchFamily="34" charset="0"/>
                <a:ea typeface="Calibri" pitchFamily="34" charset="-122"/>
                <a:cs typeface="Calibri" pitchFamily="34" charset="-120"/>
              </a:rPr>
              <a:t>THE DESIGN PRINCIPLE</a:t>
            </a:r>
            <a:endParaRPr lang="en-US" sz="1100" dirty="0"/>
          </a:p>
        </p:txBody>
      </p:sp>
      <p:sp>
        <p:nvSpPr>
          <p:cNvPr id="3" name="Text 1"/>
          <p:cNvSpPr/>
          <p:nvPr/>
        </p:nvSpPr>
        <p:spPr>
          <a:xfrm>
            <a:off x="502920" y="868680"/>
            <a:ext cx="11185855"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AI reads.  The rules decide.  The human signs.</a:t>
            </a:r>
            <a:endParaRPr lang="en-US" sz="3400" dirty="0"/>
          </a:p>
        </p:txBody>
      </p:sp>
      <p:sp>
        <p:nvSpPr>
          <p:cNvPr id="4" name="Shape 2"/>
          <p:cNvSpPr/>
          <p:nvPr/>
        </p:nvSpPr>
        <p:spPr>
          <a:xfrm>
            <a:off x="502920" y="1874520"/>
            <a:ext cx="3484778" cy="2880360"/>
          </a:xfrm>
          <a:prstGeom prst="roundRect">
            <a:avLst>
              <a:gd name="adj" fmla="val 1905"/>
            </a:avLst>
          </a:prstGeom>
          <a:solidFill>
            <a:srgbClr val="16294A"/>
          </a:solidFill>
          <a:ln w="12700">
            <a:solidFill>
              <a:srgbClr val="1B3A5C"/>
            </a:solidFill>
            <a:prstDash val="solid"/>
          </a:ln>
        </p:spPr>
      </p:sp>
      <p:sp>
        <p:nvSpPr>
          <p:cNvPr id="5" name="Text 3"/>
          <p:cNvSpPr/>
          <p:nvPr/>
        </p:nvSpPr>
        <p:spPr>
          <a:xfrm>
            <a:off x="795528" y="2103120"/>
            <a:ext cx="2899562" cy="237744"/>
          </a:xfrm>
          <a:prstGeom prst="rect">
            <a:avLst/>
          </a:prstGeom>
          <a:noFill/>
          <a:ln/>
        </p:spPr>
        <p:txBody>
          <a:bodyPr wrap="square" lIns="0" tIns="0" rIns="0" bIns="0" rtlCol="0" anchor="ctr"/>
          <a:lstStyle/>
          <a:p>
            <a:pPr indent="0" marL="0">
              <a:buNone/>
            </a:pPr>
            <a:r>
              <a:rPr lang="en-US" sz="1050" b="1" spc="240" kern="0" dirty="0">
                <a:solidFill>
                  <a:srgbClr val="137FEC"/>
                </a:solidFill>
                <a:latin typeface="Calibri" pitchFamily="34" charset="0"/>
                <a:ea typeface="Calibri" pitchFamily="34" charset="-122"/>
                <a:cs typeface="Calibri" pitchFamily="34" charset="-120"/>
              </a:rPr>
              <a:t>READS</a:t>
            </a:r>
            <a:endParaRPr lang="en-US" sz="1050" dirty="0"/>
          </a:p>
        </p:txBody>
      </p:sp>
      <p:sp>
        <p:nvSpPr>
          <p:cNvPr id="6" name="Text 4"/>
          <p:cNvSpPr/>
          <p:nvPr/>
        </p:nvSpPr>
        <p:spPr>
          <a:xfrm>
            <a:off x="795528" y="2359152"/>
            <a:ext cx="2899562" cy="384048"/>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The AI</a:t>
            </a:r>
            <a:endParaRPr lang="en-US" sz="2200" dirty="0"/>
          </a:p>
        </p:txBody>
      </p:sp>
      <p:sp>
        <p:nvSpPr>
          <p:cNvPr id="7" name="Text 5"/>
          <p:cNvSpPr/>
          <p:nvPr/>
        </p:nvSpPr>
        <p:spPr>
          <a:xfrm>
            <a:off x="795528" y="2834640"/>
            <a:ext cx="2936138" cy="1143000"/>
          </a:xfrm>
          <a:prstGeom prst="rect">
            <a:avLst/>
          </a:prstGeom>
          <a:noFill/>
          <a:ln/>
        </p:spPr>
        <p:txBody>
          <a:bodyPr wrap="square" lIns="0" tIns="0" rIns="0" bIns="0" rtlCol="0" anchor="t"/>
          <a:lstStyle/>
          <a:p>
            <a:pPr indent="0" marL="0">
              <a:lnSpc>
                <a:spcPts val="1800"/>
              </a:lnSpc>
              <a:buNone/>
            </a:pPr>
            <a:r>
              <a:rPr lang="en-US" sz="1250" dirty="0">
                <a:solidFill>
                  <a:srgbClr val="C6D4E6"/>
                </a:solidFill>
                <a:latin typeface="Calibri" pitchFamily="34" charset="0"/>
                <a:ea typeface="Calibri" pitchFamily="34" charset="-122"/>
                <a:cs typeface="Calibri" pitchFamily="34" charset="-120"/>
              </a:rPr>
              <a:t>Cloud Vision and Gemini extract values from every uploaded document and judge whether it looks like a genuine one of its type.</a:t>
            </a:r>
            <a:endParaRPr lang="en-US" sz="1250" dirty="0"/>
          </a:p>
        </p:txBody>
      </p:sp>
      <p:sp>
        <p:nvSpPr>
          <p:cNvPr id="8" name="Text 6"/>
          <p:cNvSpPr/>
          <p:nvPr/>
        </p:nvSpPr>
        <p:spPr>
          <a:xfrm>
            <a:off x="795528" y="4069080"/>
            <a:ext cx="2936138" cy="566928"/>
          </a:xfrm>
          <a:prstGeom prst="rect">
            <a:avLst/>
          </a:prstGeom>
          <a:noFill/>
          <a:ln/>
        </p:spPr>
        <p:txBody>
          <a:bodyPr wrap="square" lIns="0" tIns="0" rIns="0" bIns="0" rtlCol="0" anchor="t"/>
          <a:lstStyle/>
          <a:p>
            <a:pPr indent="0" marL="0">
              <a:lnSpc>
                <a:spcPts val="1700"/>
              </a:lnSpc>
              <a:buNone/>
            </a:pPr>
            <a:r>
              <a:rPr lang="en-US" sz="1250" b="1" dirty="0">
                <a:solidFill>
                  <a:srgbClr val="137FEC"/>
                </a:solidFill>
                <a:latin typeface="Calibri" pitchFamily="34" charset="0"/>
                <a:ea typeface="Calibri" pitchFamily="34" charset="-122"/>
                <a:cs typeface="Calibri" pitchFamily="34" charset="-120"/>
              </a:rPr>
              <a:t>It produces evidence. It never produces a verdict.</a:t>
            </a:r>
            <a:endParaRPr lang="en-US" sz="1250" dirty="0"/>
          </a:p>
        </p:txBody>
      </p:sp>
      <p:sp>
        <p:nvSpPr>
          <p:cNvPr id="9" name="Shape 7"/>
          <p:cNvSpPr/>
          <p:nvPr/>
        </p:nvSpPr>
        <p:spPr>
          <a:xfrm>
            <a:off x="4353458" y="1874520"/>
            <a:ext cx="3484778" cy="2880360"/>
          </a:xfrm>
          <a:prstGeom prst="roundRect">
            <a:avLst>
              <a:gd name="adj" fmla="val 1905"/>
            </a:avLst>
          </a:prstGeom>
          <a:solidFill>
            <a:srgbClr val="16294A"/>
          </a:solidFill>
          <a:ln w="12700">
            <a:solidFill>
              <a:srgbClr val="1B3A5C"/>
            </a:solidFill>
            <a:prstDash val="solid"/>
          </a:ln>
        </p:spPr>
      </p:sp>
      <p:sp>
        <p:nvSpPr>
          <p:cNvPr id="10" name="Text 8"/>
          <p:cNvSpPr/>
          <p:nvPr/>
        </p:nvSpPr>
        <p:spPr>
          <a:xfrm>
            <a:off x="4646066" y="2103120"/>
            <a:ext cx="2899562" cy="237744"/>
          </a:xfrm>
          <a:prstGeom prst="rect">
            <a:avLst/>
          </a:prstGeom>
          <a:noFill/>
          <a:ln/>
        </p:spPr>
        <p:txBody>
          <a:bodyPr wrap="square" lIns="0" tIns="0" rIns="0" bIns="0" rtlCol="0" anchor="ctr"/>
          <a:lstStyle/>
          <a:p>
            <a:pPr indent="0" marL="0">
              <a:buNone/>
            </a:pPr>
            <a:r>
              <a:rPr lang="en-US" sz="1050" b="1" spc="240" kern="0" dirty="0">
                <a:solidFill>
                  <a:srgbClr val="8FC1F5"/>
                </a:solidFill>
                <a:latin typeface="Calibri" pitchFamily="34" charset="0"/>
                <a:ea typeface="Calibri" pitchFamily="34" charset="-122"/>
                <a:cs typeface="Calibri" pitchFamily="34" charset="-120"/>
              </a:rPr>
              <a:t>DECIDE</a:t>
            </a:r>
            <a:endParaRPr lang="en-US" sz="1050" dirty="0"/>
          </a:p>
        </p:txBody>
      </p:sp>
      <p:sp>
        <p:nvSpPr>
          <p:cNvPr id="11" name="Text 9"/>
          <p:cNvSpPr/>
          <p:nvPr/>
        </p:nvSpPr>
        <p:spPr>
          <a:xfrm>
            <a:off x="4646066" y="2359152"/>
            <a:ext cx="2899562" cy="384048"/>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The rules</a:t>
            </a:r>
            <a:endParaRPr lang="en-US" sz="2200" dirty="0"/>
          </a:p>
        </p:txBody>
      </p:sp>
      <p:sp>
        <p:nvSpPr>
          <p:cNvPr id="12" name="Text 10"/>
          <p:cNvSpPr/>
          <p:nvPr/>
        </p:nvSpPr>
        <p:spPr>
          <a:xfrm>
            <a:off x="4646066" y="2834640"/>
            <a:ext cx="2936138" cy="1143000"/>
          </a:xfrm>
          <a:prstGeom prst="rect">
            <a:avLst/>
          </a:prstGeom>
          <a:noFill/>
          <a:ln/>
        </p:spPr>
        <p:txBody>
          <a:bodyPr wrap="square" lIns="0" tIns="0" rIns="0" bIns="0" rtlCol="0" anchor="t"/>
          <a:lstStyle/>
          <a:p>
            <a:pPr indent="0" marL="0">
              <a:lnSpc>
                <a:spcPts val="1800"/>
              </a:lnSpc>
              <a:buNone/>
            </a:pPr>
            <a:r>
              <a:rPr lang="en-US" sz="1250" dirty="0">
                <a:solidFill>
                  <a:srgbClr val="C6D4E6"/>
                </a:solidFill>
                <a:latin typeface="Calibri" pitchFamily="34" charset="0"/>
                <a:ea typeface="Calibri" pitchFamily="34" charset="-122"/>
                <a:cs typeface="Calibri" pitchFamily="34" charset="-120"/>
              </a:rPr>
              <a:t>A deterministic engine composes those signals into four facts: Identity, Academic, Income, Pathway — each shown as a confidence band with the evidence behind it.</a:t>
            </a:r>
            <a:endParaRPr lang="en-US" sz="1250" dirty="0"/>
          </a:p>
        </p:txBody>
      </p:sp>
      <p:sp>
        <p:nvSpPr>
          <p:cNvPr id="13" name="Text 11"/>
          <p:cNvSpPr/>
          <p:nvPr/>
        </p:nvSpPr>
        <p:spPr>
          <a:xfrm>
            <a:off x="4646066" y="4069080"/>
            <a:ext cx="2936138" cy="566928"/>
          </a:xfrm>
          <a:prstGeom prst="rect">
            <a:avLst/>
          </a:prstGeom>
          <a:noFill/>
          <a:ln/>
        </p:spPr>
        <p:txBody>
          <a:bodyPr wrap="square" lIns="0" tIns="0" rIns="0" bIns="0" rtlCol="0" anchor="t"/>
          <a:lstStyle/>
          <a:p>
            <a:pPr indent="0" marL="0">
              <a:lnSpc>
                <a:spcPts val="1700"/>
              </a:lnSpc>
              <a:buNone/>
            </a:pPr>
            <a:r>
              <a:rPr lang="en-US" sz="1250" b="1" dirty="0">
                <a:solidFill>
                  <a:srgbClr val="8FC1F5"/>
                </a:solidFill>
                <a:latin typeface="Calibri" pitchFamily="34" charset="0"/>
                <a:ea typeface="Calibri" pitchFamily="34" charset="-122"/>
                <a:cs typeface="Calibri" pitchFamily="34" charset="-120"/>
              </a:rPr>
              <a:t>No model call sits anywhere in the verdict path.</a:t>
            </a:r>
            <a:endParaRPr lang="en-US" sz="1250" dirty="0"/>
          </a:p>
        </p:txBody>
      </p:sp>
      <p:sp>
        <p:nvSpPr>
          <p:cNvPr id="14" name="Shape 12"/>
          <p:cNvSpPr/>
          <p:nvPr/>
        </p:nvSpPr>
        <p:spPr>
          <a:xfrm>
            <a:off x="8203997" y="1874520"/>
            <a:ext cx="3484778" cy="2880360"/>
          </a:xfrm>
          <a:prstGeom prst="roundRect">
            <a:avLst>
              <a:gd name="adj" fmla="val 1905"/>
            </a:avLst>
          </a:prstGeom>
          <a:solidFill>
            <a:srgbClr val="16294A"/>
          </a:solidFill>
          <a:ln w="12700">
            <a:solidFill>
              <a:srgbClr val="1B3A5C"/>
            </a:solidFill>
            <a:prstDash val="solid"/>
          </a:ln>
        </p:spPr>
      </p:sp>
      <p:sp>
        <p:nvSpPr>
          <p:cNvPr id="15" name="Text 13"/>
          <p:cNvSpPr/>
          <p:nvPr/>
        </p:nvSpPr>
        <p:spPr>
          <a:xfrm>
            <a:off x="8496605" y="2103120"/>
            <a:ext cx="2899562" cy="237744"/>
          </a:xfrm>
          <a:prstGeom prst="rect">
            <a:avLst/>
          </a:prstGeom>
          <a:noFill/>
          <a:ln/>
        </p:spPr>
        <p:txBody>
          <a:bodyPr wrap="square" lIns="0" tIns="0" rIns="0" bIns="0" rtlCol="0" anchor="ctr"/>
          <a:lstStyle/>
          <a:p>
            <a:pPr indent="0" marL="0">
              <a:buNone/>
            </a:pPr>
            <a:r>
              <a:rPr lang="en-US" sz="1050" b="1" spc="240" kern="0" dirty="0">
                <a:solidFill>
                  <a:srgbClr val="E8A33D"/>
                </a:solidFill>
                <a:latin typeface="Calibri" pitchFamily="34" charset="0"/>
                <a:ea typeface="Calibri" pitchFamily="34" charset="-122"/>
                <a:cs typeface="Calibri" pitchFamily="34" charset="-120"/>
              </a:rPr>
              <a:t>SIGNS</a:t>
            </a:r>
            <a:endParaRPr lang="en-US" sz="1050" dirty="0"/>
          </a:p>
        </p:txBody>
      </p:sp>
      <p:sp>
        <p:nvSpPr>
          <p:cNvPr id="16" name="Text 14"/>
          <p:cNvSpPr/>
          <p:nvPr/>
        </p:nvSpPr>
        <p:spPr>
          <a:xfrm>
            <a:off x="8496605" y="2359152"/>
            <a:ext cx="2899562" cy="384048"/>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The human</a:t>
            </a:r>
            <a:endParaRPr lang="en-US" sz="2200" dirty="0"/>
          </a:p>
        </p:txBody>
      </p:sp>
      <p:sp>
        <p:nvSpPr>
          <p:cNvPr id="17" name="Text 15"/>
          <p:cNvSpPr/>
          <p:nvPr/>
        </p:nvSpPr>
        <p:spPr>
          <a:xfrm>
            <a:off x="8496605" y="2834640"/>
            <a:ext cx="2936138" cy="1143000"/>
          </a:xfrm>
          <a:prstGeom prst="rect">
            <a:avLst/>
          </a:prstGeom>
          <a:noFill/>
          <a:ln/>
        </p:spPr>
        <p:txBody>
          <a:bodyPr wrap="square" lIns="0" tIns="0" rIns="0" bIns="0" rtlCol="0" anchor="t"/>
          <a:lstStyle/>
          <a:p>
            <a:pPr indent="0" marL="0">
              <a:lnSpc>
                <a:spcPts val="1800"/>
              </a:lnSpc>
              <a:buNone/>
            </a:pPr>
            <a:r>
              <a:rPr lang="en-US" sz="1250" dirty="0">
                <a:solidFill>
                  <a:srgbClr val="C6D4E6"/>
                </a:solidFill>
                <a:latin typeface="Calibri" pitchFamily="34" charset="0"/>
                <a:ea typeface="Calibri" pitchFamily="34" charset="-122"/>
                <a:cs typeface="Calibri" pitchFamily="34" charset="-120"/>
              </a:rPr>
              <a:t>A reviewer interviews the student, records their own pass or fail against each of the four facts, and a second person quality-controls it.</a:t>
            </a:r>
            <a:endParaRPr lang="en-US" sz="1250" dirty="0"/>
          </a:p>
        </p:txBody>
      </p:sp>
      <p:sp>
        <p:nvSpPr>
          <p:cNvPr id="18" name="Text 16"/>
          <p:cNvSpPr/>
          <p:nvPr/>
        </p:nvSpPr>
        <p:spPr>
          <a:xfrm>
            <a:off x="8496605" y="4069080"/>
            <a:ext cx="2936138" cy="566928"/>
          </a:xfrm>
          <a:prstGeom prst="rect">
            <a:avLst/>
          </a:prstGeom>
          <a:noFill/>
          <a:ln/>
        </p:spPr>
        <p:txBody>
          <a:bodyPr wrap="square" lIns="0" tIns="0" rIns="0" bIns="0" rtlCol="0" anchor="t"/>
          <a:lstStyle/>
          <a:p>
            <a:pPr indent="0" marL="0">
              <a:lnSpc>
                <a:spcPts val="1700"/>
              </a:lnSpc>
              <a:buNone/>
            </a:pPr>
            <a:r>
              <a:rPr lang="en-US" sz="1250" b="1" dirty="0">
                <a:solidFill>
                  <a:srgbClr val="E8A33D"/>
                </a:solidFill>
                <a:latin typeface="Calibri" pitchFamily="34" charset="0"/>
                <a:ea typeface="Calibri" pitchFamily="34" charset="-122"/>
                <a:cs typeface="Calibri" pitchFamily="34" charset="-120"/>
              </a:rPr>
              <a:t>The case cannot close until that audit is on record.</a:t>
            </a:r>
            <a:endParaRPr lang="en-US" sz="1250" dirty="0"/>
          </a:p>
        </p:txBody>
      </p:sp>
      <p:sp>
        <p:nvSpPr>
          <p:cNvPr id="19" name="Text 17"/>
          <p:cNvSpPr/>
          <p:nvPr/>
        </p:nvSpPr>
        <p:spPr>
          <a:xfrm>
            <a:off x="502920" y="5138928"/>
            <a:ext cx="11185855" cy="457200"/>
          </a:xfrm>
          <a:prstGeom prst="rect">
            <a:avLst/>
          </a:prstGeom>
          <a:noFill/>
          <a:ln/>
        </p:spPr>
        <p:txBody>
          <a:bodyPr wrap="square" lIns="0" tIns="0" rIns="0" bIns="0" rtlCol="0" anchor="ctr"/>
          <a:lstStyle/>
          <a:p>
            <a:pPr indent="0" marL="0">
              <a:buNone/>
            </a:pPr>
            <a:r>
              <a:rPr lang="en-US" sz="1400" b="1" i="1" dirty="0">
                <a:solidFill>
                  <a:srgbClr val="FFFFFF"/>
                </a:solidFill>
                <a:latin typeface="Calibri" pitchFamily="34" charset="0"/>
                <a:ea typeface="Calibri" pitchFamily="34" charset="-122"/>
                <a:cs typeface="Calibri" pitchFamily="34" charset="-120"/>
              </a:rPr>
              <a:t>“A hallucinated verdict is worse than scattered chips.”</a:t>
            </a:r>
            <a:pPr indent="0" marL="0">
              <a:buNone/>
            </a:pPr>
            <a:r>
              <a:rPr lang="en-US" sz="1400" dirty="0">
                <a:solidFill>
                  <a:srgbClr val="7C8CA1"/>
                </a:solidFill>
                <a:latin typeface="Calibri" pitchFamily="34" charset="0"/>
                <a:ea typeface="Calibri" pitchFamily="34" charset="-122"/>
                <a:cs typeface="Calibri" pitchFamily="34" charset="-120"/>
              </a:rPr>
              <a:t>   — the recorded decision that keeps every model call upstream of the verdict</a:t>
            </a:r>
            <a:endParaRPr lang="en-US" sz="1400" dirty="0"/>
          </a:p>
        </p:txBody>
      </p:sp>
      <p:sp>
        <p:nvSpPr>
          <p:cNvPr id="20" name="Text 18"/>
          <p:cNvSpPr/>
          <p:nvPr/>
        </p:nvSpPr>
        <p:spPr>
          <a:xfrm>
            <a:off x="502920" y="5669280"/>
            <a:ext cx="11185855" cy="548640"/>
          </a:xfrm>
          <a:prstGeom prst="rect">
            <a:avLst/>
          </a:prstGeom>
          <a:noFill/>
          <a:ln/>
        </p:spPr>
        <p:txBody>
          <a:bodyPr wrap="square" lIns="0" tIns="0" rIns="0" bIns="0" rtlCol="0" anchor="ctr"/>
          <a:lstStyle/>
          <a:p>
            <a:pPr indent="0" marL="0">
              <a:lnSpc>
                <a:spcPts val="1700"/>
              </a:lnSpc>
              <a:buNone/>
            </a:pPr>
            <a:r>
              <a:rPr lang="en-US" sz="1200" dirty="0">
                <a:solidFill>
                  <a:srgbClr val="8FC1F5"/>
                </a:solidFill>
                <a:latin typeface="Calibri" pitchFamily="34" charset="0"/>
                <a:ea typeface="Calibri" pitchFamily="34" charset="-122"/>
                <a:cs typeface="Calibri" pitchFamily="34" charset="-120"/>
              </a:rPr>
              <a:t>This is the opposite of what “AI processes the applications” usually means. Nothing is decided by a model, and nothing is approved without a named person putting their judgement on the record.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384048"/>
            <a:ext cx="11185855" cy="237744"/>
          </a:xfrm>
          <a:prstGeom prst="rect">
            <a:avLst/>
          </a:prstGeom>
          <a:noFill/>
          <a:ln/>
        </p:spPr>
        <p:txBody>
          <a:bodyPr wrap="square" lIns="0" tIns="0" rIns="0" bIns="0" rtlCol="0" anchor="ctr"/>
          <a:lstStyle/>
          <a:p>
            <a:pPr indent="0" marL="0">
              <a:buNone/>
            </a:pPr>
            <a:r>
              <a:rPr lang="en-US" sz="1100" b="1" spc="200" kern="0" dirty="0">
                <a:solidFill>
                  <a:srgbClr val="137FEC"/>
                </a:solidFill>
                <a:latin typeface="Calibri" pitchFamily="34" charset="0"/>
                <a:ea typeface="Calibri" pitchFamily="34" charset="-122"/>
                <a:cs typeface="Calibri" pitchFamily="34" charset="-120"/>
              </a:rPr>
              <a:t>UNDER THE BONNET</a:t>
            </a:r>
            <a:endParaRPr lang="en-US" sz="1100" dirty="0"/>
          </a:p>
        </p:txBody>
      </p:sp>
      <p:sp>
        <p:nvSpPr>
          <p:cNvPr id="3" name="Text 1"/>
          <p:cNvSpPr/>
          <p:nvPr/>
        </p:nvSpPr>
        <p:spPr>
          <a:xfrm>
            <a:off x="502920" y="658368"/>
            <a:ext cx="11185855" cy="658368"/>
          </a:xfrm>
          <a:prstGeom prst="rect">
            <a:avLst/>
          </a:prstGeom>
          <a:noFill/>
          <a:ln/>
        </p:spPr>
        <p:txBody>
          <a:bodyPr wrap="square" lIns="0" tIns="0" rIns="0" bIns="0" rtlCol="0" anchor="t"/>
          <a:lstStyle/>
          <a:p>
            <a:pPr indent="0" marL="0">
              <a:buNone/>
            </a:pPr>
            <a:r>
              <a:rPr lang="en-US" sz="3000" b="1" dirty="0">
                <a:solidFill>
                  <a:srgbClr val="0B1B33"/>
                </a:solidFill>
                <a:latin typeface="Cambria" pitchFamily="34" charset="0"/>
                <a:ea typeface="Cambria" pitchFamily="34" charset="-122"/>
                <a:cs typeface="Cambria" pitchFamily="34" charset="-120"/>
              </a:rPr>
              <a:t>What actually happens when a student uploads a document</a:t>
            </a:r>
            <a:endParaRPr lang="en-US" sz="3000" dirty="0"/>
          </a:p>
        </p:txBody>
      </p:sp>
      <p:sp>
        <p:nvSpPr>
          <p:cNvPr id="4" name="Shape 2"/>
          <p:cNvSpPr/>
          <p:nvPr/>
        </p:nvSpPr>
        <p:spPr>
          <a:xfrm>
            <a:off x="502920" y="1481328"/>
            <a:ext cx="5440680" cy="2286000"/>
          </a:xfrm>
          <a:prstGeom prst="roundRect">
            <a:avLst>
              <a:gd name="adj" fmla="val 2000"/>
            </a:avLst>
          </a:prstGeom>
          <a:solidFill>
            <a:srgbClr val="FFFFFF"/>
          </a:solidFill>
          <a:ln w="12700">
            <a:solidFill>
              <a:srgbClr val="DDE6F2"/>
            </a:solidFill>
            <a:prstDash val="solid"/>
          </a:ln>
          <a:effectLst>
            <a:outerShdw sx="100000" sy="100000" kx="0" ky="0" algn="bl" rotWithShape="0" blurRad="127000" dist="25400" dir="5400000">
              <a:srgbClr val="0B1B33">
                <a:alpha val="10000"/>
              </a:srgbClr>
            </a:outerShdw>
          </a:effectLst>
        </p:spPr>
      </p:sp>
      <p:sp>
        <p:nvSpPr>
          <p:cNvPr id="5" name="Text 3"/>
          <p:cNvSpPr/>
          <p:nvPr/>
        </p:nvSpPr>
        <p:spPr>
          <a:xfrm>
            <a:off x="758952" y="1664208"/>
            <a:ext cx="4928616" cy="274320"/>
          </a:xfrm>
          <a:prstGeom prst="rect">
            <a:avLst/>
          </a:prstGeom>
          <a:noFill/>
          <a:ln/>
        </p:spPr>
        <p:txBody>
          <a:bodyPr wrap="square" lIns="0" tIns="0" rIns="0" bIns="0" rtlCol="0" anchor="ctr"/>
          <a:lstStyle/>
          <a:p>
            <a:pPr indent="0" marL="0">
              <a:buNone/>
            </a:pPr>
            <a:r>
              <a:rPr lang="en-US" sz="1200" b="1" dirty="0">
                <a:solidFill>
                  <a:srgbClr val="0B1B33"/>
                </a:solidFill>
                <a:latin typeface="Calibri" pitchFamily="34" charset="0"/>
                <a:ea typeface="Calibri" pitchFamily="34" charset="-122"/>
                <a:cs typeface="Calibri" pitchFamily="34" charset="-120"/>
              </a:rPr>
              <a:t>Three outcomes, one scale, for every document type</a:t>
            </a:r>
            <a:endParaRPr lang="en-US" sz="1200" dirty="0"/>
          </a:p>
        </p:txBody>
      </p:sp>
      <p:sp>
        <p:nvSpPr>
          <p:cNvPr id="6" name="Shape 4"/>
          <p:cNvSpPr/>
          <p:nvPr/>
        </p:nvSpPr>
        <p:spPr>
          <a:xfrm>
            <a:off x="758952" y="2084832"/>
            <a:ext cx="128016" cy="365760"/>
          </a:xfrm>
          <a:prstGeom prst="roundRect">
            <a:avLst>
              <a:gd name="adj" fmla="val 50000"/>
            </a:avLst>
          </a:prstGeom>
          <a:solidFill>
            <a:srgbClr val="2E8F63"/>
          </a:solidFill>
          <a:ln/>
        </p:spPr>
      </p:sp>
      <p:sp>
        <p:nvSpPr>
          <p:cNvPr id="7" name="Text 5"/>
          <p:cNvSpPr/>
          <p:nvPr/>
        </p:nvSpPr>
        <p:spPr>
          <a:xfrm>
            <a:off x="996696" y="2029968"/>
            <a:ext cx="1371600" cy="256032"/>
          </a:xfrm>
          <a:prstGeom prst="rect">
            <a:avLst/>
          </a:prstGeom>
          <a:noFill/>
          <a:ln/>
        </p:spPr>
        <p:txBody>
          <a:bodyPr wrap="square" lIns="0" tIns="0" rIns="0" bIns="0" rtlCol="0" anchor="ctr"/>
          <a:lstStyle/>
          <a:p>
            <a:pPr indent="0" marL="0">
              <a:buNone/>
            </a:pPr>
            <a:r>
              <a:rPr lang="en-US" sz="1200" b="1" dirty="0">
                <a:solidFill>
                  <a:srgbClr val="0B1B33"/>
                </a:solidFill>
                <a:latin typeface="Calibri" pitchFamily="34" charset="0"/>
                <a:ea typeface="Calibri" pitchFamily="34" charset="-122"/>
                <a:cs typeface="Calibri" pitchFamily="34" charset="-120"/>
              </a:rPr>
              <a:t>Genuine</a:t>
            </a:r>
            <a:endParaRPr lang="en-US" sz="1200" dirty="0"/>
          </a:p>
        </p:txBody>
      </p:sp>
      <p:sp>
        <p:nvSpPr>
          <p:cNvPr id="8" name="Text 6"/>
          <p:cNvSpPr/>
          <p:nvPr/>
        </p:nvSpPr>
        <p:spPr>
          <a:xfrm>
            <a:off x="996696" y="2267712"/>
            <a:ext cx="1371600" cy="219456"/>
          </a:xfrm>
          <a:prstGeom prst="rect">
            <a:avLst/>
          </a:prstGeom>
          <a:noFill/>
          <a:ln/>
        </p:spPr>
        <p:txBody>
          <a:bodyPr wrap="square" lIns="0" tIns="0" rIns="0" bIns="0" rtlCol="0" anchor="ctr"/>
          <a:lstStyle/>
          <a:p>
            <a:pPr indent="0" marL="0">
              <a:buNone/>
            </a:pPr>
            <a:r>
              <a:rPr lang="en-US" sz="1000" dirty="0">
                <a:solidFill>
                  <a:srgbClr val="7C8CA1"/>
                </a:solidFill>
                <a:latin typeface="Calibri" pitchFamily="34" charset="0"/>
                <a:ea typeface="Calibri" pitchFamily="34" charset="-122"/>
                <a:cs typeface="Calibri" pitchFamily="34" charset="-120"/>
              </a:rPr>
              <a:t>0.70 and above</a:t>
            </a:r>
            <a:endParaRPr lang="en-US" sz="1000" dirty="0"/>
          </a:p>
        </p:txBody>
      </p:sp>
      <p:sp>
        <p:nvSpPr>
          <p:cNvPr id="9" name="Text 7"/>
          <p:cNvSpPr/>
          <p:nvPr/>
        </p:nvSpPr>
        <p:spPr>
          <a:xfrm>
            <a:off x="2423160" y="2048256"/>
            <a:ext cx="3227832" cy="457200"/>
          </a:xfrm>
          <a:prstGeom prst="rect">
            <a:avLst/>
          </a:prstGeom>
          <a:noFill/>
          <a:ln/>
        </p:spPr>
        <p:txBody>
          <a:bodyPr wrap="square" lIns="0" tIns="0" rIns="0" bIns="0" rtlCol="0" anchor="t"/>
          <a:lstStyle/>
          <a:p>
            <a:pPr indent="0" marL="0">
              <a:lnSpc>
                <a:spcPts val="1400"/>
              </a:lnSpc>
              <a:buNone/>
            </a:pPr>
            <a:r>
              <a:rPr lang="en-US" sz="1100" dirty="0">
                <a:solidFill>
                  <a:srgbClr val="44536B"/>
                </a:solidFill>
                <a:latin typeface="Calibri" pitchFamily="34" charset="0"/>
                <a:ea typeface="Calibri" pitchFamily="34" charset="-122"/>
                <a:cs typeface="Calibri" pitchFamily="34" charset="-120"/>
              </a:rPr>
              <a:t>A real document of the expected type, showing its verifiable anchors.</a:t>
            </a:r>
            <a:endParaRPr lang="en-US" sz="1100" dirty="0"/>
          </a:p>
        </p:txBody>
      </p:sp>
      <p:sp>
        <p:nvSpPr>
          <p:cNvPr id="10" name="Shape 8"/>
          <p:cNvSpPr/>
          <p:nvPr/>
        </p:nvSpPr>
        <p:spPr>
          <a:xfrm>
            <a:off x="758952" y="2633472"/>
            <a:ext cx="128016" cy="365760"/>
          </a:xfrm>
          <a:prstGeom prst="roundRect">
            <a:avLst>
              <a:gd name="adj" fmla="val 50000"/>
            </a:avLst>
          </a:prstGeom>
          <a:solidFill>
            <a:srgbClr val="E8A33D"/>
          </a:solidFill>
          <a:ln/>
        </p:spPr>
      </p:sp>
      <p:sp>
        <p:nvSpPr>
          <p:cNvPr id="11" name="Text 9"/>
          <p:cNvSpPr/>
          <p:nvPr/>
        </p:nvSpPr>
        <p:spPr>
          <a:xfrm>
            <a:off x="996696" y="2578608"/>
            <a:ext cx="1371600" cy="256032"/>
          </a:xfrm>
          <a:prstGeom prst="rect">
            <a:avLst/>
          </a:prstGeom>
          <a:noFill/>
          <a:ln/>
        </p:spPr>
        <p:txBody>
          <a:bodyPr wrap="square" lIns="0" tIns="0" rIns="0" bIns="0" rtlCol="0" anchor="ctr"/>
          <a:lstStyle/>
          <a:p>
            <a:pPr indent="0" marL="0">
              <a:buNone/>
            </a:pPr>
            <a:r>
              <a:rPr lang="en-US" sz="1200" b="1" dirty="0">
                <a:solidFill>
                  <a:srgbClr val="0B1B33"/>
                </a:solidFill>
                <a:latin typeface="Calibri" pitchFamily="34" charset="0"/>
                <a:ea typeface="Calibri" pitchFamily="34" charset="-122"/>
                <a:cs typeface="Calibri" pitchFamily="34" charset="-120"/>
              </a:rPr>
              <a:t>Suspect</a:t>
            </a:r>
            <a:endParaRPr lang="en-US" sz="1200" dirty="0"/>
          </a:p>
        </p:txBody>
      </p:sp>
      <p:sp>
        <p:nvSpPr>
          <p:cNvPr id="12" name="Text 10"/>
          <p:cNvSpPr/>
          <p:nvPr/>
        </p:nvSpPr>
        <p:spPr>
          <a:xfrm>
            <a:off x="996696" y="2816352"/>
            <a:ext cx="1371600" cy="219456"/>
          </a:xfrm>
          <a:prstGeom prst="rect">
            <a:avLst/>
          </a:prstGeom>
          <a:noFill/>
          <a:ln/>
        </p:spPr>
        <p:txBody>
          <a:bodyPr wrap="square" lIns="0" tIns="0" rIns="0" bIns="0" rtlCol="0" anchor="ctr"/>
          <a:lstStyle/>
          <a:p>
            <a:pPr indent="0" marL="0">
              <a:buNone/>
            </a:pPr>
            <a:r>
              <a:rPr lang="en-US" sz="1000" dirty="0">
                <a:solidFill>
                  <a:srgbClr val="7C8CA1"/>
                </a:solidFill>
                <a:latin typeface="Calibri" pitchFamily="34" charset="0"/>
                <a:ea typeface="Calibri" pitchFamily="34" charset="-122"/>
                <a:cs typeface="Calibri" pitchFamily="34" charset="-120"/>
              </a:rPr>
              <a:t>0.35 – 0.70</a:t>
            </a:r>
            <a:endParaRPr lang="en-US" sz="1000" dirty="0"/>
          </a:p>
        </p:txBody>
      </p:sp>
      <p:sp>
        <p:nvSpPr>
          <p:cNvPr id="13" name="Text 11"/>
          <p:cNvSpPr/>
          <p:nvPr/>
        </p:nvSpPr>
        <p:spPr>
          <a:xfrm>
            <a:off x="2423160" y="2596896"/>
            <a:ext cx="3227832" cy="457200"/>
          </a:xfrm>
          <a:prstGeom prst="rect">
            <a:avLst/>
          </a:prstGeom>
          <a:noFill/>
          <a:ln/>
        </p:spPr>
        <p:txBody>
          <a:bodyPr wrap="square" lIns="0" tIns="0" rIns="0" bIns="0" rtlCol="0" anchor="t"/>
          <a:lstStyle/>
          <a:p>
            <a:pPr indent="0" marL="0">
              <a:lnSpc>
                <a:spcPts val="1400"/>
              </a:lnSpc>
              <a:buNone/>
            </a:pPr>
            <a:r>
              <a:rPr lang="en-US" sz="1100" dirty="0">
                <a:solidFill>
                  <a:srgbClr val="44536B"/>
                </a:solidFill>
                <a:latin typeface="Calibri" pitchFamily="34" charset="0"/>
                <a:ea typeface="Calibri" pitchFamily="34" charset="-122"/>
                <a:cs typeface="Calibri" pitchFamily="34" charset="-120"/>
              </a:rPr>
              <a:t>Right kind of document, not confidently genuine — or simply incomplete.</a:t>
            </a:r>
            <a:endParaRPr lang="en-US" sz="1100" dirty="0"/>
          </a:p>
        </p:txBody>
      </p:sp>
      <p:sp>
        <p:nvSpPr>
          <p:cNvPr id="14" name="Shape 12"/>
          <p:cNvSpPr/>
          <p:nvPr/>
        </p:nvSpPr>
        <p:spPr>
          <a:xfrm>
            <a:off x="758952" y="3182112"/>
            <a:ext cx="128016" cy="365760"/>
          </a:xfrm>
          <a:prstGeom prst="roundRect">
            <a:avLst>
              <a:gd name="adj" fmla="val 50000"/>
            </a:avLst>
          </a:prstGeom>
          <a:solidFill>
            <a:srgbClr val="C1473F"/>
          </a:solidFill>
          <a:ln/>
        </p:spPr>
      </p:sp>
      <p:sp>
        <p:nvSpPr>
          <p:cNvPr id="15" name="Text 13"/>
          <p:cNvSpPr/>
          <p:nvPr/>
        </p:nvSpPr>
        <p:spPr>
          <a:xfrm>
            <a:off x="996696" y="3127248"/>
            <a:ext cx="1371600" cy="256032"/>
          </a:xfrm>
          <a:prstGeom prst="rect">
            <a:avLst/>
          </a:prstGeom>
          <a:noFill/>
          <a:ln/>
        </p:spPr>
        <p:txBody>
          <a:bodyPr wrap="square" lIns="0" tIns="0" rIns="0" bIns="0" rtlCol="0" anchor="ctr"/>
          <a:lstStyle/>
          <a:p>
            <a:pPr indent="0" marL="0">
              <a:buNone/>
            </a:pPr>
            <a:r>
              <a:rPr lang="en-US" sz="1200" b="1" dirty="0">
                <a:solidFill>
                  <a:srgbClr val="0B1B33"/>
                </a:solidFill>
                <a:latin typeface="Calibri" pitchFamily="34" charset="0"/>
                <a:ea typeface="Calibri" pitchFamily="34" charset="-122"/>
                <a:cs typeface="Calibri" pitchFamily="34" charset="-120"/>
              </a:rPr>
              <a:t>Wrong document</a:t>
            </a:r>
            <a:endParaRPr lang="en-US" sz="1200" dirty="0"/>
          </a:p>
        </p:txBody>
      </p:sp>
      <p:sp>
        <p:nvSpPr>
          <p:cNvPr id="16" name="Text 14"/>
          <p:cNvSpPr/>
          <p:nvPr/>
        </p:nvSpPr>
        <p:spPr>
          <a:xfrm>
            <a:off x="996696" y="3364992"/>
            <a:ext cx="1371600" cy="219456"/>
          </a:xfrm>
          <a:prstGeom prst="rect">
            <a:avLst/>
          </a:prstGeom>
          <a:noFill/>
          <a:ln/>
        </p:spPr>
        <p:txBody>
          <a:bodyPr wrap="square" lIns="0" tIns="0" rIns="0" bIns="0" rtlCol="0" anchor="ctr"/>
          <a:lstStyle/>
          <a:p>
            <a:pPr indent="0" marL="0">
              <a:buNone/>
            </a:pPr>
            <a:r>
              <a:rPr lang="en-US" sz="1000" dirty="0">
                <a:solidFill>
                  <a:srgbClr val="7C8CA1"/>
                </a:solidFill>
                <a:latin typeface="Calibri" pitchFamily="34" charset="0"/>
                <a:ea typeface="Calibri" pitchFamily="34" charset="-122"/>
                <a:cs typeface="Calibri" pitchFamily="34" charset="-120"/>
              </a:rPr>
              <a:t>below 0.35</a:t>
            </a:r>
            <a:endParaRPr lang="en-US" sz="1000" dirty="0"/>
          </a:p>
        </p:txBody>
      </p:sp>
      <p:sp>
        <p:nvSpPr>
          <p:cNvPr id="17" name="Text 15"/>
          <p:cNvSpPr/>
          <p:nvPr/>
        </p:nvSpPr>
        <p:spPr>
          <a:xfrm>
            <a:off x="2423160" y="3145536"/>
            <a:ext cx="3227832" cy="457200"/>
          </a:xfrm>
          <a:prstGeom prst="rect">
            <a:avLst/>
          </a:prstGeom>
          <a:noFill/>
          <a:ln/>
        </p:spPr>
        <p:txBody>
          <a:bodyPr wrap="square" lIns="0" tIns="0" rIns="0" bIns="0" rtlCol="0" anchor="t"/>
          <a:lstStyle/>
          <a:p>
            <a:pPr indent="0" marL="0">
              <a:lnSpc>
                <a:spcPts val="1400"/>
              </a:lnSpc>
              <a:buNone/>
            </a:pPr>
            <a:r>
              <a:rPr lang="en-US" sz="1100" dirty="0">
                <a:solidFill>
                  <a:srgbClr val="44536B"/>
                </a:solidFill>
                <a:latin typeface="Calibri" pitchFamily="34" charset="0"/>
                <a:ea typeface="Calibri" pitchFamily="34" charset="-122"/>
                <a:cs typeface="Calibri" pitchFamily="34" charset="-120"/>
              </a:rPr>
              <a:t>Not the document that was asked for at all.</a:t>
            </a:r>
            <a:endParaRPr lang="en-US" sz="1100" dirty="0"/>
          </a:p>
        </p:txBody>
      </p:sp>
      <p:sp>
        <p:nvSpPr>
          <p:cNvPr id="18" name="Text 16"/>
          <p:cNvSpPr/>
          <p:nvPr/>
        </p:nvSpPr>
        <p:spPr>
          <a:xfrm>
            <a:off x="758952" y="3913632"/>
            <a:ext cx="5074920" cy="822960"/>
          </a:xfrm>
          <a:prstGeom prst="rect">
            <a:avLst/>
          </a:prstGeom>
          <a:noFill/>
          <a:ln/>
        </p:spPr>
        <p:txBody>
          <a:bodyPr wrap="square" lIns="0" tIns="0" rIns="0" bIns="0" rtlCol="0" anchor="ctr"/>
          <a:lstStyle/>
          <a:p>
            <a:pPr indent="0" marL="0">
              <a:lnSpc>
                <a:spcPts val="1700"/>
              </a:lnSpc>
              <a:buNone/>
            </a:pPr>
            <a:r>
              <a:rPr lang="en-US" sz="1200" dirty="0">
                <a:solidFill>
                  <a:srgbClr val="44536B"/>
                </a:solidFill>
                <a:latin typeface="Calibri" pitchFamily="34" charset="0"/>
                <a:ea typeface="Calibri" pitchFamily="34" charset="-122"/>
                <a:cs typeface="Calibri" pitchFamily="34" charset="-120"/>
              </a:rPr>
              <a:t>Suspect and wrong-document never block a submission. They soften the confidence band, flag the case to your officer, and send the student a specific nudge — “we can’t see the QR code at the bottom; please upload the full slip.”</a:t>
            </a:r>
            <a:endParaRPr lang="en-US" sz="1200" dirty="0"/>
          </a:p>
        </p:txBody>
      </p:sp>
      <p:sp>
        <p:nvSpPr>
          <p:cNvPr id="19" name="Shape 17"/>
          <p:cNvSpPr/>
          <p:nvPr/>
        </p:nvSpPr>
        <p:spPr>
          <a:xfrm>
            <a:off x="502920" y="4828032"/>
            <a:ext cx="5440680" cy="1371600"/>
          </a:xfrm>
          <a:prstGeom prst="roundRect">
            <a:avLst>
              <a:gd name="adj" fmla="val 3333"/>
            </a:avLst>
          </a:prstGeom>
          <a:solidFill>
            <a:srgbClr val="EAF1FB"/>
          </a:solidFill>
          <a:ln w="12700">
            <a:solidFill>
              <a:srgbClr val="D3E2F7"/>
            </a:solidFill>
            <a:prstDash val="solid"/>
          </a:ln>
        </p:spPr>
      </p:sp>
      <p:sp>
        <p:nvSpPr>
          <p:cNvPr id="20" name="Text 18"/>
          <p:cNvSpPr/>
          <p:nvPr/>
        </p:nvSpPr>
        <p:spPr>
          <a:xfrm>
            <a:off x="758952" y="4992624"/>
            <a:ext cx="4928616" cy="256032"/>
          </a:xfrm>
          <a:prstGeom prst="rect">
            <a:avLst/>
          </a:prstGeom>
          <a:noFill/>
          <a:ln/>
        </p:spPr>
        <p:txBody>
          <a:bodyPr wrap="square" lIns="0" tIns="0" rIns="0" bIns="0" rtlCol="0" anchor="ctr"/>
          <a:lstStyle/>
          <a:p>
            <a:pPr indent="0" marL="0">
              <a:buNone/>
            </a:pPr>
            <a:r>
              <a:rPr lang="en-US" sz="1200" b="1" dirty="0">
                <a:solidFill>
                  <a:srgbClr val="137FEC"/>
                </a:solidFill>
                <a:latin typeface="Calibri" pitchFamily="34" charset="0"/>
                <a:ea typeface="Calibri" pitchFamily="34" charset="-122"/>
                <a:cs typeface="Calibri" pitchFamily="34" charset="-120"/>
              </a:rPr>
              <a:t>The verifiable-anchors standard</a:t>
            </a:r>
            <a:endParaRPr lang="en-US" sz="1200" dirty="0"/>
          </a:p>
        </p:txBody>
      </p:sp>
      <p:sp>
        <p:nvSpPr>
          <p:cNvPr id="21" name="Text 19"/>
          <p:cNvSpPr/>
          <p:nvPr/>
        </p:nvSpPr>
        <p:spPr>
          <a:xfrm>
            <a:off x="758952" y="5266944"/>
            <a:ext cx="4983480" cy="822960"/>
          </a:xfrm>
          <a:prstGeom prst="rect">
            <a:avLst/>
          </a:prstGeom>
          <a:noFill/>
          <a:ln/>
        </p:spPr>
        <p:txBody>
          <a:bodyPr wrap="square" lIns="0" tIns="0" rIns="0" bIns="0" rtlCol="0" anchor="ctr"/>
          <a:lstStyle/>
          <a:p>
            <a:pPr indent="0" marL="0">
              <a:lnSpc>
                <a:spcPts val="1600"/>
              </a:lnSpc>
              <a:buNone/>
            </a:pPr>
            <a:r>
              <a:rPr lang="en-US" sz="1150" dirty="0">
                <a:solidFill>
                  <a:srgbClr val="44536B"/>
                </a:solidFill>
                <a:latin typeface="Calibri" pitchFamily="34" charset="0"/>
                <a:ea typeface="Calibri" pitchFamily="34" charset="-122"/>
                <a:cs typeface="Calibri" pitchFamily="34" charset="-120"/>
              </a:rPr>
              <a:t>We would not accept an identity card with the face or the chip cut off. The same standard applies to a results slip missing its QR code, serial number or Director’s signature — those are its anchors. A cropped upload is not a penalty; it is an honest request for the complete copy.</a:t>
            </a:r>
            <a:endParaRPr lang="en-US" sz="1150" dirty="0"/>
          </a:p>
        </p:txBody>
      </p:sp>
      <p:sp>
        <p:nvSpPr>
          <p:cNvPr id="22" name="Shape 20"/>
          <p:cNvSpPr/>
          <p:nvPr/>
        </p:nvSpPr>
        <p:spPr>
          <a:xfrm>
            <a:off x="6263640" y="1481328"/>
            <a:ext cx="5422392" cy="2231136"/>
          </a:xfrm>
          <a:prstGeom prst="roundRect">
            <a:avLst>
              <a:gd name="adj" fmla="val 2049"/>
            </a:avLst>
          </a:prstGeom>
          <a:solidFill>
            <a:srgbClr val="FFFFFF"/>
          </a:solidFill>
          <a:ln w="12700">
            <a:solidFill>
              <a:srgbClr val="DDE6F2"/>
            </a:solidFill>
            <a:prstDash val="solid"/>
          </a:ln>
          <a:effectLst>
            <a:outerShdw sx="100000" sy="100000" kx="0" ky="0" algn="bl" rotWithShape="0" blurRad="127000" dist="25400" dir="5400000">
              <a:srgbClr val="0B1B33">
                <a:alpha val="10000"/>
              </a:srgbClr>
            </a:outerShdw>
          </a:effectLst>
        </p:spPr>
      </p:sp>
      <p:sp>
        <p:nvSpPr>
          <p:cNvPr id="23" name="Text 21"/>
          <p:cNvSpPr/>
          <p:nvPr/>
        </p:nvSpPr>
        <p:spPr>
          <a:xfrm>
            <a:off x="6519672" y="1664208"/>
            <a:ext cx="4910328" cy="274320"/>
          </a:xfrm>
          <a:prstGeom prst="rect">
            <a:avLst/>
          </a:prstGeom>
          <a:noFill/>
          <a:ln/>
        </p:spPr>
        <p:txBody>
          <a:bodyPr wrap="square" lIns="0" tIns="0" rIns="0" bIns="0" rtlCol="0" anchor="ctr"/>
          <a:lstStyle/>
          <a:p>
            <a:pPr indent="0" marL="0">
              <a:buNone/>
            </a:pPr>
            <a:r>
              <a:rPr lang="en-US" sz="1200" b="1" dirty="0">
                <a:solidFill>
                  <a:srgbClr val="0B1B33"/>
                </a:solidFill>
                <a:latin typeface="Calibri" pitchFamily="34" charset="0"/>
                <a:ea typeface="Calibri" pitchFamily="34" charset="-122"/>
                <a:cs typeface="Calibri" pitchFamily="34" charset="-120"/>
              </a:rPr>
              <a:t>Calibrated against real documents, not a demo</a:t>
            </a:r>
            <a:endParaRPr lang="en-US" sz="1200" dirty="0"/>
          </a:p>
        </p:txBody>
      </p:sp>
      <p:sp>
        <p:nvSpPr>
          <p:cNvPr id="24" name="Text 22"/>
          <p:cNvSpPr/>
          <p:nvPr/>
        </p:nvSpPr>
        <p:spPr>
          <a:xfrm>
            <a:off x="6519672" y="1956816"/>
            <a:ext cx="4965192" cy="1664208"/>
          </a:xfrm>
          <a:prstGeom prst="rect">
            <a:avLst/>
          </a:prstGeom>
          <a:noFill/>
          <a:ln/>
        </p:spPr>
        <p:txBody>
          <a:bodyPr wrap="square" lIns="0" tIns="0" rIns="0" bIns="0" rtlCol="0" anchor="t"/>
          <a:lstStyle/>
          <a:p>
            <a:pPr indent="0" marL="0">
              <a:lnSpc>
                <a:spcPts val="1600"/>
              </a:lnSpc>
              <a:spcAft>
                <a:spcPts val="600"/>
              </a:spcAft>
              <a:buNone/>
            </a:pPr>
            <a:r>
              <a:rPr lang="en-US" sz="1150" b="1" dirty="0">
                <a:solidFill>
                  <a:srgbClr val="0B1B33"/>
                </a:solidFill>
                <a:latin typeface="Calibri" pitchFamily="34" charset="0"/>
                <a:ea typeface="Calibri" pitchFamily="34" charset="-122"/>
                <a:cs typeface="Calibri" pitchFamily="34" charset="-120"/>
              </a:rPr>
              <a:t>48 results slips</a:t>
            </a:r>
            <a:pPr indent="0" marL="0">
              <a:lnSpc>
                <a:spcPts val="1600"/>
              </a:lnSpc>
              <a:spcAft>
                <a:spcPts val="600"/>
              </a:spcAft>
              <a:buNone/>
            </a:pPr>
            <a:r>
              <a:rPr lang="en-US" sz="1150" dirty="0">
                <a:solidFill>
                  <a:srgbClr val="44536B"/>
                </a:solidFill>
                <a:latin typeface="Calibri" pitchFamily="34" charset="0"/>
                <a:ea typeface="Calibri" pitchFamily="34" charset="-122"/>
                <a:cs typeface="Calibri" pitchFamily="34" charset="-120"/>
              </a:rPr>
              <a:t> — 46 genuine at 0.56–0.80; a typed fake at 0.04.</a:t>
            </a:r>
            <a:endParaRPr lang="en-US" sz="1150" dirty="0"/>
          </a:p>
          <a:p>
            <a:pPr indent="0" marL="0">
              <a:lnSpc>
                <a:spcPts val="1600"/>
              </a:lnSpc>
              <a:spcAft>
                <a:spcPts val="600"/>
              </a:spcAft>
              <a:buNone/>
            </a:pPr>
            <a:r>
              <a:rPr lang="en-US" sz="1150" b="1" dirty="0">
                <a:solidFill>
                  <a:srgbClr val="0B1B33"/>
                </a:solidFill>
                <a:latin typeface="Calibri" pitchFamily="34" charset="0"/>
                <a:ea typeface="Calibri" pitchFamily="34" charset="-122"/>
                <a:cs typeface="Calibri" pitchFamily="34" charset="-120"/>
              </a:rPr>
              <a:t>28 birth certificates</a:t>
            </a:r>
            <a:pPr indent="0" marL="0">
              <a:lnSpc>
                <a:spcPts val="1600"/>
              </a:lnSpc>
              <a:spcAft>
                <a:spcPts val="600"/>
              </a:spcAft>
              <a:buNone/>
            </a:pPr>
            <a:r>
              <a:rPr lang="en-US" sz="1150" dirty="0">
                <a:solidFill>
                  <a:srgbClr val="44536B"/>
                </a:solidFill>
                <a:latin typeface="Calibri" pitchFamily="34" charset="0"/>
                <a:ea typeface="Calibri" pitchFamily="34" charset="-122"/>
                <a:cs typeface="Calibri" pitchFamily="34" charset="-120"/>
              </a:rPr>
              <a:t> — no false positives; a cropped copy correctly flagged.</a:t>
            </a:r>
            <a:endParaRPr lang="en-US" sz="1150" dirty="0"/>
          </a:p>
          <a:p>
            <a:pPr indent="0" marL="0">
              <a:lnSpc>
                <a:spcPts val="1600"/>
              </a:lnSpc>
              <a:spcAft>
                <a:spcPts val="600"/>
              </a:spcAft>
              <a:buNone/>
            </a:pPr>
            <a:r>
              <a:rPr lang="en-US" sz="1150" b="1" dirty="0">
                <a:solidFill>
                  <a:srgbClr val="0B1B33"/>
                </a:solidFill>
                <a:latin typeface="Calibri" pitchFamily="34" charset="0"/>
                <a:ea typeface="Calibri" pitchFamily="34" charset="-122"/>
                <a:cs typeface="Calibri" pitchFamily="34" charset="-120"/>
              </a:rPr>
              <a:t>13 EPF statements</a:t>
            </a:r>
            <a:pPr indent="0" marL="0">
              <a:lnSpc>
                <a:spcPts val="1600"/>
              </a:lnSpc>
              <a:spcAft>
                <a:spcPts val="600"/>
              </a:spcAft>
              <a:buNone/>
            </a:pPr>
            <a:r>
              <a:rPr lang="en-US" sz="1150" dirty="0">
                <a:solidFill>
                  <a:srgbClr val="44536B"/>
                </a:solidFill>
                <a:latin typeface="Calibri" pitchFamily="34" charset="0"/>
                <a:ea typeface="Calibri" pitchFamily="34" charset="-122"/>
                <a:cs typeface="Calibri" pitchFamily="34" charset="-120"/>
              </a:rPr>
              <a:t> — three wrong-slot filings caught as the wrong type.</a:t>
            </a:r>
            <a:endParaRPr lang="en-US" sz="1150" dirty="0"/>
          </a:p>
          <a:p>
            <a:pPr indent="0" marL="0">
              <a:lnSpc>
                <a:spcPts val="1600"/>
              </a:lnSpc>
              <a:spcAft>
                <a:spcPts val="600"/>
              </a:spcAft>
              <a:buNone/>
            </a:pPr>
            <a:r>
              <a:rPr lang="en-US" sz="1150" b="1" dirty="0">
                <a:solidFill>
                  <a:srgbClr val="0B1B33"/>
                </a:solidFill>
                <a:latin typeface="Calibri" pitchFamily="34" charset="0"/>
                <a:ea typeface="Calibri" pitchFamily="34" charset="-122"/>
                <a:cs typeface="Calibri" pitchFamily="34" charset="-120"/>
              </a:rPr>
              <a:t>46 offer letters</a:t>
            </a:r>
            <a:pPr indent="0" marL="0">
              <a:lnSpc>
                <a:spcPts val="1600"/>
              </a:lnSpc>
              <a:spcAft>
                <a:spcPts val="600"/>
              </a:spcAft>
              <a:buNone/>
            </a:pPr>
            <a:r>
              <a:rPr lang="en-US" sz="1150" dirty="0">
                <a:solidFill>
                  <a:srgbClr val="44536B"/>
                </a:solidFill>
                <a:latin typeface="Calibri" pitchFamily="34" charset="0"/>
                <a:ea typeface="Calibri" pitchFamily="34" charset="-122"/>
                <a:cs typeface="Calibri" pitchFamily="34" charset="-120"/>
              </a:rPr>
              <a:t> — no misclassifications, plus 10 held-out live uploads.</a:t>
            </a:r>
            <a:endParaRPr lang="en-US" sz="1150" dirty="0"/>
          </a:p>
          <a:p>
            <a:pPr indent="0" marL="0">
              <a:lnSpc>
                <a:spcPts val="1600"/>
              </a:lnSpc>
              <a:spcAft>
                <a:spcPts val="600"/>
              </a:spcAft>
              <a:buNone/>
            </a:pPr>
            <a:r>
              <a:rPr lang="en-US" sz="1150" b="1" dirty="0">
                <a:solidFill>
                  <a:srgbClr val="0B1B33"/>
                </a:solidFill>
                <a:latin typeface="Calibri" pitchFamily="34" charset="0"/>
                <a:ea typeface="Calibri" pitchFamily="34" charset="-122"/>
                <a:cs typeface="Calibri" pitchFamily="34" charset="-120"/>
              </a:rPr>
              <a:t>8 fingerprints on an identity card</a:t>
            </a:r>
            <a:pPr indent="0" marL="0">
              <a:lnSpc>
                <a:spcPts val="1600"/>
              </a:lnSpc>
              <a:spcAft>
                <a:spcPts val="600"/>
              </a:spcAft>
              <a:buNone/>
            </a:pPr>
            <a:r>
              <a:rPr lang="en-US" sz="1150" dirty="0">
                <a:solidFill>
                  <a:srgbClr val="44536B"/>
                </a:solidFill>
                <a:latin typeface="Calibri" pitchFamily="34" charset="0"/>
                <a:ea typeface="Calibri" pitchFamily="34" charset="-122"/>
                <a:cs typeface="Calibri" pitchFamily="34" charset="-120"/>
              </a:rPr>
              <a:t> — the printed lines, the face, the chip, and whether it looks like a physical card at all.</a:t>
            </a:r>
            <a:endParaRPr lang="en-US" sz="1150" dirty="0"/>
          </a:p>
        </p:txBody>
      </p:sp>
      <p:sp>
        <p:nvSpPr>
          <p:cNvPr id="25" name="Shape 23"/>
          <p:cNvSpPr/>
          <p:nvPr/>
        </p:nvSpPr>
        <p:spPr>
          <a:xfrm>
            <a:off x="6263640" y="3840480"/>
            <a:ext cx="5422392" cy="1371600"/>
          </a:xfrm>
          <a:prstGeom prst="roundRect">
            <a:avLst>
              <a:gd name="adj" fmla="val 3333"/>
            </a:avLst>
          </a:prstGeom>
          <a:solidFill>
            <a:srgbClr val="FFFFFF"/>
          </a:solidFill>
          <a:ln w="12700">
            <a:solidFill>
              <a:srgbClr val="DDE6F2"/>
            </a:solidFill>
            <a:prstDash val="solid"/>
          </a:ln>
          <a:effectLst>
            <a:outerShdw sx="100000" sy="100000" kx="0" ky="0" algn="bl" rotWithShape="0" blurRad="127000" dist="25400" dir="5400000">
              <a:srgbClr val="0B1B33">
                <a:alpha val="10000"/>
              </a:srgbClr>
            </a:outerShdw>
          </a:effectLst>
        </p:spPr>
      </p:sp>
      <p:sp>
        <p:nvSpPr>
          <p:cNvPr id="26" name="Text 24"/>
          <p:cNvSpPr/>
          <p:nvPr/>
        </p:nvSpPr>
        <p:spPr>
          <a:xfrm>
            <a:off x="6519672" y="3986784"/>
            <a:ext cx="4965192" cy="256032"/>
          </a:xfrm>
          <a:prstGeom prst="rect">
            <a:avLst/>
          </a:prstGeom>
          <a:noFill/>
          <a:ln/>
        </p:spPr>
        <p:txBody>
          <a:bodyPr wrap="square" lIns="0" tIns="0" rIns="0" bIns="0" rtlCol="0" anchor="t"/>
          <a:lstStyle/>
          <a:p>
            <a:pPr indent="0" marL="0">
              <a:buNone/>
            </a:pPr>
            <a:r>
              <a:rPr lang="en-US" sz="1200" b="1" dirty="0">
                <a:solidFill>
                  <a:srgbClr val="0B1B33"/>
                </a:solidFill>
                <a:latin typeface="Calibri" pitchFamily="34" charset="0"/>
                <a:ea typeface="Calibri" pitchFamily="34" charset="-122"/>
                <a:cs typeface="Calibri" pitchFamily="34" charset="-120"/>
              </a:rPr>
              <a:t>Worked example — reading an income out of an EPF statement</a:t>
            </a:r>
            <a:endParaRPr lang="en-US" sz="1200" dirty="0"/>
          </a:p>
        </p:txBody>
      </p:sp>
      <p:sp>
        <p:nvSpPr>
          <p:cNvPr id="27" name="Text 25"/>
          <p:cNvSpPr/>
          <p:nvPr/>
        </p:nvSpPr>
        <p:spPr>
          <a:xfrm>
            <a:off x="6519672" y="4261104"/>
            <a:ext cx="4965192" cy="256032"/>
          </a:xfrm>
          <a:prstGeom prst="rect">
            <a:avLst/>
          </a:prstGeom>
          <a:noFill/>
          <a:ln/>
        </p:spPr>
        <p:txBody>
          <a:bodyPr wrap="square" lIns="0" tIns="0" rIns="0" bIns="0" rtlCol="0" anchor="t"/>
          <a:lstStyle/>
          <a:p>
            <a:pPr indent="0" marL="0">
              <a:buNone/>
            </a:pPr>
            <a:r>
              <a:rPr lang="en-US" sz="950" b="1" dirty="0">
                <a:solidFill>
                  <a:srgbClr val="0B5AAD"/>
                </a:solidFill>
                <a:latin typeface="Courier New" pitchFamily="34" charset="0"/>
                <a:ea typeface="Courier New" pitchFamily="34" charset="-122"/>
                <a:cs typeface="Courier New" pitchFamily="34" charset="-120"/>
              </a:rPr>
              <a:t>salary = max( Σ employer ÷ (n × 0.13), Σ employee ÷ (n × 0.11) )</a:t>
            </a:r>
            <a:endParaRPr lang="en-US" sz="950" dirty="0"/>
          </a:p>
        </p:txBody>
      </p:sp>
      <p:sp>
        <p:nvSpPr>
          <p:cNvPr id="28" name="Text 26"/>
          <p:cNvSpPr/>
          <p:nvPr/>
        </p:nvSpPr>
        <p:spPr>
          <a:xfrm>
            <a:off x="6519672" y="4535424"/>
            <a:ext cx="4965192" cy="603504"/>
          </a:xfrm>
          <a:prstGeom prst="rect">
            <a:avLst/>
          </a:prstGeom>
          <a:noFill/>
          <a:ln/>
        </p:spPr>
        <p:txBody>
          <a:bodyPr wrap="square" lIns="0" tIns="0" rIns="0" bIns="0" rtlCol="0" anchor="t"/>
          <a:lstStyle/>
          <a:p>
            <a:pPr indent="0" marL="0">
              <a:lnSpc>
                <a:spcPts val="1400"/>
              </a:lnSpc>
              <a:buNone/>
            </a:pPr>
            <a:r>
              <a:rPr lang="en-US" sz="1050" dirty="0">
                <a:solidFill>
                  <a:srgbClr val="44536B"/>
                </a:solidFill>
                <a:latin typeface="Calibri" pitchFamily="34" charset="0"/>
                <a:ea typeface="Calibri" pitchFamily="34" charset="-122"/>
                <a:cs typeface="Calibri" pitchFamily="34" charset="-120"/>
              </a:rPr>
              <a:t>The statutory rates are fixed, so the two terms confirm each other and the higher stays correct across salary tiers. Unemployment is read from exactly one signal — an employer number of all zeros — never inferred from an absence.</a:t>
            </a:r>
            <a:endParaRPr lang="en-US" sz="1050" dirty="0"/>
          </a:p>
        </p:txBody>
      </p:sp>
      <p:sp>
        <p:nvSpPr>
          <p:cNvPr id="29" name="Shape 27"/>
          <p:cNvSpPr/>
          <p:nvPr/>
        </p:nvSpPr>
        <p:spPr>
          <a:xfrm>
            <a:off x="6263640" y="5340096"/>
            <a:ext cx="5422392" cy="859536"/>
          </a:xfrm>
          <a:prstGeom prst="roundRect">
            <a:avLst>
              <a:gd name="adj" fmla="val 5319"/>
            </a:avLst>
          </a:prstGeom>
          <a:solidFill>
            <a:srgbClr val="FBF3E4"/>
          </a:solidFill>
          <a:ln w="12700">
            <a:solidFill>
              <a:srgbClr val="E8A33D"/>
            </a:solidFill>
            <a:prstDash val="solid"/>
          </a:ln>
        </p:spPr>
      </p:sp>
      <p:sp>
        <p:nvSpPr>
          <p:cNvPr id="30" name="Text 28"/>
          <p:cNvSpPr/>
          <p:nvPr/>
        </p:nvSpPr>
        <p:spPr>
          <a:xfrm>
            <a:off x="6519672" y="5449824"/>
            <a:ext cx="4965192" cy="640080"/>
          </a:xfrm>
          <a:prstGeom prst="rect">
            <a:avLst/>
          </a:prstGeom>
          <a:noFill/>
          <a:ln/>
        </p:spPr>
        <p:txBody>
          <a:bodyPr wrap="square" lIns="0" tIns="0" rIns="0" bIns="0" rtlCol="0" anchor="ctr"/>
          <a:lstStyle/>
          <a:p>
            <a:pPr indent="0" marL="0">
              <a:lnSpc>
                <a:spcPts val="1400"/>
              </a:lnSpc>
              <a:buNone/>
            </a:pPr>
            <a:r>
              <a:rPr lang="en-US" sz="1050" b="1" dirty="0">
                <a:solidFill>
                  <a:srgbClr val="8A5D12"/>
                </a:solidFill>
                <a:latin typeface="Calibri" pitchFamily="34" charset="0"/>
                <a:ea typeface="Calibri" pitchFamily="34" charset="-122"/>
                <a:cs typeface="Calibri" pitchFamily="34" charset="-120"/>
              </a:rPr>
              <a:t>What we do not claim.  </a:t>
            </a:r>
            <a:pPr indent="0" marL="0">
              <a:lnSpc>
                <a:spcPts val="1400"/>
              </a:lnSpc>
              <a:buNone/>
            </a:pPr>
            <a:r>
              <a:rPr lang="en-US" sz="1050" dirty="0">
                <a:solidFill>
                  <a:srgbClr val="6B4A11"/>
                </a:solidFill>
                <a:latin typeface="Calibri" pitchFamily="34" charset="0"/>
                <a:ea typeface="Calibri" pitchFamily="34" charset="-122"/>
                <a:cs typeface="Calibri" pitchFamily="34" charset="-120"/>
              </a:rPr>
              <a:t>This is built against casual and wrong-document uploads, not a determined forger. We check that a QR code is present; we do not verify it against a government record.</a:t>
            </a:r>
            <a:endParaRPr lang="en-US" sz="1050" dirty="0"/>
          </a:p>
        </p:txBody>
      </p:sp>
      <p:sp>
        <p:nvSpPr>
          <p:cNvPr id="31" name="Text 29"/>
          <p:cNvSpPr/>
          <p:nvPr/>
        </p:nvSpPr>
        <p:spPr>
          <a:xfrm>
            <a:off x="11277295" y="6382512"/>
            <a:ext cx="411480" cy="256032"/>
          </a:xfrm>
          <a:prstGeom prst="rect">
            <a:avLst/>
          </a:prstGeom>
          <a:noFill/>
          <a:ln/>
        </p:spPr>
        <p:txBody>
          <a:bodyPr wrap="square" lIns="0" tIns="0" rIns="0" bIns="0" rtlCol="0" anchor="ctr"/>
          <a:lstStyle/>
          <a:p>
            <a:pPr algn="r" indent="0" marL="0">
              <a:buNone/>
            </a:pPr>
            <a:r>
              <a:rPr lang="en-US" sz="1000" dirty="0">
                <a:solidFill>
                  <a:srgbClr val="7C8CA1"/>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384048"/>
            <a:ext cx="11185855" cy="237744"/>
          </a:xfrm>
          <a:prstGeom prst="rect">
            <a:avLst/>
          </a:prstGeom>
          <a:noFill/>
          <a:ln/>
        </p:spPr>
        <p:txBody>
          <a:bodyPr wrap="square" lIns="0" tIns="0" rIns="0" bIns="0" rtlCol="0" anchor="ctr"/>
          <a:lstStyle/>
          <a:p>
            <a:pPr indent="0" marL="0">
              <a:buNone/>
            </a:pPr>
            <a:r>
              <a:rPr lang="en-US" sz="1100" b="1" spc="200" kern="0" dirty="0">
                <a:solidFill>
                  <a:srgbClr val="137FEC"/>
                </a:solidFill>
                <a:latin typeface="Calibri" pitchFamily="34" charset="0"/>
                <a:ea typeface="Calibri" pitchFamily="34" charset="-122"/>
                <a:cs typeface="Calibri" pitchFamily="34" charset="-120"/>
              </a:rPr>
              <a:t>GOVERNANCE</a:t>
            </a:r>
            <a:endParaRPr lang="en-US" sz="1100" dirty="0"/>
          </a:p>
        </p:txBody>
      </p:sp>
      <p:sp>
        <p:nvSpPr>
          <p:cNvPr id="3" name="Text 1"/>
          <p:cNvSpPr/>
          <p:nvPr/>
        </p:nvSpPr>
        <p:spPr>
          <a:xfrm>
            <a:off x="502920" y="658368"/>
            <a:ext cx="11185855" cy="658368"/>
          </a:xfrm>
          <a:prstGeom prst="rect">
            <a:avLst/>
          </a:prstGeom>
          <a:noFill/>
          <a:ln/>
        </p:spPr>
        <p:txBody>
          <a:bodyPr wrap="square" lIns="0" tIns="0" rIns="0" bIns="0" rtlCol="0" anchor="t"/>
          <a:lstStyle/>
          <a:p>
            <a:pPr indent="0" marL="0">
              <a:buNone/>
            </a:pPr>
            <a:r>
              <a:rPr lang="en-US" sz="3000" b="1" dirty="0">
                <a:solidFill>
                  <a:srgbClr val="0B1B33"/>
                </a:solidFill>
                <a:latin typeface="Cambria" pitchFamily="34" charset="0"/>
                <a:ea typeface="Cambria" pitchFamily="34" charset="-122"/>
                <a:cs typeface="Cambria" pitchFamily="34" charset="-120"/>
              </a:rPr>
              <a:t>The controls your board would ask about</a:t>
            </a:r>
            <a:endParaRPr lang="en-US" sz="3000" dirty="0"/>
          </a:p>
        </p:txBody>
      </p:sp>
      <p:sp>
        <p:nvSpPr>
          <p:cNvPr id="4" name="Shape 2"/>
          <p:cNvSpPr/>
          <p:nvPr/>
        </p:nvSpPr>
        <p:spPr>
          <a:xfrm>
            <a:off x="502920" y="1481328"/>
            <a:ext cx="5428336" cy="1298448"/>
          </a:xfrm>
          <a:prstGeom prst="roundRect">
            <a:avLst>
              <a:gd name="adj" fmla="val 3521"/>
            </a:avLst>
          </a:prstGeom>
          <a:solidFill>
            <a:srgbClr val="FFFFFF"/>
          </a:solidFill>
          <a:ln w="12700">
            <a:solidFill>
              <a:srgbClr val="DDE6F2"/>
            </a:solidFill>
            <a:prstDash val="solid"/>
          </a:ln>
          <a:effectLst>
            <a:outerShdw sx="100000" sy="100000" kx="0" ky="0" algn="bl" rotWithShape="0" blurRad="127000" dist="25400" dir="5400000">
              <a:srgbClr val="0B1B33">
                <a:alpha val="10000"/>
              </a:srgbClr>
            </a:outerShdw>
          </a:effectLst>
        </p:spPr>
      </p:sp>
      <p:sp>
        <p:nvSpPr>
          <p:cNvPr id="5" name="Shape 3"/>
          <p:cNvSpPr/>
          <p:nvPr/>
        </p:nvSpPr>
        <p:spPr>
          <a:xfrm>
            <a:off x="758952" y="1737360"/>
            <a:ext cx="329184" cy="329184"/>
          </a:xfrm>
          <a:prstGeom prst="ellipse">
            <a:avLst/>
          </a:prstGeom>
          <a:solidFill>
            <a:srgbClr val="137FEC"/>
          </a:solidFill>
          <a:ln/>
        </p:spPr>
      </p:sp>
      <p:sp>
        <p:nvSpPr>
          <p:cNvPr id="6" name="Text 4"/>
          <p:cNvSpPr/>
          <p:nvPr/>
        </p:nvSpPr>
        <p:spPr>
          <a:xfrm>
            <a:off x="758952" y="1737360"/>
            <a:ext cx="329184"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7" name="Text 5"/>
          <p:cNvSpPr/>
          <p:nvPr/>
        </p:nvSpPr>
        <p:spPr>
          <a:xfrm>
            <a:off x="1216152" y="1719072"/>
            <a:ext cx="4459072" cy="292608"/>
          </a:xfrm>
          <a:prstGeom prst="rect">
            <a:avLst/>
          </a:prstGeom>
          <a:noFill/>
          <a:ln/>
        </p:spPr>
        <p:txBody>
          <a:bodyPr wrap="square" lIns="0" tIns="0" rIns="0" bIns="0" rtlCol="0" anchor="ctr"/>
          <a:lstStyle/>
          <a:p>
            <a:pPr indent="0" marL="0">
              <a:buNone/>
            </a:pPr>
            <a:r>
              <a:rPr lang="en-US" sz="1300" b="1" dirty="0">
                <a:solidFill>
                  <a:srgbClr val="0B1B33"/>
                </a:solidFill>
                <a:latin typeface="Calibri" pitchFamily="34" charset="0"/>
                <a:ea typeface="Calibri" pitchFamily="34" charset="-122"/>
                <a:cs typeface="Calibri" pitchFamily="34" charset="-120"/>
              </a:rPr>
              <a:t>Two-person control</a:t>
            </a:r>
            <a:endParaRPr lang="en-US" sz="1300" dirty="0"/>
          </a:p>
        </p:txBody>
      </p:sp>
      <p:sp>
        <p:nvSpPr>
          <p:cNvPr id="8" name="Text 6"/>
          <p:cNvSpPr/>
          <p:nvPr/>
        </p:nvSpPr>
        <p:spPr>
          <a:xfrm>
            <a:off x="1216152" y="2048256"/>
            <a:ext cx="4513936" cy="640080"/>
          </a:xfrm>
          <a:prstGeom prst="rect">
            <a:avLst/>
          </a:prstGeom>
          <a:noFill/>
          <a:ln/>
        </p:spPr>
        <p:txBody>
          <a:bodyPr wrap="square" lIns="0" tIns="0" rIns="0" bIns="0" rtlCol="0" anchor="t"/>
          <a:lstStyle/>
          <a:p>
            <a:pPr indent="0" marL="0">
              <a:lnSpc>
                <a:spcPts val="1500"/>
              </a:lnSpc>
              <a:buNone/>
            </a:pPr>
            <a:r>
              <a:rPr lang="en-US" sz="1100" dirty="0">
                <a:solidFill>
                  <a:srgbClr val="44536B"/>
                </a:solidFill>
                <a:latin typeface="Calibri" pitchFamily="34" charset="0"/>
                <a:ea typeface="Calibri" pitchFamily="34" charset="-122"/>
                <a:cs typeface="Calibri" pitchFamily="34" charset="-120"/>
              </a:rPr>
              <a:t>Whoever records a verdict can never quality-control that same case. The assigned reviewer can never QC their own work. This applies to the organisation administrator too.</a:t>
            </a:r>
            <a:endParaRPr lang="en-US" sz="1100" dirty="0"/>
          </a:p>
        </p:txBody>
      </p:sp>
      <p:sp>
        <p:nvSpPr>
          <p:cNvPr id="9" name="Shape 7"/>
          <p:cNvSpPr/>
          <p:nvPr/>
        </p:nvSpPr>
        <p:spPr>
          <a:xfrm>
            <a:off x="6260440" y="1481328"/>
            <a:ext cx="5428336" cy="1298448"/>
          </a:xfrm>
          <a:prstGeom prst="roundRect">
            <a:avLst>
              <a:gd name="adj" fmla="val 3521"/>
            </a:avLst>
          </a:prstGeom>
          <a:solidFill>
            <a:srgbClr val="FFFFFF"/>
          </a:solidFill>
          <a:ln w="12700">
            <a:solidFill>
              <a:srgbClr val="DDE6F2"/>
            </a:solidFill>
            <a:prstDash val="solid"/>
          </a:ln>
          <a:effectLst>
            <a:outerShdw sx="100000" sy="100000" kx="0" ky="0" algn="bl" rotWithShape="0" blurRad="127000" dist="25400" dir="5400000">
              <a:srgbClr val="0B1B33">
                <a:alpha val="10000"/>
              </a:srgbClr>
            </a:outerShdw>
          </a:effectLst>
        </p:spPr>
      </p:sp>
      <p:sp>
        <p:nvSpPr>
          <p:cNvPr id="10" name="Shape 8"/>
          <p:cNvSpPr/>
          <p:nvPr/>
        </p:nvSpPr>
        <p:spPr>
          <a:xfrm>
            <a:off x="6516472" y="1737360"/>
            <a:ext cx="329184" cy="329184"/>
          </a:xfrm>
          <a:prstGeom prst="ellipse">
            <a:avLst/>
          </a:prstGeom>
          <a:solidFill>
            <a:srgbClr val="137FEC"/>
          </a:solidFill>
          <a:ln/>
        </p:spPr>
      </p:sp>
      <p:sp>
        <p:nvSpPr>
          <p:cNvPr id="11" name="Text 9"/>
          <p:cNvSpPr/>
          <p:nvPr/>
        </p:nvSpPr>
        <p:spPr>
          <a:xfrm>
            <a:off x="6516472" y="1737360"/>
            <a:ext cx="329184"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2" name="Text 10"/>
          <p:cNvSpPr/>
          <p:nvPr/>
        </p:nvSpPr>
        <p:spPr>
          <a:xfrm>
            <a:off x="6973672" y="1719072"/>
            <a:ext cx="4459072" cy="292608"/>
          </a:xfrm>
          <a:prstGeom prst="rect">
            <a:avLst/>
          </a:prstGeom>
          <a:noFill/>
          <a:ln/>
        </p:spPr>
        <p:txBody>
          <a:bodyPr wrap="square" lIns="0" tIns="0" rIns="0" bIns="0" rtlCol="0" anchor="ctr"/>
          <a:lstStyle/>
          <a:p>
            <a:pPr indent="0" marL="0">
              <a:buNone/>
            </a:pPr>
            <a:r>
              <a:rPr lang="en-US" sz="1300" b="1" dirty="0">
                <a:solidFill>
                  <a:srgbClr val="0B1B33"/>
                </a:solidFill>
                <a:latin typeface="Calibri" pitchFamily="34" charset="0"/>
                <a:ea typeface="Calibri" pitchFamily="34" charset="-122"/>
                <a:cs typeface="Calibri" pitchFamily="34" charset="-120"/>
              </a:rPr>
              <a:t>The audit gate</a:t>
            </a:r>
            <a:endParaRPr lang="en-US" sz="1300" dirty="0"/>
          </a:p>
        </p:txBody>
      </p:sp>
      <p:sp>
        <p:nvSpPr>
          <p:cNvPr id="13" name="Text 11"/>
          <p:cNvSpPr/>
          <p:nvPr/>
        </p:nvSpPr>
        <p:spPr>
          <a:xfrm>
            <a:off x="6973672" y="2048256"/>
            <a:ext cx="4513936" cy="640080"/>
          </a:xfrm>
          <a:prstGeom prst="rect">
            <a:avLst/>
          </a:prstGeom>
          <a:noFill/>
          <a:ln/>
        </p:spPr>
        <p:txBody>
          <a:bodyPr wrap="square" lIns="0" tIns="0" rIns="0" bIns="0" rtlCol="0" anchor="t"/>
          <a:lstStyle/>
          <a:p>
            <a:pPr indent="0" marL="0">
              <a:lnSpc>
                <a:spcPts val="1500"/>
              </a:lnSpc>
              <a:buNone/>
            </a:pPr>
            <a:r>
              <a:rPr lang="en-US" sz="1100" dirty="0">
                <a:solidFill>
                  <a:srgbClr val="44536B"/>
                </a:solidFill>
                <a:latin typeface="Calibri" pitchFamily="34" charset="0"/>
                <a:ea typeface="Calibri" pitchFamily="34" charset="-122"/>
                <a:cs typeface="Calibri" pitchFamily="34" charset="-120"/>
              </a:rPr>
              <a:t>A case cannot be accepted or closed until the reviewer's own pass or fail against each of the four facts is on record. There is no override — not even for a platform superadmin.</a:t>
            </a:r>
            <a:endParaRPr lang="en-US" sz="1100" dirty="0"/>
          </a:p>
        </p:txBody>
      </p:sp>
      <p:sp>
        <p:nvSpPr>
          <p:cNvPr id="14" name="Shape 12"/>
          <p:cNvSpPr/>
          <p:nvPr/>
        </p:nvSpPr>
        <p:spPr>
          <a:xfrm>
            <a:off x="502920" y="2999232"/>
            <a:ext cx="5428336" cy="1298448"/>
          </a:xfrm>
          <a:prstGeom prst="roundRect">
            <a:avLst>
              <a:gd name="adj" fmla="val 3521"/>
            </a:avLst>
          </a:prstGeom>
          <a:solidFill>
            <a:srgbClr val="FFFFFF"/>
          </a:solidFill>
          <a:ln w="12700">
            <a:solidFill>
              <a:srgbClr val="DDE6F2"/>
            </a:solidFill>
            <a:prstDash val="solid"/>
          </a:ln>
          <a:effectLst>
            <a:outerShdw sx="100000" sy="100000" kx="0" ky="0" algn="bl" rotWithShape="0" blurRad="127000" dist="25400" dir="5400000">
              <a:srgbClr val="0B1B33">
                <a:alpha val="10000"/>
              </a:srgbClr>
            </a:outerShdw>
          </a:effectLst>
        </p:spPr>
      </p:sp>
      <p:sp>
        <p:nvSpPr>
          <p:cNvPr id="15" name="Shape 13"/>
          <p:cNvSpPr/>
          <p:nvPr/>
        </p:nvSpPr>
        <p:spPr>
          <a:xfrm>
            <a:off x="758952" y="3255264"/>
            <a:ext cx="329184" cy="329184"/>
          </a:xfrm>
          <a:prstGeom prst="ellipse">
            <a:avLst/>
          </a:prstGeom>
          <a:solidFill>
            <a:srgbClr val="137FEC"/>
          </a:solidFill>
          <a:ln/>
        </p:spPr>
      </p:sp>
      <p:sp>
        <p:nvSpPr>
          <p:cNvPr id="16" name="Text 14"/>
          <p:cNvSpPr/>
          <p:nvPr/>
        </p:nvSpPr>
        <p:spPr>
          <a:xfrm>
            <a:off x="758952" y="3255264"/>
            <a:ext cx="329184"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Text 15"/>
          <p:cNvSpPr/>
          <p:nvPr/>
        </p:nvSpPr>
        <p:spPr>
          <a:xfrm>
            <a:off x="1216152" y="3236976"/>
            <a:ext cx="4459072" cy="292608"/>
          </a:xfrm>
          <a:prstGeom prst="rect">
            <a:avLst/>
          </a:prstGeom>
          <a:noFill/>
          <a:ln/>
        </p:spPr>
        <p:txBody>
          <a:bodyPr wrap="square" lIns="0" tIns="0" rIns="0" bIns="0" rtlCol="0" anchor="ctr"/>
          <a:lstStyle/>
          <a:p>
            <a:pPr indent="0" marL="0">
              <a:buNone/>
            </a:pPr>
            <a:r>
              <a:rPr lang="en-US" sz="1300" b="1" dirty="0">
                <a:solidFill>
                  <a:srgbClr val="0B1B33"/>
                </a:solidFill>
                <a:latin typeface="Calibri" pitchFamily="34" charset="0"/>
                <a:ea typeface="Calibri" pitchFamily="34" charset="-122"/>
                <a:cs typeface="Calibri" pitchFamily="34" charset="-120"/>
              </a:rPr>
              <a:t>Payer is not decider</a:t>
            </a:r>
            <a:endParaRPr lang="en-US" sz="1300" dirty="0"/>
          </a:p>
        </p:txBody>
      </p:sp>
      <p:sp>
        <p:nvSpPr>
          <p:cNvPr id="18" name="Text 16"/>
          <p:cNvSpPr/>
          <p:nvPr/>
        </p:nvSpPr>
        <p:spPr>
          <a:xfrm>
            <a:off x="1216152" y="3566160"/>
            <a:ext cx="4513936" cy="640080"/>
          </a:xfrm>
          <a:prstGeom prst="rect">
            <a:avLst/>
          </a:prstGeom>
          <a:noFill/>
          <a:ln/>
        </p:spPr>
        <p:txBody>
          <a:bodyPr wrap="square" lIns="0" tIns="0" rIns="0" bIns="0" rtlCol="0" anchor="t"/>
          <a:lstStyle/>
          <a:p>
            <a:pPr indent="0" marL="0">
              <a:lnSpc>
                <a:spcPts val="1500"/>
              </a:lnSpc>
              <a:buNone/>
            </a:pPr>
            <a:r>
              <a:rPr lang="en-US" sz="1100" dirty="0">
                <a:solidFill>
                  <a:srgbClr val="44536B"/>
                </a:solidFill>
                <a:latin typeface="Calibri" pitchFamily="34" charset="0"/>
                <a:ea typeface="Calibri" pitchFamily="34" charset="-122"/>
                <a:cs typeface="Calibri" pitchFamily="34" charset="-120"/>
              </a:rPr>
              <a:t>The finance role holds the check on a payment run. It can refuse a run by not signing it. It can never create, edit, cancel or price one, and it sees no applicant files at all.</a:t>
            </a:r>
            <a:endParaRPr lang="en-US" sz="1100" dirty="0"/>
          </a:p>
        </p:txBody>
      </p:sp>
      <p:sp>
        <p:nvSpPr>
          <p:cNvPr id="19" name="Shape 17"/>
          <p:cNvSpPr/>
          <p:nvPr/>
        </p:nvSpPr>
        <p:spPr>
          <a:xfrm>
            <a:off x="6260440" y="2999232"/>
            <a:ext cx="5428336" cy="1298448"/>
          </a:xfrm>
          <a:prstGeom prst="roundRect">
            <a:avLst>
              <a:gd name="adj" fmla="val 3521"/>
            </a:avLst>
          </a:prstGeom>
          <a:solidFill>
            <a:srgbClr val="FFFFFF"/>
          </a:solidFill>
          <a:ln w="12700">
            <a:solidFill>
              <a:srgbClr val="DDE6F2"/>
            </a:solidFill>
            <a:prstDash val="solid"/>
          </a:ln>
          <a:effectLst>
            <a:outerShdw sx="100000" sy="100000" kx="0" ky="0" algn="bl" rotWithShape="0" blurRad="127000" dist="25400" dir="5400000">
              <a:srgbClr val="0B1B33">
                <a:alpha val="10000"/>
              </a:srgbClr>
            </a:outerShdw>
          </a:effectLst>
        </p:spPr>
      </p:sp>
      <p:sp>
        <p:nvSpPr>
          <p:cNvPr id="20" name="Shape 18"/>
          <p:cNvSpPr/>
          <p:nvPr/>
        </p:nvSpPr>
        <p:spPr>
          <a:xfrm>
            <a:off x="6516472" y="3255264"/>
            <a:ext cx="329184" cy="329184"/>
          </a:xfrm>
          <a:prstGeom prst="ellipse">
            <a:avLst/>
          </a:prstGeom>
          <a:solidFill>
            <a:srgbClr val="137FEC"/>
          </a:solidFill>
          <a:ln/>
        </p:spPr>
      </p:sp>
      <p:sp>
        <p:nvSpPr>
          <p:cNvPr id="21" name="Text 19"/>
          <p:cNvSpPr/>
          <p:nvPr/>
        </p:nvSpPr>
        <p:spPr>
          <a:xfrm>
            <a:off x="6516472" y="3255264"/>
            <a:ext cx="329184"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2" name="Text 20"/>
          <p:cNvSpPr/>
          <p:nvPr/>
        </p:nvSpPr>
        <p:spPr>
          <a:xfrm>
            <a:off x="6973672" y="3236976"/>
            <a:ext cx="4459072" cy="292608"/>
          </a:xfrm>
          <a:prstGeom prst="rect">
            <a:avLst/>
          </a:prstGeom>
          <a:noFill/>
          <a:ln/>
        </p:spPr>
        <p:txBody>
          <a:bodyPr wrap="square" lIns="0" tIns="0" rIns="0" bIns="0" rtlCol="0" anchor="ctr"/>
          <a:lstStyle/>
          <a:p>
            <a:pPr indent="0" marL="0">
              <a:buNone/>
            </a:pPr>
            <a:r>
              <a:rPr lang="en-US" sz="1300" b="1" dirty="0">
                <a:solidFill>
                  <a:srgbClr val="0B1B33"/>
                </a:solidFill>
                <a:latin typeface="Calibri" pitchFamily="34" charset="0"/>
                <a:ea typeface="Calibri" pitchFamily="34" charset="-122"/>
                <a:cs typeface="Calibri" pitchFamily="34" charset="-120"/>
              </a:rPr>
              <a:t>Nobody signs one list and sends another</a:t>
            </a:r>
            <a:endParaRPr lang="en-US" sz="1300" dirty="0"/>
          </a:p>
        </p:txBody>
      </p:sp>
      <p:sp>
        <p:nvSpPr>
          <p:cNvPr id="23" name="Text 21"/>
          <p:cNvSpPr/>
          <p:nvPr/>
        </p:nvSpPr>
        <p:spPr>
          <a:xfrm>
            <a:off x="6973672" y="3566160"/>
            <a:ext cx="4513936" cy="640080"/>
          </a:xfrm>
          <a:prstGeom prst="rect">
            <a:avLst/>
          </a:prstGeom>
          <a:noFill/>
          <a:ln/>
        </p:spPr>
        <p:txBody>
          <a:bodyPr wrap="square" lIns="0" tIns="0" rIns="0" bIns="0" rtlCol="0" anchor="t"/>
          <a:lstStyle/>
          <a:p>
            <a:pPr indent="0" marL="0">
              <a:lnSpc>
                <a:spcPts val="1500"/>
              </a:lnSpc>
              <a:buNone/>
            </a:pPr>
            <a:r>
              <a:rPr lang="en-US" sz="1100" dirty="0">
                <a:solidFill>
                  <a:srgbClr val="44536B"/>
                </a:solidFill>
                <a:latin typeface="Calibri" pitchFamily="34" charset="0"/>
                <a:ea typeface="Calibri" pitchFamily="34" charset="-122"/>
                <a:cs typeface="Calibri" pitchFamily="34" charset="-120"/>
              </a:rPr>
              <a:t>Editing an amount or an exclusion after any signature reverts the run to draft and clears every signature already collected. The chain restarts in the open.</a:t>
            </a:r>
            <a:endParaRPr lang="en-US" sz="1100" dirty="0"/>
          </a:p>
        </p:txBody>
      </p:sp>
      <p:sp>
        <p:nvSpPr>
          <p:cNvPr id="24" name="Shape 22"/>
          <p:cNvSpPr/>
          <p:nvPr/>
        </p:nvSpPr>
        <p:spPr>
          <a:xfrm>
            <a:off x="502920" y="4517136"/>
            <a:ext cx="5428336" cy="1298448"/>
          </a:xfrm>
          <a:prstGeom prst="roundRect">
            <a:avLst>
              <a:gd name="adj" fmla="val 3521"/>
            </a:avLst>
          </a:prstGeom>
          <a:solidFill>
            <a:srgbClr val="FFFFFF"/>
          </a:solidFill>
          <a:ln w="12700">
            <a:solidFill>
              <a:srgbClr val="DDE6F2"/>
            </a:solidFill>
            <a:prstDash val="solid"/>
          </a:ln>
          <a:effectLst>
            <a:outerShdw sx="100000" sy="100000" kx="0" ky="0" algn="bl" rotWithShape="0" blurRad="127000" dist="25400" dir="5400000">
              <a:srgbClr val="0B1B33">
                <a:alpha val="10000"/>
              </a:srgbClr>
            </a:outerShdw>
          </a:effectLst>
        </p:spPr>
      </p:sp>
      <p:sp>
        <p:nvSpPr>
          <p:cNvPr id="25" name="Shape 23"/>
          <p:cNvSpPr/>
          <p:nvPr/>
        </p:nvSpPr>
        <p:spPr>
          <a:xfrm>
            <a:off x="758952" y="4773168"/>
            <a:ext cx="329184" cy="329184"/>
          </a:xfrm>
          <a:prstGeom prst="ellipse">
            <a:avLst/>
          </a:prstGeom>
          <a:solidFill>
            <a:srgbClr val="E8A33D"/>
          </a:solidFill>
          <a:ln/>
        </p:spPr>
      </p:sp>
      <p:sp>
        <p:nvSpPr>
          <p:cNvPr id="26" name="Text 24"/>
          <p:cNvSpPr/>
          <p:nvPr/>
        </p:nvSpPr>
        <p:spPr>
          <a:xfrm>
            <a:off x="758952" y="4773168"/>
            <a:ext cx="329184"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7" name="Text 25"/>
          <p:cNvSpPr/>
          <p:nvPr/>
        </p:nvSpPr>
        <p:spPr>
          <a:xfrm>
            <a:off x="1216152" y="4754880"/>
            <a:ext cx="4459072" cy="292608"/>
          </a:xfrm>
          <a:prstGeom prst="rect">
            <a:avLst/>
          </a:prstGeom>
          <a:noFill/>
          <a:ln/>
        </p:spPr>
        <p:txBody>
          <a:bodyPr wrap="square" lIns="0" tIns="0" rIns="0" bIns="0" rtlCol="0" anchor="ctr"/>
          <a:lstStyle/>
          <a:p>
            <a:pPr indent="0" marL="0">
              <a:buNone/>
            </a:pPr>
            <a:r>
              <a:rPr lang="en-US" sz="1300" b="1" dirty="0">
                <a:solidFill>
                  <a:srgbClr val="0B1B33"/>
                </a:solidFill>
                <a:latin typeface="Calibri" pitchFamily="34" charset="0"/>
                <a:ea typeface="Calibri" pitchFamily="34" charset="-122"/>
                <a:cs typeface="Calibri" pitchFamily="34" charset="-120"/>
              </a:rPr>
              <a:t>The AI is scored, and the score is shown</a:t>
            </a:r>
            <a:endParaRPr lang="en-US" sz="1300" dirty="0"/>
          </a:p>
        </p:txBody>
      </p:sp>
      <p:sp>
        <p:nvSpPr>
          <p:cNvPr id="28" name="Text 26"/>
          <p:cNvSpPr/>
          <p:nvPr/>
        </p:nvSpPr>
        <p:spPr>
          <a:xfrm>
            <a:off x="1216152" y="5084064"/>
            <a:ext cx="4513936" cy="640080"/>
          </a:xfrm>
          <a:prstGeom prst="rect">
            <a:avLst/>
          </a:prstGeom>
          <a:noFill/>
          <a:ln/>
        </p:spPr>
        <p:txBody>
          <a:bodyPr wrap="square" lIns="0" tIns="0" rIns="0" bIns="0" rtlCol="0" anchor="t"/>
          <a:lstStyle/>
          <a:p>
            <a:pPr indent="0" marL="0">
              <a:lnSpc>
                <a:spcPts val="1500"/>
              </a:lnSpc>
              <a:buNone/>
            </a:pPr>
            <a:r>
              <a:rPr lang="en-US" sz="1100" dirty="0">
                <a:solidFill>
                  <a:srgbClr val="44536B"/>
                </a:solidFill>
                <a:latin typeface="Calibri" pitchFamily="34" charset="0"/>
                <a:ea typeface="Calibri" pitchFamily="34" charset="-122"/>
                <a:cs typeface="Calibri" pitchFamily="34" charset="-120"/>
              </a:rPr>
              <a:t>Agreement is measured as one minus the officer override rate, per fact, and displayed at the top of the caseload screen. You can see how often your people disagree with the machine.</a:t>
            </a:r>
            <a:endParaRPr lang="en-US" sz="1100" dirty="0"/>
          </a:p>
        </p:txBody>
      </p:sp>
      <p:sp>
        <p:nvSpPr>
          <p:cNvPr id="29" name="Shape 27"/>
          <p:cNvSpPr/>
          <p:nvPr/>
        </p:nvSpPr>
        <p:spPr>
          <a:xfrm>
            <a:off x="6260440" y="4517136"/>
            <a:ext cx="5428336" cy="1298448"/>
          </a:xfrm>
          <a:prstGeom prst="roundRect">
            <a:avLst>
              <a:gd name="adj" fmla="val 3521"/>
            </a:avLst>
          </a:prstGeom>
          <a:solidFill>
            <a:srgbClr val="FFFFFF"/>
          </a:solidFill>
          <a:ln w="12700">
            <a:solidFill>
              <a:srgbClr val="DDE6F2"/>
            </a:solidFill>
            <a:prstDash val="solid"/>
          </a:ln>
          <a:effectLst>
            <a:outerShdw sx="100000" sy="100000" kx="0" ky="0" algn="bl" rotWithShape="0" blurRad="127000" dist="25400" dir="5400000">
              <a:srgbClr val="0B1B33">
                <a:alpha val="10000"/>
              </a:srgbClr>
            </a:outerShdw>
          </a:effectLst>
        </p:spPr>
      </p:sp>
      <p:sp>
        <p:nvSpPr>
          <p:cNvPr id="30" name="Shape 28"/>
          <p:cNvSpPr/>
          <p:nvPr/>
        </p:nvSpPr>
        <p:spPr>
          <a:xfrm>
            <a:off x="6516472" y="4773168"/>
            <a:ext cx="329184" cy="329184"/>
          </a:xfrm>
          <a:prstGeom prst="ellipse">
            <a:avLst/>
          </a:prstGeom>
          <a:solidFill>
            <a:srgbClr val="137FEC"/>
          </a:solidFill>
          <a:ln/>
        </p:spPr>
      </p:sp>
      <p:sp>
        <p:nvSpPr>
          <p:cNvPr id="31" name="Text 29"/>
          <p:cNvSpPr/>
          <p:nvPr/>
        </p:nvSpPr>
        <p:spPr>
          <a:xfrm>
            <a:off x="6516472" y="4773168"/>
            <a:ext cx="329184"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32" name="Text 30"/>
          <p:cNvSpPr/>
          <p:nvPr/>
        </p:nvSpPr>
        <p:spPr>
          <a:xfrm>
            <a:off x="6973672" y="4754880"/>
            <a:ext cx="4459072" cy="292608"/>
          </a:xfrm>
          <a:prstGeom prst="rect">
            <a:avLst/>
          </a:prstGeom>
          <a:noFill/>
          <a:ln/>
        </p:spPr>
        <p:txBody>
          <a:bodyPr wrap="square" lIns="0" tIns="0" rIns="0" bIns="0" rtlCol="0" anchor="ctr"/>
          <a:lstStyle/>
          <a:p>
            <a:pPr indent="0" marL="0">
              <a:buNone/>
            </a:pPr>
            <a:r>
              <a:rPr lang="en-US" sz="1300" b="1" dirty="0">
                <a:solidFill>
                  <a:srgbClr val="0B1B33"/>
                </a:solidFill>
                <a:latin typeface="Calibri" pitchFamily="34" charset="0"/>
                <a:ea typeface="Calibri" pitchFamily="34" charset="-122"/>
                <a:cs typeface="Calibri" pitchFamily="34" charset="-120"/>
              </a:rPr>
              <a:t>Your data, your control</a:t>
            </a:r>
            <a:endParaRPr lang="en-US" sz="1300" dirty="0"/>
          </a:p>
        </p:txBody>
      </p:sp>
      <p:sp>
        <p:nvSpPr>
          <p:cNvPr id="33" name="Text 31"/>
          <p:cNvSpPr/>
          <p:nvPr/>
        </p:nvSpPr>
        <p:spPr>
          <a:xfrm>
            <a:off x="6973672" y="5084064"/>
            <a:ext cx="4513936" cy="640080"/>
          </a:xfrm>
          <a:prstGeom prst="rect">
            <a:avLst/>
          </a:prstGeom>
          <a:noFill/>
          <a:ln/>
        </p:spPr>
        <p:txBody>
          <a:bodyPr wrap="square" lIns="0" tIns="0" rIns="0" bIns="0" rtlCol="0" anchor="t"/>
          <a:lstStyle/>
          <a:p>
            <a:pPr indent="0" marL="0">
              <a:lnSpc>
                <a:spcPts val="1500"/>
              </a:lnSpc>
              <a:buNone/>
            </a:pPr>
            <a:r>
              <a:rPr lang="en-US" sz="1100" dirty="0">
                <a:solidFill>
                  <a:srgbClr val="44536B"/>
                </a:solidFill>
                <a:latin typeface="Calibri" pitchFamily="34" charset="0"/>
                <a:ea typeface="Calibri" pitchFamily="34" charset="-122"/>
                <a:cs typeface="Calibri" pitchFamily="34" charset="-120"/>
              </a:rPr>
              <a:t>Your foundation is the data controller; the platform is the processor. Isolation is enforced in code and proved by test, documents sit behind a per-organisation fence, and view links expire after an hour.</a:t>
            </a:r>
            <a:endParaRPr lang="en-US" sz="1100" dirty="0"/>
          </a:p>
        </p:txBody>
      </p:sp>
      <p:sp>
        <p:nvSpPr>
          <p:cNvPr id="34" name="Shape 32"/>
          <p:cNvSpPr/>
          <p:nvPr/>
        </p:nvSpPr>
        <p:spPr>
          <a:xfrm>
            <a:off x="502920" y="5943600"/>
            <a:ext cx="11185855" cy="512064"/>
          </a:xfrm>
          <a:prstGeom prst="roundRect">
            <a:avLst>
              <a:gd name="adj" fmla="val 8929"/>
            </a:avLst>
          </a:prstGeom>
          <a:solidFill>
            <a:srgbClr val="EAF1FB"/>
          </a:solidFill>
          <a:ln w="12700">
            <a:solidFill>
              <a:srgbClr val="D3E2F7"/>
            </a:solidFill>
            <a:prstDash val="solid"/>
          </a:ln>
        </p:spPr>
      </p:sp>
      <p:sp>
        <p:nvSpPr>
          <p:cNvPr id="35" name="Text 33"/>
          <p:cNvSpPr/>
          <p:nvPr/>
        </p:nvSpPr>
        <p:spPr>
          <a:xfrm>
            <a:off x="777240" y="6016752"/>
            <a:ext cx="10637215" cy="365760"/>
          </a:xfrm>
          <a:prstGeom prst="rect">
            <a:avLst/>
          </a:prstGeom>
          <a:noFill/>
          <a:ln/>
        </p:spPr>
        <p:txBody>
          <a:bodyPr wrap="square" lIns="0" tIns="0" rIns="0" bIns="0" rtlCol="0" anchor="ctr"/>
          <a:lstStyle/>
          <a:p>
            <a:pPr indent="0" marL="0">
              <a:buNone/>
            </a:pPr>
            <a:r>
              <a:rPr lang="en-US" sz="1150" b="1" dirty="0">
                <a:solidFill>
                  <a:srgbClr val="0B1B33"/>
                </a:solidFill>
                <a:latin typeface="Calibri" pitchFamily="34" charset="0"/>
                <a:ea typeface="Calibri" pitchFamily="34" charset="-122"/>
                <a:cs typeface="Calibri" pitchFamily="34" charset="-120"/>
              </a:rPr>
              <a:t>Five roles inside your organisation:  </a:t>
            </a:r>
            <a:pPr indent="0" marL="0">
              <a:buNone/>
            </a:pPr>
            <a:r>
              <a:rPr lang="en-US" sz="1150" dirty="0">
                <a:solidFill>
                  <a:srgbClr val="44536B"/>
                </a:solidFill>
                <a:latin typeface="Calibri" pitchFamily="34" charset="0"/>
                <a:ea typeface="Calibri" pitchFamily="34" charset="-122"/>
                <a:cs typeface="Calibri" pitchFamily="34" charset="-120"/>
              </a:rPr>
              <a:t>Organisation Admin  ·  Admin  ·  Finance  ·  QC  ·  Reviewer.   Award amounts, decision reopens and countersigning stay outside all five, by design.</a:t>
            </a:r>
            <a:endParaRPr lang="en-US" sz="1150" dirty="0"/>
          </a:p>
        </p:txBody>
      </p:sp>
      <p:sp>
        <p:nvSpPr>
          <p:cNvPr id="36" name="Text 34"/>
          <p:cNvSpPr/>
          <p:nvPr/>
        </p:nvSpPr>
        <p:spPr>
          <a:xfrm>
            <a:off x="11277295" y="6382512"/>
            <a:ext cx="411480" cy="256032"/>
          </a:xfrm>
          <a:prstGeom prst="rect">
            <a:avLst/>
          </a:prstGeom>
          <a:noFill/>
          <a:ln/>
        </p:spPr>
        <p:txBody>
          <a:bodyPr wrap="square" lIns="0" tIns="0" rIns="0" bIns="0" rtlCol="0" anchor="ctr"/>
          <a:lstStyle/>
          <a:p>
            <a:pPr algn="r" indent="0" marL="0">
              <a:buNone/>
            </a:pPr>
            <a:r>
              <a:rPr lang="en-US" sz="1000" dirty="0">
                <a:solidFill>
                  <a:srgbClr val="7C8CA1"/>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384048"/>
            <a:ext cx="11185855" cy="237744"/>
          </a:xfrm>
          <a:prstGeom prst="rect">
            <a:avLst/>
          </a:prstGeom>
          <a:noFill/>
          <a:ln/>
        </p:spPr>
        <p:txBody>
          <a:bodyPr wrap="square" lIns="0" tIns="0" rIns="0" bIns="0" rtlCol="0" anchor="ctr"/>
          <a:lstStyle/>
          <a:p>
            <a:pPr indent="0" marL="0">
              <a:buNone/>
            </a:pPr>
            <a:r>
              <a:rPr lang="en-US" sz="1100" b="1" spc="200" kern="0" dirty="0">
                <a:solidFill>
                  <a:srgbClr val="137FEC"/>
                </a:solidFill>
                <a:latin typeface="Calibri" pitchFamily="34" charset="0"/>
                <a:ea typeface="Calibri" pitchFamily="34" charset="-122"/>
                <a:cs typeface="Calibri" pitchFamily="34" charset="-120"/>
              </a:rPr>
              <a:t>APPLIED TO YOUR PROGRAMMES</a:t>
            </a:r>
            <a:endParaRPr lang="en-US" sz="1100" dirty="0"/>
          </a:p>
        </p:txBody>
      </p:sp>
      <p:sp>
        <p:nvSpPr>
          <p:cNvPr id="3" name="Text 1"/>
          <p:cNvSpPr/>
          <p:nvPr/>
        </p:nvSpPr>
        <p:spPr>
          <a:xfrm>
            <a:off x="502920" y="658368"/>
            <a:ext cx="11185855" cy="658368"/>
          </a:xfrm>
          <a:prstGeom prst="rect">
            <a:avLst/>
          </a:prstGeom>
          <a:noFill/>
          <a:ln/>
        </p:spPr>
        <p:txBody>
          <a:bodyPr wrap="square" lIns="0" tIns="0" rIns="0" bIns="0" rtlCol="0" anchor="t"/>
          <a:lstStyle/>
          <a:p>
            <a:pPr indent="0" marL="0">
              <a:buNone/>
            </a:pPr>
            <a:r>
              <a:rPr lang="en-US" sz="3000" b="1" dirty="0">
                <a:solidFill>
                  <a:srgbClr val="0B1B33"/>
                </a:solidFill>
                <a:latin typeface="Cambria" pitchFamily="34" charset="0"/>
                <a:ea typeface="Cambria" pitchFamily="34" charset="-122"/>
                <a:cs typeface="Cambria" pitchFamily="34" charset="-120"/>
              </a:rPr>
              <a:t>What this would change, specifically, for each of you</a:t>
            </a:r>
            <a:endParaRPr lang="en-US" sz="3000" dirty="0"/>
          </a:p>
        </p:txBody>
      </p:sp>
      <p:sp>
        <p:nvSpPr>
          <p:cNvPr id="4" name="Shape 2"/>
          <p:cNvSpPr/>
          <p:nvPr/>
        </p:nvSpPr>
        <p:spPr>
          <a:xfrm>
            <a:off x="502920" y="1481328"/>
            <a:ext cx="3511296" cy="4041648"/>
          </a:xfrm>
          <a:prstGeom prst="roundRect">
            <a:avLst>
              <a:gd name="adj" fmla="val 1563"/>
            </a:avLst>
          </a:prstGeom>
          <a:solidFill>
            <a:srgbClr val="FFFFFF"/>
          </a:solidFill>
          <a:ln w="12700">
            <a:solidFill>
              <a:srgbClr val="DDE6F2"/>
            </a:solidFill>
            <a:prstDash val="solid"/>
          </a:ln>
          <a:effectLst>
            <a:outerShdw sx="100000" sy="100000" kx="0" ky="0" algn="bl" rotWithShape="0" blurRad="127000" dist="25400" dir="5400000">
              <a:srgbClr val="0B1B33">
                <a:alpha val="10000"/>
              </a:srgbClr>
            </a:outerShdw>
          </a:effectLst>
        </p:spPr>
      </p:sp>
      <p:sp>
        <p:nvSpPr>
          <p:cNvPr id="5" name="Shape 3"/>
          <p:cNvSpPr/>
          <p:nvPr/>
        </p:nvSpPr>
        <p:spPr>
          <a:xfrm>
            <a:off x="758952" y="1700784"/>
            <a:ext cx="2999232" cy="347472"/>
          </a:xfrm>
          <a:prstGeom prst="roundRect">
            <a:avLst>
              <a:gd name="adj" fmla="val 13158"/>
            </a:avLst>
          </a:prstGeom>
          <a:solidFill>
            <a:srgbClr val="137FEC"/>
          </a:solidFill>
          <a:ln/>
        </p:spPr>
      </p:sp>
      <p:sp>
        <p:nvSpPr>
          <p:cNvPr id="6" name="Text 4"/>
          <p:cNvSpPr/>
          <p:nvPr/>
        </p:nvSpPr>
        <p:spPr>
          <a:xfrm>
            <a:off x="758952" y="1700784"/>
            <a:ext cx="299923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Yayasan DayaDiri</a:t>
            </a:r>
            <a:endParaRPr lang="en-US" sz="1300" dirty="0"/>
          </a:p>
        </p:txBody>
      </p:sp>
      <p:sp>
        <p:nvSpPr>
          <p:cNvPr id="7" name="Text 5"/>
          <p:cNvSpPr/>
          <p:nvPr/>
        </p:nvSpPr>
        <p:spPr>
          <a:xfrm>
            <a:off x="758952" y="2231136"/>
            <a:ext cx="3017520" cy="457200"/>
          </a:xfrm>
          <a:prstGeom prst="rect">
            <a:avLst/>
          </a:prstGeom>
          <a:noFill/>
          <a:ln/>
        </p:spPr>
        <p:txBody>
          <a:bodyPr wrap="square" lIns="0" tIns="0" rIns="0" bIns="0" rtlCol="0" anchor="ctr"/>
          <a:lstStyle/>
          <a:p>
            <a:pPr indent="0" marL="0">
              <a:lnSpc>
                <a:spcPts val="1500"/>
              </a:lnSpc>
              <a:buNone/>
            </a:pPr>
            <a:r>
              <a:rPr lang="en-US" sz="1200" b="1" dirty="0">
                <a:solidFill>
                  <a:srgbClr val="137FEC"/>
                </a:solidFill>
                <a:latin typeface="Calibri" pitchFamily="34" charset="0"/>
                <a:ea typeface="Calibri" pitchFamily="34" charset="-122"/>
                <a:cs typeface="Calibri" pitchFamily="34" charset="-120"/>
              </a:rPr>
              <a:t>Your rules become the engine.</a:t>
            </a:r>
            <a:endParaRPr lang="en-US" sz="1200" dirty="0"/>
          </a:p>
        </p:txBody>
      </p:sp>
      <p:sp>
        <p:nvSpPr>
          <p:cNvPr id="8" name="Text 6"/>
          <p:cNvSpPr/>
          <p:nvPr/>
        </p:nvSpPr>
        <p:spPr>
          <a:xfrm>
            <a:off x="758952" y="2615184"/>
            <a:ext cx="3035808" cy="749808"/>
          </a:xfrm>
          <a:prstGeom prst="rect">
            <a:avLst/>
          </a:prstGeom>
          <a:noFill/>
          <a:ln/>
        </p:spPr>
        <p:txBody>
          <a:bodyPr wrap="square" lIns="0" tIns="0" rIns="0" bIns="0" rtlCol="0" anchor="ctr"/>
          <a:lstStyle/>
          <a:p>
            <a:pPr indent="0" marL="0">
              <a:lnSpc>
                <a:spcPts val="1400"/>
              </a:lnSpc>
              <a:buNone/>
            </a:pPr>
            <a:r>
              <a:rPr lang="en-US" sz="1050" dirty="0">
                <a:solidFill>
                  <a:srgbClr val="44536B"/>
                </a:solidFill>
                <a:latin typeface="Calibri" pitchFamily="34" charset="0"/>
                <a:ea typeface="Calibri" pitchFamily="34" charset="-122"/>
                <a:cs typeface="Calibri" pitchFamily="34" charset="-120"/>
              </a:rPr>
              <a:t>Seven A's including English and Maths; RM11,820 with priority under RM5,250; the IPTA stream at RM7,500 and CGPA 3.0. Applied at submit — not read off a form export afterwards.</a:t>
            </a:r>
            <a:endParaRPr lang="en-US" sz="1050" dirty="0"/>
          </a:p>
        </p:txBody>
      </p:sp>
      <p:sp>
        <p:nvSpPr>
          <p:cNvPr id="9" name="Text 7"/>
          <p:cNvSpPr/>
          <p:nvPr/>
        </p:nvSpPr>
        <p:spPr>
          <a:xfrm>
            <a:off x="758952" y="3328416"/>
            <a:ext cx="3017520" cy="457200"/>
          </a:xfrm>
          <a:prstGeom prst="rect">
            <a:avLst/>
          </a:prstGeom>
          <a:noFill/>
          <a:ln/>
        </p:spPr>
        <p:txBody>
          <a:bodyPr wrap="square" lIns="0" tIns="0" rIns="0" bIns="0" rtlCol="0" anchor="ctr"/>
          <a:lstStyle/>
          <a:p>
            <a:pPr indent="0" marL="0">
              <a:lnSpc>
                <a:spcPts val="1500"/>
              </a:lnSpc>
              <a:buNone/>
            </a:pPr>
            <a:r>
              <a:rPr lang="en-US" sz="1200" b="1" dirty="0">
                <a:solidFill>
                  <a:srgbClr val="137FEC"/>
                </a:solidFill>
                <a:latin typeface="Calibri" pitchFamily="34" charset="0"/>
                <a:ea typeface="Calibri" pitchFamily="34" charset="-122"/>
                <a:cs typeface="Calibri" pitchFamily="34" charset="-120"/>
              </a:rPr>
              <a:t>The conditions become a loop.</a:t>
            </a:r>
            <a:endParaRPr lang="en-US" sz="1200" dirty="0"/>
          </a:p>
        </p:txBody>
      </p:sp>
      <p:sp>
        <p:nvSpPr>
          <p:cNvPr id="10" name="Text 8"/>
          <p:cNvSpPr/>
          <p:nvPr/>
        </p:nvSpPr>
        <p:spPr>
          <a:xfrm>
            <a:off x="758952" y="3712464"/>
            <a:ext cx="3035808" cy="749808"/>
          </a:xfrm>
          <a:prstGeom prst="rect">
            <a:avLst/>
          </a:prstGeom>
          <a:noFill/>
          <a:ln/>
        </p:spPr>
        <p:txBody>
          <a:bodyPr wrap="square" lIns="0" tIns="0" rIns="0" bIns="0" rtlCol="0" anchor="ctr"/>
          <a:lstStyle/>
          <a:p>
            <a:pPr indent="0" marL="0">
              <a:lnSpc>
                <a:spcPts val="1400"/>
              </a:lnSpc>
              <a:buNone/>
            </a:pPr>
            <a:r>
              <a:rPr lang="en-US" sz="1050" dirty="0">
                <a:solidFill>
                  <a:srgbClr val="44536B"/>
                </a:solidFill>
                <a:latin typeface="Calibri" pitchFamily="34" charset="0"/>
                <a:ea typeface="Calibri" pitchFamily="34" charset="-122"/>
                <a:cs typeface="Calibri" pitchFamily="34" charset="-120"/>
              </a:rPr>
              <a:t>Semester CGPA maintenance and the overseas service bond run as a tracked in-programme obligation instead of a spreadsheet somebody owns.</a:t>
            </a:r>
            <a:endParaRPr lang="en-US" sz="1050" dirty="0"/>
          </a:p>
        </p:txBody>
      </p:sp>
      <p:sp>
        <p:nvSpPr>
          <p:cNvPr id="11" name="Text 9"/>
          <p:cNvSpPr/>
          <p:nvPr/>
        </p:nvSpPr>
        <p:spPr>
          <a:xfrm>
            <a:off x="758952" y="4425696"/>
            <a:ext cx="3017520" cy="457200"/>
          </a:xfrm>
          <a:prstGeom prst="rect">
            <a:avLst/>
          </a:prstGeom>
          <a:noFill/>
          <a:ln/>
        </p:spPr>
        <p:txBody>
          <a:bodyPr wrap="square" lIns="0" tIns="0" rIns="0" bIns="0" rtlCol="0" anchor="ctr"/>
          <a:lstStyle/>
          <a:p>
            <a:pPr indent="0" marL="0">
              <a:lnSpc>
                <a:spcPts val="1500"/>
              </a:lnSpc>
              <a:buNone/>
            </a:pPr>
            <a:r>
              <a:rPr lang="en-US" sz="1200" b="1" dirty="0">
                <a:solidFill>
                  <a:srgbClr val="137FEC"/>
                </a:solidFill>
                <a:latin typeface="Calibri" pitchFamily="34" charset="0"/>
                <a:ea typeface="Calibri" pitchFamily="34" charset="-122"/>
                <a:cs typeface="Calibri" pitchFamily="34" charset="-120"/>
              </a:rPr>
              <a:t>Students can find your intake.</a:t>
            </a:r>
            <a:endParaRPr lang="en-US" sz="1200" dirty="0"/>
          </a:p>
        </p:txBody>
      </p:sp>
      <p:sp>
        <p:nvSpPr>
          <p:cNvPr id="12" name="Text 10"/>
          <p:cNvSpPr/>
          <p:nvPr/>
        </p:nvSpPr>
        <p:spPr>
          <a:xfrm>
            <a:off x="758952" y="4809744"/>
            <a:ext cx="3035808" cy="749808"/>
          </a:xfrm>
          <a:prstGeom prst="rect">
            <a:avLst/>
          </a:prstGeom>
          <a:noFill/>
          <a:ln/>
        </p:spPr>
        <p:txBody>
          <a:bodyPr wrap="square" lIns="0" tIns="0" rIns="0" bIns="0" rtlCol="0" anchor="ctr"/>
          <a:lstStyle/>
          <a:p>
            <a:pPr indent="0" marL="0">
              <a:lnSpc>
                <a:spcPts val="1400"/>
              </a:lnSpc>
              <a:buNone/>
            </a:pPr>
            <a:r>
              <a:rPr lang="en-US" sz="1050" dirty="0">
                <a:solidFill>
                  <a:srgbClr val="44536B"/>
                </a:solidFill>
                <a:latin typeface="Calibri" pitchFamily="34" charset="0"/>
                <a:ea typeface="Calibri" pitchFamily="34" charset="-122"/>
                <a:cs typeface="Calibri" pitchFamily="34" charset="-120"/>
              </a:rPr>
              <a:t>A published window on a page, rather than an announcement on Facebook and X that reaches whoever happens to follow you.</a:t>
            </a:r>
            <a:endParaRPr lang="en-US" sz="1050" dirty="0"/>
          </a:p>
        </p:txBody>
      </p:sp>
      <p:sp>
        <p:nvSpPr>
          <p:cNvPr id="13" name="Shape 11"/>
          <p:cNvSpPr/>
          <p:nvPr/>
        </p:nvSpPr>
        <p:spPr>
          <a:xfrm>
            <a:off x="4334256" y="1481328"/>
            <a:ext cx="3511296" cy="4041648"/>
          </a:xfrm>
          <a:prstGeom prst="roundRect">
            <a:avLst>
              <a:gd name="adj" fmla="val 1563"/>
            </a:avLst>
          </a:prstGeom>
          <a:solidFill>
            <a:srgbClr val="FFFFFF"/>
          </a:solidFill>
          <a:ln w="12700">
            <a:solidFill>
              <a:srgbClr val="DDE6F2"/>
            </a:solidFill>
            <a:prstDash val="solid"/>
          </a:ln>
          <a:effectLst>
            <a:outerShdw sx="100000" sy="100000" kx="0" ky="0" algn="bl" rotWithShape="0" blurRad="127000" dist="25400" dir="5400000">
              <a:srgbClr val="0B1B33">
                <a:alpha val="10000"/>
              </a:srgbClr>
            </a:outerShdw>
          </a:effectLst>
        </p:spPr>
      </p:sp>
      <p:sp>
        <p:nvSpPr>
          <p:cNvPr id="14" name="Shape 12"/>
          <p:cNvSpPr/>
          <p:nvPr/>
        </p:nvSpPr>
        <p:spPr>
          <a:xfrm>
            <a:off x="4590288" y="1700784"/>
            <a:ext cx="2999232" cy="347472"/>
          </a:xfrm>
          <a:prstGeom prst="roundRect">
            <a:avLst>
              <a:gd name="adj" fmla="val 13158"/>
            </a:avLst>
          </a:prstGeom>
          <a:solidFill>
            <a:srgbClr val="0B5AAD"/>
          </a:solidFill>
          <a:ln/>
        </p:spPr>
      </p:sp>
      <p:sp>
        <p:nvSpPr>
          <p:cNvPr id="15" name="Text 13"/>
          <p:cNvSpPr/>
          <p:nvPr/>
        </p:nvSpPr>
        <p:spPr>
          <a:xfrm>
            <a:off x="4590288" y="1700784"/>
            <a:ext cx="299923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Yu Cai Foundation</a:t>
            </a:r>
            <a:endParaRPr lang="en-US" sz="1300" dirty="0"/>
          </a:p>
        </p:txBody>
      </p:sp>
      <p:sp>
        <p:nvSpPr>
          <p:cNvPr id="16" name="Text 14"/>
          <p:cNvSpPr/>
          <p:nvPr/>
        </p:nvSpPr>
        <p:spPr>
          <a:xfrm>
            <a:off x="4590288" y="2231136"/>
            <a:ext cx="3017520" cy="457200"/>
          </a:xfrm>
          <a:prstGeom prst="rect">
            <a:avLst/>
          </a:prstGeom>
          <a:noFill/>
          <a:ln/>
        </p:spPr>
        <p:txBody>
          <a:bodyPr wrap="square" lIns="0" tIns="0" rIns="0" bIns="0" rtlCol="0" anchor="ctr"/>
          <a:lstStyle/>
          <a:p>
            <a:pPr indent="0" marL="0">
              <a:lnSpc>
                <a:spcPts val="1500"/>
              </a:lnSpc>
              <a:buNone/>
            </a:pPr>
            <a:r>
              <a:rPr lang="en-US" sz="1200" b="1" dirty="0">
                <a:solidFill>
                  <a:srgbClr val="0B5AAD"/>
                </a:solidFill>
                <a:latin typeface="Calibri" pitchFamily="34" charset="0"/>
                <a:ea typeface="Calibri" pitchFamily="34" charset="-122"/>
                <a:cs typeface="Calibri" pitchFamily="34" charset="-120"/>
              </a:rPr>
              <a:t>Eleven schemes, one organisation.</a:t>
            </a:r>
            <a:endParaRPr lang="en-US" sz="1200" dirty="0"/>
          </a:p>
        </p:txBody>
      </p:sp>
      <p:sp>
        <p:nvSpPr>
          <p:cNvPr id="17" name="Text 15"/>
          <p:cNvSpPr/>
          <p:nvPr/>
        </p:nvSpPr>
        <p:spPr>
          <a:xfrm>
            <a:off x="4590288" y="2615184"/>
            <a:ext cx="3035808" cy="749808"/>
          </a:xfrm>
          <a:prstGeom prst="rect">
            <a:avLst/>
          </a:prstGeom>
          <a:noFill/>
          <a:ln/>
        </p:spPr>
        <p:txBody>
          <a:bodyPr wrap="square" lIns="0" tIns="0" rIns="0" bIns="0" rtlCol="0" anchor="ctr"/>
          <a:lstStyle/>
          <a:p>
            <a:pPr indent="0" marL="0">
              <a:lnSpc>
                <a:spcPts val="1400"/>
              </a:lnSpc>
              <a:buNone/>
            </a:pPr>
            <a:r>
              <a:rPr lang="en-US" sz="1050" dirty="0">
                <a:solidFill>
                  <a:srgbClr val="44536B"/>
                </a:solidFill>
                <a:latin typeface="Calibri" pitchFamily="34" charset="0"/>
                <a:ea typeface="Calibri" pitchFamily="34" charset="-122"/>
                <a:cs typeface="Calibri" pitchFamily="34" charset="-120"/>
              </a:rPr>
              <a:t>Each becomes a Programme with its own rules, fund and cohort — sharing one student account, one document store and one verification engine.</a:t>
            </a:r>
            <a:endParaRPr lang="en-US" sz="1050" dirty="0"/>
          </a:p>
        </p:txBody>
      </p:sp>
      <p:sp>
        <p:nvSpPr>
          <p:cNvPr id="18" name="Text 16"/>
          <p:cNvSpPr/>
          <p:nvPr/>
        </p:nvSpPr>
        <p:spPr>
          <a:xfrm>
            <a:off x="4590288" y="3328416"/>
            <a:ext cx="3017520" cy="457200"/>
          </a:xfrm>
          <a:prstGeom prst="rect">
            <a:avLst/>
          </a:prstGeom>
          <a:noFill/>
          <a:ln/>
        </p:spPr>
        <p:txBody>
          <a:bodyPr wrap="square" lIns="0" tIns="0" rIns="0" bIns="0" rtlCol="0" anchor="ctr"/>
          <a:lstStyle/>
          <a:p>
            <a:pPr indent="0" marL="0">
              <a:lnSpc>
                <a:spcPts val="1500"/>
              </a:lnSpc>
              <a:buNone/>
            </a:pPr>
            <a:r>
              <a:rPr lang="en-US" sz="1200" b="1" dirty="0">
                <a:solidFill>
                  <a:srgbClr val="0B5AAD"/>
                </a:solidFill>
                <a:latin typeface="Calibri" pitchFamily="34" charset="0"/>
                <a:ea typeface="Calibri" pitchFamily="34" charset="-122"/>
                <a:cs typeface="Calibri" pitchFamily="34" charset="-120"/>
              </a:rPr>
              <a:t>The courier step disappears.</a:t>
            </a:r>
            <a:endParaRPr lang="en-US" sz="1200" dirty="0"/>
          </a:p>
        </p:txBody>
      </p:sp>
      <p:sp>
        <p:nvSpPr>
          <p:cNvPr id="19" name="Text 17"/>
          <p:cNvSpPr/>
          <p:nvPr/>
        </p:nvSpPr>
        <p:spPr>
          <a:xfrm>
            <a:off x="4590288" y="3712464"/>
            <a:ext cx="3035808" cy="749808"/>
          </a:xfrm>
          <a:prstGeom prst="rect">
            <a:avLst/>
          </a:prstGeom>
          <a:noFill/>
          <a:ln/>
        </p:spPr>
        <p:txBody>
          <a:bodyPr wrap="square" lIns="0" tIns="0" rIns="0" bIns="0" rtlCol="0" anchor="ctr"/>
          <a:lstStyle/>
          <a:p>
            <a:pPr indent="0" marL="0">
              <a:lnSpc>
                <a:spcPts val="1400"/>
              </a:lnSpc>
              <a:buNone/>
            </a:pPr>
            <a:r>
              <a:rPr lang="en-US" sz="1050" dirty="0">
                <a:solidFill>
                  <a:srgbClr val="44536B"/>
                </a:solidFill>
                <a:latin typeface="Calibri" pitchFamily="34" charset="0"/>
                <a:ea typeface="Calibri" pitchFamily="34" charset="-122"/>
                <a:cs typeface="Calibri" pitchFamily="34" charset="-120"/>
              </a:rPr>
              <a:t>Certified copies are read and scored the moment they are uploaded. The five-year SMJK commitment runs as a maintenance loop, not an annual scramble.</a:t>
            </a:r>
            <a:endParaRPr lang="en-US" sz="1050" dirty="0"/>
          </a:p>
        </p:txBody>
      </p:sp>
      <p:sp>
        <p:nvSpPr>
          <p:cNvPr id="20" name="Text 18"/>
          <p:cNvSpPr/>
          <p:nvPr/>
        </p:nvSpPr>
        <p:spPr>
          <a:xfrm>
            <a:off x="4590288" y="4425696"/>
            <a:ext cx="3017520" cy="457200"/>
          </a:xfrm>
          <a:prstGeom prst="rect">
            <a:avLst/>
          </a:prstGeom>
          <a:noFill/>
          <a:ln/>
        </p:spPr>
        <p:txBody>
          <a:bodyPr wrap="square" lIns="0" tIns="0" rIns="0" bIns="0" rtlCol="0" anchor="ctr"/>
          <a:lstStyle/>
          <a:p>
            <a:pPr indent="0" marL="0">
              <a:lnSpc>
                <a:spcPts val="1500"/>
              </a:lnSpc>
              <a:buNone/>
            </a:pPr>
            <a:r>
              <a:rPr lang="en-US" sz="1200" b="1" dirty="0">
                <a:solidFill>
                  <a:srgbClr val="0B5AAD"/>
                </a:solidFill>
                <a:latin typeface="Calibri" pitchFamily="34" charset="0"/>
                <a:ea typeface="Calibri" pitchFamily="34" charset="-122"/>
                <a:cs typeface="Calibri" pitchFamily="34" charset="-120"/>
              </a:rPr>
              <a:t>Donors get reporting as an output.</a:t>
            </a:r>
            <a:endParaRPr lang="en-US" sz="1200" dirty="0"/>
          </a:p>
        </p:txBody>
      </p:sp>
      <p:sp>
        <p:nvSpPr>
          <p:cNvPr id="21" name="Text 19"/>
          <p:cNvSpPr/>
          <p:nvPr/>
        </p:nvSpPr>
        <p:spPr>
          <a:xfrm>
            <a:off x="4590288" y="4809744"/>
            <a:ext cx="3035808" cy="749808"/>
          </a:xfrm>
          <a:prstGeom prst="rect">
            <a:avLst/>
          </a:prstGeom>
          <a:noFill/>
          <a:ln/>
        </p:spPr>
        <p:txBody>
          <a:bodyPr wrap="square" lIns="0" tIns="0" rIns="0" bIns="0" rtlCol="0" anchor="ctr"/>
          <a:lstStyle/>
          <a:p>
            <a:pPr indent="0" marL="0">
              <a:lnSpc>
                <a:spcPts val="1400"/>
              </a:lnSpc>
              <a:buNone/>
            </a:pPr>
            <a:r>
              <a:rPr lang="en-US" sz="1050" dirty="0">
                <a:solidFill>
                  <a:srgbClr val="44536B"/>
                </a:solidFill>
                <a:latin typeface="Calibri" pitchFamily="34" charset="0"/>
                <a:ea typeface="Calibri" pitchFamily="34" charset="-122"/>
                <a:cs typeface="Calibri" pitchFamily="34" charset="-120"/>
              </a:rPr>
              <a:t>Big Sweep surpluses and public donors are accounted to from the workflow itself, rather than reconstructed at year end.</a:t>
            </a:r>
            <a:endParaRPr lang="en-US" sz="1050" dirty="0"/>
          </a:p>
        </p:txBody>
      </p:sp>
      <p:sp>
        <p:nvSpPr>
          <p:cNvPr id="22" name="Shape 20"/>
          <p:cNvSpPr/>
          <p:nvPr/>
        </p:nvSpPr>
        <p:spPr>
          <a:xfrm>
            <a:off x="8165592" y="1481328"/>
            <a:ext cx="3511296" cy="4041648"/>
          </a:xfrm>
          <a:prstGeom prst="roundRect">
            <a:avLst>
              <a:gd name="adj" fmla="val 1563"/>
            </a:avLst>
          </a:prstGeom>
          <a:solidFill>
            <a:srgbClr val="FFFFFF"/>
          </a:solidFill>
          <a:ln w="12700">
            <a:solidFill>
              <a:srgbClr val="DDE6F2"/>
            </a:solidFill>
            <a:prstDash val="solid"/>
          </a:ln>
          <a:effectLst>
            <a:outerShdw sx="100000" sy="100000" kx="0" ky="0" algn="bl" rotWithShape="0" blurRad="127000" dist="25400" dir="5400000">
              <a:srgbClr val="0B1B33">
                <a:alpha val="10000"/>
              </a:srgbClr>
            </a:outerShdw>
          </a:effectLst>
        </p:spPr>
      </p:sp>
      <p:sp>
        <p:nvSpPr>
          <p:cNvPr id="23" name="Shape 21"/>
          <p:cNvSpPr/>
          <p:nvPr/>
        </p:nvSpPr>
        <p:spPr>
          <a:xfrm>
            <a:off x="8421624" y="1700784"/>
            <a:ext cx="2999232" cy="347472"/>
          </a:xfrm>
          <a:prstGeom prst="roundRect">
            <a:avLst>
              <a:gd name="adj" fmla="val 13158"/>
            </a:avLst>
          </a:prstGeom>
          <a:solidFill>
            <a:srgbClr val="1B3A5C"/>
          </a:solidFill>
          <a:ln/>
        </p:spPr>
      </p:sp>
      <p:sp>
        <p:nvSpPr>
          <p:cNvPr id="24" name="Text 22"/>
          <p:cNvSpPr/>
          <p:nvPr/>
        </p:nvSpPr>
        <p:spPr>
          <a:xfrm>
            <a:off x="8421624" y="1700784"/>
            <a:ext cx="299923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MCEF</a:t>
            </a:r>
            <a:endParaRPr lang="en-US" sz="1300" dirty="0"/>
          </a:p>
        </p:txBody>
      </p:sp>
      <p:sp>
        <p:nvSpPr>
          <p:cNvPr id="25" name="Text 23"/>
          <p:cNvSpPr/>
          <p:nvPr/>
        </p:nvSpPr>
        <p:spPr>
          <a:xfrm>
            <a:off x="8421624" y="2231136"/>
            <a:ext cx="3017520" cy="457200"/>
          </a:xfrm>
          <a:prstGeom prst="rect">
            <a:avLst/>
          </a:prstGeom>
          <a:noFill/>
          <a:ln/>
        </p:spPr>
        <p:txBody>
          <a:bodyPr wrap="square" lIns="0" tIns="0" rIns="0" bIns="0" rtlCol="0" anchor="ctr"/>
          <a:lstStyle/>
          <a:p>
            <a:pPr indent="0" marL="0">
              <a:lnSpc>
                <a:spcPts val="1500"/>
              </a:lnSpc>
              <a:buNone/>
            </a:pPr>
            <a:r>
              <a:rPr lang="en-US" sz="1200" b="1" dirty="0">
                <a:solidFill>
                  <a:srgbClr val="1B3A5C"/>
                </a:solidFill>
                <a:latin typeface="Calibri" pitchFamily="34" charset="0"/>
                <a:ea typeface="Calibri" pitchFamily="34" charset="-122"/>
                <a:cs typeface="Calibri" pitchFamily="34" charset="-120"/>
              </a:rPr>
              <a:t>The loan scheme's checks, structured.</a:t>
            </a:r>
            <a:endParaRPr lang="en-US" sz="1200" dirty="0"/>
          </a:p>
        </p:txBody>
      </p:sp>
      <p:sp>
        <p:nvSpPr>
          <p:cNvPr id="26" name="Text 24"/>
          <p:cNvSpPr/>
          <p:nvPr/>
        </p:nvSpPr>
        <p:spPr>
          <a:xfrm>
            <a:off x="8421624" y="2615184"/>
            <a:ext cx="3035808" cy="749808"/>
          </a:xfrm>
          <a:prstGeom prst="rect">
            <a:avLst/>
          </a:prstGeom>
          <a:noFill/>
          <a:ln/>
        </p:spPr>
        <p:txBody>
          <a:bodyPr wrap="square" lIns="0" tIns="0" rIns="0" bIns="0" rtlCol="0" anchor="ctr"/>
          <a:lstStyle/>
          <a:p>
            <a:pPr indent="0" marL="0">
              <a:lnSpc>
                <a:spcPts val="1400"/>
              </a:lnSpc>
              <a:buNone/>
            </a:pPr>
            <a:r>
              <a:rPr lang="en-US" sz="1050" dirty="0">
                <a:solidFill>
                  <a:srgbClr val="44536B"/>
                </a:solidFill>
                <a:latin typeface="Calibri" pitchFamily="34" charset="0"/>
                <a:ea typeface="Calibri" pitchFamily="34" charset="-122"/>
                <a:cs typeface="Calibri" pitchFamily="34" charset="-120"/>
              </a:rPr>
              <a:t>Parental income under RM120,000, PTPTN-first proof, two guarantors over RM5,000 combined — captured as data and cross-checked, not as paper and signatures.</a:t>
            </a:r>
            <a:endParaRPr lang="en-US" sz="1050" dirty="0"/>
          </a:p>
        </p:txBody>
      </p:sp>
      <p:sp>
        <p:nvSpPr>
          <p:cNvPr id="27" name="Text 25"/>
          <p:cNvSpPr/>
          <p:nvPr/>
        </p:nvSpPr>
        <p:spPr>
          <a:xfrm>
            <a:off x="8421624" y="3328416"/>
            <a:ext cx="3017520" cy="457200"/>
          </a:xfrm>
          <a:prstGeom prst="rect">
            <a:avLst/>
          </a:prstGeom>
          <a:noFill/>
          <a:ln/>
        </p:spPr>
        <p:txBody>
          <a:bodyPr wrap="square" lIns="0" tIns="0" rIns="0" bIns="0" rtlCol="0" anchor="ctr"/>
          <a:lstStyle/>
          <a:p>
            <a:pPr indent="0" marL="0">
              <a:lnSpc>
                <a:spcPts val="1500"/>
              </a:lnSpc>
              <a:buNone/>
            </a:pPr>
            <a:r>
              <a:rPr lang="en-US" sz="1200" b="1" dirty="0">
                <a:solidFill>
                  <a:srgbClr val="1B3A5C"/>
                </a:solidFill>
                <a:latin typeface="Calibri" pitchFamily="34" charset="0"/>
                <a:ea typeface="Calibri" pitchFamily="34" charset="-122"/>
                <a:cs typeface="Calibri" pitchFamily="34" charset="-120"/>
              </a:rPr>
              <a:t>First Class conversion becomes visible.</a:t>
            </a:r>
            <a:endParaRPr lang="en-US" sz="1200" dirty="0"/>
          </a:p>
        </p:txBody>
      </p:sp>
      <p:sp>
        <p:nvSpPr>
          <p:cNvPr id="28" name="Text 26"/>
          <p:cNvSpPr/>
          <p:nvPr/>
        </p:nvSpPr>
        <p:spPr>
          <a:xfrm>
            <a:off x="8421624" y="3712464"/>
            <a:ext cx="3035808" cy="749808"/>
          </a:xfrm>
          <a:prstGeom prst="rect">
            <a:avLst/>
          </a:prstGeom>
          <a:noFill/>
          <a:ln/>
        </p:spPr>
        <p:txBody>
          <a:bodyPr wrap="square" lIns="0" tIns="0" rIns="0" bIns="0" rtlCol="0" anchor="ctr"/>
          <a:lstStyle/>
          <a:p>
            <a:pPr indent="0" marL="0">
              <a:lnSpc>
                <a:spcPts val="1400"/>
              </a:lnSpc>
              <a:buNone/>
            </a:pPr>
            <a:r>
              <a:rPr lang="en-US" sz="1050" dirty="0">
                <a:solidFill>
                  <a:srgbClr val="44536B"/>
                </a:solidFill>
                <a:latin typeface="Calibri" pitchFamily="34" charset="0"/>
                <a:ea typeface="Calibri" pitchFamily="34" charset="-122"/>
                <a:cs typeface="Calibri" pitchFamily="34" charset="-120"/>
              </a:rPr>
              <a:t>The rule that turns a loan into a scholarship needs outcome tracking across the whole portfolio. That is exactly what the maintenance loop records.</a:t>
            </a:r>
            <a:endParaRPr lang="en-US" sz="1050" dirty="0"/>
          </a:p>
        </p:txBody>
      </p:sp>
      <p:sp>
        <p:nvSpPr>
          <p:cNvPr id="29" name="Text 27"/>
          <p:cNvSpPr/>
          <p:nvPr/>
        </p:nvSpPr>
        <p:spPr>
          <a:xfrm>
            <a:off x="8421624" y="4425696"/>
            <a:ext cx="3017520" cy="457200"/>
          </a:xfrm>
          <a:prstGeom prst="rect">
            <a:avLst/>
          </a:prstGeom>
          <a:noFill/>
          <a:ln/>
        </p:spPr>
        <p:txBody>
          <a:bodyPr wrap="square" lIns="0" tIns="0" rIns="0" bIns="0" rtlCol="0" anchor="ctr"/>
          <a:lstStyle/>
          <a:p>
            <a:pPr indent="0" marL="0">
              <a:lnSpc>
                <a:spcPts val="1500"/>
              </a:lnSpc>
              <a:buNone/>
            </a:pPr>
            <a:r>
              <a:rPr lang="en-US" sz="1200" b="1" dirty="0">
                <a:solidFill>
                  <a:srgbClr val="1B3A5C"/>
                </a:solidFill>
                <a:latin typeface="Calibri" pitchFamily="34" charset="0"/>
                <a:ea typeface="Calibri" pitchFamily="34" charset="-122"/>
                <a:cs typeface="Calibri" pitchFamily="34" charset="-120"/>
              </a:rPr>
              <a:t>Fifty years, with the evidence.</a:t>
            </a:r>
            <a:endParaRPr lang="en-US" sz="1200" dirty="0"/>
          </a:p>
        </p:txBody>
      </p:sp>
      <p:sp>
        <p:nvSpPr>
          <p:cNvPr id="30" name="Text 28"/>
          <p:cNvSpPr/>
          <p:nvPr/>
        </p:nvSpPr>
        <p:spPr>
          <a:xfrm>
            <a:off x="8421624" y="4809744"/>
            <a:ext cx="3035808" cy="749808"/>
          </a:xfrm>
          <a:prstGeom prst="rect">
            <a:avLst/>
          </a:prstGeom>
          <a:noFill/>
          <a:ln/>
        </p:spPr>
        <p:txBody>
          <a:bodyPr wrap="square" lIns="0" tIns="0" rIns="0" bIns="0" rtlCol="0" anchor="ctr"/>
          <a:lstStyle/>
          <a:p>
            <a:pPr indent="0" marL="0">
              <a:lnSpc>
                <a:spcPts val="1400"/>
              </a:lnSpc>
              <a:buNone/>
            </a:pPr>
            <a:r>
              <a:rPr lang="en-US" sz="1050" dirty="0">
                <a:solidFill>
                  <a:srgbClr val="44536B"/>
                </a:solidFill>
                <a:latin typeface="Calibri" pitchFamily="34" charset="0"/>
                <a:ea typeface="Calibri" pitchFamily="34" charset="-122"/>
                <a:cs typeface="Calibri" pitchFamily="34" charset="-120"/>
              </a:rPr>
              <a:t>RM152 million and 67,339 people is a remarkable number. The next fifty can carry graduation, employment and repayment data alongside it.</a:t>
            </a:r>
            <a:endParaRPr lang="en-US" sz="1050" dirty="0"/>
          </a:p>
        </p:txBody>
      </p:sp>
      <p:sp>
        <p:nvSpPr>
          <p:cNvPr id="31" name="Shape 29"/>
          <p:cNvSpPr/>
          <p:nvPr/>
        </p:nvSpPr>
        <p:spPr>
          <a:xfrm>
            <a:off x="502920" y="5669280"/>
            <a:ext cx="11185855" cy="786384"/>
          </a:xfrm>
          <a:prstGeom prst="roundRect">
            <a:avLst>
              <a:gd name="adj" fmla="val 5814"/>
            </a:avLst>
          </a:prstGeom>
          <a:solidFill>
            <a:srgbClr val="F1F4F8"/>
          </a:solidFill>
          <a:ln w="12700">
            <a:solidFill>
              <a:srgbClr val="E2E8F0"/>
            </a:solidFill>
            <a:prstDash val="solid"/>
          </a:ln>
        </p:spPr>
      </p:sp>
      <p:sp>
        <p:nvSpPr>
          <p:cNvPr id="32" name="Text 30"/>
          <p:cNvSpPr/>
          <p:nvPr/>
        </p:nvSpPr>
        <p:spPr>
          <a:xfrm>
            <a:off x="777240" y="5779008"/>
            <a:ext cx="10637215" cy="566928"/>
          </a:xfrm>
          <a:prstGeom prst="rect">
            <a:avLst/>
          </a:prstGeom>
          <a:noFill/>
          <a:ln/>
        </p:spPr>
        <p:txBody>
          <a:bodyPr wrap="square" lIns="0" tIns="0" rIns="0" bIns="0" rtlCol="0" anchor="ctr"/>
          <a:lstStyle/>
          <a:p>
            <a:pPr indent="0" marL="0">
              <a:lnSpc>
                <a:spcPts val="1600"/>
              </a:lnSpc>
              <a:buNone/>
            </a:pPr>
            <a:r>
              <a:rPr lang="en-US" sz="1150" b="1" dirty="0">
                <a:solidFill>
                  <a:srgbClr val="8A5D12"/>
                </a:solidFill>
                <a:latin typeface="Calibri" pitchFamily="34" charset="0"/>
                <a:ea typeface="Calibri" pitchFamily="34" charset="-122"/>
                <a:cs typeface="Calibri" pitchFamily="34" charset="-120"/>
              </a:rPr>
              <a:t>Illustrative, not measured.  </a:t>
            </a:r>
            <a:pPr indent="0" marL="0">
              <a:lnSpc>
                <a:spcPts val="1600"/>
              </a:lnSpc>
              <a:buNone/>
            </a:pPr>
            <a:r>
              <a:rPr lang="en-US" sz="1150" dirty="0">
                <a:solidFill>
                  <a:srgbClr val="44536B"/>
                </a:solidFill>
                <a:latin typeface="Calibri" pitchFamily="34" charset="0"/>
                <a:ea typeface="Calibri" pitchFamily="34" charset="-122"/>
                <a:cs typeface="Calibri" pitchFamily="34" charset="-120"/>
              </a:rPr>
              <a:t>On BrightPath's cohort, an officer's per-application work shifted from reading a whole file to auditing four pre-computed facts. We have not benchmarked that against your current process, and we will not put a percentage on it until a pilot with your own applications produces one.</a:t>
            </a:r>
            <a:endParaRPr lang="en-US" sz="1150" dirty="0"/>
          </a:p>
        </p:txBody>
      </p:sp>
      <p:sp>
        <p:nvSpPr>
          <p:cNvPr id="33" name="Text 31"/>
          <p:cNvSpPr/>
          <p:nvPr/>
        </p:nvSpPr>
        <p:spPr>
          <a:xfrm>
            <a:off x="11277295" y="6382512"/>
            <a:ext cx="411480" cy="256032"/>
          </a:xfrm>
          <a:prstGeom prst="rect">
            <a:avLst/>
          </a:prstGeom>
          <a:noFill/>
          <a:ln/>
        </p:spPr>
        <p:txBody>
          <a:bodyPr wrap="square" lIns="0" tIns="0" rIns="0" bIns="0" rtlCol="0" anchor="ctr"/>
          <a:lstStyle/>
          <a:p>
            <a:pPr algn="r" indent="0" marL="0">
              <a:buNone/>
            </a:pPr>
            <a:r>
              <a:rPr lang="en-US" sz="1000" dirty="0">
                <a:solidFill>
                  <a:srgbClr val="7C8CA1"/>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384048"/>
            <a:ext cx="11185855" cy="237744"/>
          </a:xfrm>
          <a:prstGeom prst="rect">
            <a:avLst/>
          </a:prstGeom>
          <a:noFill/>
          <a:ln/>
        </p:spPr>
        <p:txBody>
          <a:bodyPr wrap="square" lIns="0" tIns="0" rIns="0" bIns="0" rtlCol="0" anchor="ctr"/>
          <a:lstStyle/>
          <a:p>
            <a:pPr indent="0" marL="0">
              <a:buNone/>
            </a:pPr>
            <a:r>
              <a:rPr lang="en-US" sz="1100" b="1" spc="200" kern="0" dirty="0">
                <a:solidFill>
                  <a:srgbClr val="137FEC"/>
                </a:solidFill>
                <a:latin typeface="Calibri" pitchFamily="34" charset="0"/>
                <a:ea typeface="Calibri" pitchFamily="34" charset="-122"/>
                <a:cs typeface="Calibri" pitchFamily="34" charset="-120"/>
              </a:rPr>
              <a:t>THE HONEST POSITION</a:t>
            </a:r>
            <a:endParaRPr lang="en-US" sz="1100" dirty="0"/>
          </a:p>
        </p:txBody>
      </p:sp>
      <p:sp>
        <p:nvSpPr>
          <p:cNvPr id="3" name="Text 1"/>
          <p:cNvSpPr/>
          <p:nvPr/>
        </p:nvSpPr>
        <p:spPr>
          <a:xfrm>
            <a:off x="502920" y="658368"/>
            <a:ext cx="11185855" cy="658368"/>
          </a:xfrm>
          <a:prstGeom prst="rect">
            <a:avLst/>
          </a:prstGeom>
          <a:noFill/>
          <a:ln/>
        </p:spPr>
        <p:txBody>
          <a:bodyPr wrap="square" lIns="0" tIns="0" rIns="0" bIns="0" rtlCol="0" anchor="t"/>
          <a:lstStyle/>
          <a:p>
            <a:pPr indent="0" marL="0">
              <a:buNone/>
            </a:pPr>
            <a:r>
              <a:rPr lang="en-US" sz="3000" b="1" dirty="0">
                <a:solidFill>
                  <a:srgbClr val="0B1B33"/>
                </a:solidFill>
                <a:latin typeface="Cambria" pitchFamily="34" charset="0"/>
                <a:ea typeface="Cambria" pitchFamily="34" charset="-122"/>
                <a:cs typeface="Cambria" pitchFamily="34" charset="-120"/>
              </a:rPr>
              <a:t>What we configure for you — and what we deliberately don’t</a:t>
            </a:r>
            <a:endParaRPr lang="en-US" sz="3000" dirty="0"/>
          </a:p>
        </p:txBody>
      </p:sp>
      <p:sp>
        <p:nvSpPr>
          <p:cNvPr id="4" name="Shape 2"/>
          <p:cNvSpPr/>
          <p:nvPr/>
        </p:nvSpPr>
        <p:spPr>
          <a:xfrm>
            <a:off x="502920" y="1417320"/>
            <a:ext cx="5440680" cy="3456432"/>
          </a:xfrm>
          <a:prstGeom prst="roundRect">
            <a:avLst>
              <a:gd name="adj" fmla="val 1587"/>
            </a:avLst>
          </a:prstGeom>
          <a:solidFill>
            <a:srgbClr val="FFFFFF"/>
          </a:solidFill>
          <a:ln w="19050">
            <a:solidFill>
              <a:srgbClr val="137FEC"/>
            </a:solidFill>
            <a:prstDash val="solid"/>
          </a:ln>
          <a:effectLst>
            <a:outerShdw sx="100000" sy="100000" kx="0" ky="0" algn="bl" rotWithShape="0" blurRad="127000" dist="25400" dir="5400000">
              <a:srgbClr val="0B1B33">
                <a:alpha val="10000"/>
              </a:srgbClr>
            </a:outerShdw>
          </a:effectLst>
        </p:spPr>
      </p:sp>
      <p:sp>
        <p:nvSpPr>
          <p:cNvPr id="5" name="Text 3"/>
          <p:cNvSpPr/>
          <p:nvPr/>
        </p:nvSpPr>
        <p:spPr>
          <a:xfrm>
            <a:off x="777240" y="1618488"/>
            <a:ext cx="4892040" cy="310896"/>
          </a:xfrm>
          <a:prstGeom prst="rect">
            <a:avLst/>
          </a:prstGeom>
          <a:noFill/>
          <a:ln/>
        </p:spPr>
        <p:txBody>
          <a:bodyPr wrap="square" lIns="0" tIns="0" rIns="0" bIns="0" rtlCol="0" anchor="t"/>
          <a:lstStyle/>
          <a:p>
            <a:pPr indent="0" marL="0">
              <a:buNone/>
            </a:pPr>
            <a:r>
              <a:rPr lang="en-US" sz="1700" b="1" dirty="0">
                <a:solidFill>
                  <a:srgbClr val="137FEC"/>
                </a:solidFill>
                <a:latin typeface="Cambria" pitchFamily="34" charset="0"/>
                <a:ea typeface="Cambria" pitchFamily="34" charset="-122"/>
                <a:cs typeface="Cambria" pitchFamily="34" charset="-120"/>
              </a:rPr>
              <a:t>Yours to set</a:t>
            </a:r>
            <a:endParaRPr lang="en-US" sz="1700" dirty="0"/>
          </a:p>
        </p:txBody>
      </p:sp>
      <p:sp>
        <p:nvSpPr>
          <p:cNvPr id="6" name="Text 4"/>
          <p:cNvSpPr/>
          <p:nvPr/>
        </p:nvSpPr>
        <p:spPr>
          <a:xfrm>
            <a:off x="777240" y="1938528"/>
            <a:ext cx="4928616" cy="274320"/>
          </a:xfrm>
          <a:prstGeom prst="rect">
            <a:avLst/>
          </a:prstGeom>
          <a:noFill/>
          <a:ln/>
        </p:spPr>
        <p:txBody>
          <a:bodyPr wrap="square" lIns="0" tIns="0" rIns="0" bIns="0" rtlCol="0" anchor="t"/>
          <a:lstStyle/>
          <a:p>
            <a:pPr indent="0" marL="0">
              <a:buNone/>
            </a:pPr>
            <a:r>
              <a:rPr lang="en-US" sz="1100" i="1" dirty="0">
                <a:solidFill>
                  <a:srgbClr val="7C8CA1"/>
                </a:solidFill>
                <a:latin typeface="Calibri" pitchFamily="34" charset="0"/>
                <a:ea typeface="Calibri" pitchFamily="34" charset="-122"/>
                <a:cs typeface="Calibri" pitchFamily="34" charset="-120"/>
              </a:rPr>
              <a:t>Configured once with you, then editable by your own administrator.</a:t>
            </a:r>
            <a:endParaRPr lang="en-US" sz="1100" dirty="0"/>
          </a:p>
        </p:txBody>
      </p:sp>
      <p:sp>
        <p:nvSpPr>
          <p:cNvPr id="7" name="Text 5"/>
          <p:cNvSpPr/>
          <p:nvPr/>
        </p:nvSpPr>
        <p:spPr>
          <a:xfrm>
            <a:off x="777240" y="2267712"/>
            <a:ext cx="4910328" cy="2432304"/>
          </a:xfrm>
          <a:prstGeom prst="rect">
            <a:avLst/>
          </a:prstGeom>
          <a:noFill/>
          <a:ln/>
        </p:spPr>
        <p:txBody>
          <a:bodyPr wrap="square" lIns="0" tIns="0" rIns="0" bIns="0" rtlCol="0" anchor="t"/>
          <a:lstStyle/>
          <a:p>
            <a:pPr marL="342900" indent="-342900">
              <a:lnSpc>
                <a:spcPts val="1500"/>
              </a:lnSpc>
              <a:spcAft>
                <a:spcPts val="600"/>
              </a:spcAft>
              <a:buSzPct val="100000"/>
              <a:buChar char="•"/>
            </a:pPr>
            <a:r>
              <a:rPr lang="en-US" sz="1100" dirty="0">
                <a:solidFill>
                  <a:srgbClr val="44536B"/>
                </a:solidFill>
                <a:latin typeface="Calibri" pitchFamily="34" charset="0"/>
                <a:ea typeface="Calibri" pitchFamily="34" charset="-122"/>
                <a:cs typeface="Calibri" pitchFamily="34" charset="-120"/>
              </a:rPr>
              <a:t>Programme name, logo, colour and email sign-off in three languages — including what your AI coach is called</a:t>
            </a:r>
            <a:endParaRPr lang="en-US" sz="1100" dirty="0"/>
          </a:p>
          <a:p>
            <a:pPr marL="342900" indent="-342900">
              <a:lnSpc>
                <a:spcPts val="1500"/>
              </a:lnSpc>
              <a:spcAft>
                <a:spcPts val="600"/>
              </a:spcAft>
              <a:buSzPct val="100000"/>
              <a:buChar char="•"/>
            </a:pPr>
            <a:r>
              <a:rPr lang="en-US" sz="1100" dirty="0">
                <a:solidFill>
                  <a:srgbClr val="44536B"/>
                </a:solidFill>
                <a:latin typeface="Calibri" pitchFamily="34" charset="0"/>
                <a:ea typeface="Calibri" pitchFamily="34" charset="-122"/>
                <a:cs typeface="Calibri" pitchFamily="34" charset="-120"/>
              </a:rPr>
              <a:t>The academic floor, the income ceiling, the per-capita ceiling — or whether you means-test at all</a:t>
            </a:r>
            <a:endParaRPr lang="en-US" sz="1100" dirty="0"/>
          </a:p>
          <a:p>
            <a:pPr marL="342900" indent="-342900">
              <a:lnSpc>
                <a:spcPts val="1500"/>
              </a:lnSpc>
              <a:spcAft>
                <a:spcPts val="600"/>
              </a:spcAft>
              <a:buSzPct val="100000"/>
              <a:buChar char="•"/>
            </a:pPr>
            <a:r>
              <a:rPr lang="en-US" sz="1100" dirty="0">
                <a:solidFill>
                  <a:srgbClr val="44536B"/>
                </a:solidFill>
                <a:latin typeface="Calibri" pitchFamily="34" charset="0"/>
                <a:ea typeface="Calibri" pitchFamily="34" charset="-122"/>
                <a:cs typeface="Calibri" pitchFamily="34" charset="-120"/>
              </a:rPr>
              <a:t>Which documents your programme asks for, and which are compulsory</a:t>
            </a:r>
            <a:endParaRPr lang="en-US" sz="1100" dirty="0"/>
          </a:p>
          <a:p>
            <a:pPr marL="342900" indent="-342900">
              <a:lnSpc>
                <a:spcPts val="1500"/>
              </a:lnSpc>
              <a:spcAft>
                <a:spcPts val="600"/>
              </a:spcAft>
              <a:buSzPct val="100000"/>
              <a:buChar char="•"/>
            </a:pPr>
            <a:r>
              <a:rPr lang="en-US" sz="1100" dirty="0">
                <a:solidFill>
                  <a:srgbClr val="44536B"/>
                </a:solidFill>
                <a:latin typeface="Calibri" pitchFamily="34" charset="0"/>
                <a:ea typeface="Calibri" pitchFamily="34" charset="-122"/>
                <a:cs typeface="Calibri" pitchFamily="34" charset="-120"/>
              </a:rPr>
              <a:t>Which of the four verification facts apply to your programme</a:t>
            </a:r>
            <a:endParaRPr lang="en-US" sz="1100" dirty="0"/>
          </a:p>
          <a:p>
            <a:pPr marL="342900" indent="-342900">
              <a:lnSpc>
                <a:spcPts val="1500"/>
              </a:lnSpc>
              <a:spcAft>
                <a:spcPts val="600"/>
              </a:spcAft>
              <a:buSzPct val="100000"/>
              <a:buChar char="•"/>
            </a:pPr>
            <a:r>
              <a:rPr lang="en-US" sz="1100" dirty="0">
                <a:solidFill>
                  <a:srgbClr val="44536B"/>
                </a:solidFill>
                <a:latin typeface="Calibri" pitchFamily="34" charset="0"/>
                <a:ea typeface="Calibri" pitchFamily="34" charset="-122"/>
                <a:cs typeface="Calibri" pitchFamily="34" charset="-120"/>
              </a:rPr>
              <a:t>Award amounts per pathway, and the funding cap</a:t>
            </a:r>
            <a:endParaRPr lang="en-US" sz="1100" dirty="0"/>
          </a:p>
          <a:p>
            <a:pPr marL="342900" indent="-342900">
              <a:lnSpc>
                <a:spcPts val="1500"/>
              </a:lnSpc>
              <a:spcAft>
                <a:spcPts val="600"/>
              </a:spcAft>
              <a:buSzPct val="100000"/>
              <a:buChar char="•"/>
            </a:pPr>
            <a:r>
              <a:rPr lang="en-US" sz="1100" dirty="0">
                <a:solidFill>
                  <a:srgbClr val="44536B"/>
                </a:solidFill>
                <a:latin typeface="Calibri" pitchFamily="34" charset="0"/>
                <a:ea typeface="Calibri" pitchFamily="34" charset="-122"/>
                <a:cs typeface="Calibri" pitchFamily="34" charset="-120"/>
              </a:rPr>
              <a:t>Intake dates, reveal delays, and how long a student has to answer a query</a:t>
            </a:r>
            <a:endParaRPr lang="en-US" sz="1100" dirty="0"/>
          </a:p>
          <a:p>
            <a:pPr marL="342900" indent="-342900">
              <a:lnSpc>
                <a:spcPts val="1500"/>
              </a:lnSpc>
              <a:spcAft>
                <a:spcPts val="600"/>
              </a:spcAft>
              <a:buSzPct val="100000"/>
              <a:buChar char="•"/>
            </a:pPr>
            <a:r>
              <a:rPr lang="en-US" sz="1100" dirty="0">
                <a:solidFill>
                  <a:srgbClr val="44536B"/>
                </a:solidFill>
                <a:latin typeface="Calibri" pitchFamily="34" charset="0"/>
                <a:ea typeface="Calibri" pitchFamily="34" charset="-122"/>
                <a:cs typeface="Calibri" pitchFamily="34" charset="-120"/>
              </a:rPr>
              <a:t>Your consent version and its wording, once your own lawyer has reviewed it</a:t>
            </a:r>
            <a:endParaRPr lang="en-US" sz="1100" dirty="0"/>
          </a:p>
        </p:txBody>
      </p:sp>
      <p:sp>
        <p:nvSpPr>
          <p:cNvPr id="8" name="Shape 6"/>
          <p:cNvSpPr/>
          <p:nvPr/>
        </p:nvSpPr>
        <p:spPr>
          <a:xfrm>
            <a:off x="6263640" y="1417320"/>
            <a:ext cx="5422392" cy="3456432"/>
          </a:xfrm>
          <a:prstGeom prst="roundRect">
            <a:avLst>
              <a:gd name="adj" fmla="val 1587"/>
            </a:avLst>
          </a:prstGeom>
          <a:solidFill>
            <a:srgbClr val="FFFFFF"/>
          </a:solidFill>
          <a:ln w="12700">
            <a:solidFill>
              <a:srgbClr val="DDE6F2"/>
            </a:solidFill>
            <a:prstDash val="solid"/>
          </a:ln>
          <a:effectLst>
            <a:outerShdw sx="100000" sy="100000" kx="0" ky="0" algn="bl" rotWithShape="0" blurRad="127000" dist="25400" dir="5400000">
              <a:srgbClr val="0B1B33">
                <a:alpha val="10000"/>
              </a:srgbClr>
            </a:outerShdw>
          </a:effectLst>
        </p:spPr>
      </p:sp>
      <p:sp>
        <p:nvSpPr>
          <p:cNvPr id="9" name="Text 7"/>
          <p:cNvSpPr/>
          <p:nvPr/>
        </p:nvSpPr>
        <p:spPr>
          <a:xfrm>
            <a:off x="6537960" y="1618488"/>
            <a:ext cx="4873752" cy="310896"/>
          </a:xfrm>
          <a:prstGeom prst="rect">
            <a:avLst/>
          </a:prstGeom>
          <a:noFill/>
          <a:ln/>
        </p:spPr>
        <p:txBody>
          <a:bodyPr wrap="square" lIns="0" tIns="0" rIns="0" bIns="0" rtlCol="0" anchor="t"/>
          <a:lstStyle/>
          <a:p>
            <a:pPr indent="0" marL="0">
              <a:buNone/>
            </a:pPr>
            <a:r>
              <a:rPr lang="en-US" sz="1700" b="1" dirty="0">
                <a:solidFill>
                  <a:srgbClr val="0B1B33"/>
                </a:solidFill>
                <a:latin typeface="Cambria" pitchFamily="34" charset="0"/>
                <a:ea typeface="Cambria" pitchFamily="34" charset="-122"/>
                <a:cs typeface="Cambria" pitchFamily="34" charset="-120"/>
              </a:rPr>
              <a:t>Ours to keep fixed</a:t>
            </a:r>
            <a:endParaRPr lang="en-US" sz="1700" dirty="0"/>
          </a:p>
        </p:txBody>
      </p:sp>
      <p:sp>
        <p:nvSpPr>
          <p:cNvPr id="10" name="Text 8"/>
          <p:cNvSpPr/>
          <p:nvPr/>
        </p:nvSpPr>
        <p:spPr>
          <a:xfrm>
            <a:off x="6537960" y="1938528"/>
            <a:ext cx="4910328" cy="274320"/>
          </a:xfrm>
          <a:prstGeom prst="rect">
            <a:avLst/>
          </a:prstGeom>
          <a:noFill/>
          <a:ln/>
        </p:spPr>
        <p:txBody>
          <a:bodyPr wrap="square" lIns="0" tIns="0" rIns="0" bIns="0" rtlCol="0" anchor="t"/>
          <a:lstStyle/>
          <a:p>
            <a:pPr indent="0" marL="0">
              <a:buNone/>
            </a:pPr>
            <a:r>
              <a:rPr lang="en-US" sz="1100" i="1" dirty="0">
                <a:solidFill>
                  <a:srgbClr val="7C8CA1"/>
                </a:solidFill>
                <a:latin typeface="Calibri" pitchFamily="34" charset="0"/>
                <a:ea typeface="Calibri" pitchFamily="34" charset="-122"/>
                <a:cs typeface="Calibri" pitchFamily="34" charset="-120"/>
              </a:rPr>
              <a:t>This is the safety promise, and it is not negotiable.</a:t>
            </a:r>
            <a:endParaRPr lang="en-US" sz="1100" dirty="0"/>
          </a:p>
        </p:txBody>
      </p:sp>
      <p:sp>
        <p:nvSpPr>
          <p:cNvPr id="11" name="Text 9"/>
          <p:cNvSpPr/>
          <p:nvPr/>
        </p:nvSpPr>
        <p:spPr>
          <a:xfrm>
            <a:off x="6537960" y="2267712"/>
            <a:ext cx="4892040" cy="1463040"/>
          </a:xfrm>
          <a:prstGeom prst="rect">
            <a:avLst/>
          </a:prstGeom>
          <a:noFill/>
          <a:ln/>
        </p:spPr>
        <p:txBody>
          <a:bodyPr wrap="square" lIns="0" tIns="0" rIns="0" bIns="0" rtlCol="0" anchor="t"/>
          <a:lstStyle/>
          <a:p>
            <a:pPr marL="342900" indent="-342900">
              <a:lnSpc>
                <a:spcPts val="1500"/>
              </a:lnSpc>
              <a:spcAft>
                <a:spcPts val="600"/>
              </a:spcAft>
              <a:buSzPct val="100000"/>
              <a:buChar char="•"/>
            </a:pPr>
            <a:r>
              <a:rPr lang="en-US" sz="1100" dirty="0">
                <a:solidFill>
                  <a:srgbClr val="44536B"/>
                </a:solidFill>
                <a:latin typeface="Calibri" pitchFamily="34" charset="0"/>
                <a:ea typeface="Calibri" pitchFamily="34" charset="-122"/>
                <a:cs typeface="Calibri" pitchFamily="34" charset="-120"/>
              </a:rPr>
              <a:t>The verification mathematics — genuineness scoring, the EPF rates, how the four facts are composed</a:t>
            </a:r>
            <a:endParaRPr lang="en-US" sz="1100" dirty="0"/>
          </a:p>
          <a:p>
            <a:pPr marL="342900" indent="-342900">
              <a:lnSpc>
                <a:spcPts val="1500"/>
              </a:lnSpc>
              <a:spcAft>
                <a:spcPts val="600"/>
              </a:spcAft>
              <a:buSzPct val="100000"/>
              <a:buChar char="•"/>
            </a:pPr>
            <a:r>
              <a:rPr lang="en-US" sz="1100" dirty="0">
                <a:solidFill>
                  <a:srgbClr val="44536B"/>
                </a:solidFill>
                <a:latin typeface="Calibri" pitchFamily="34" charset="0"/>
                <a:ea typeface="Calibri" pitchFamily="34" charset="-122"/>
                <a:cs typeface="Calibri" pitchFamily="34" charset="-120"/>
              </a:rPr>
              <a:t>National and statutory constants — SPM grade bands, EPF employee and employer rates, STR vocabulary</a:t>
            </a:r>
            <a:endParaRPr lang="en-US" sz="1100" dirty="0"/>
          </a:p>
          <a:p>
            <a:pPr marL="342900" indent="-342900">
              <a:lnSpc>
                <a:spcPts val="1500"/>
              </a:lnSpc>
              <a:spcAft>
                <a:spcPts val="600"/>
              </a:spcAft>
              <a:buSzPct val="100000"/>
              <a:buChar char="•"/>
            </a:pPr>
            <a:r>
              <a:rPr lang="en-US" sz="1100" dirty="0">
                <a:solidFill>
                  <a:srgbClr val="44536B"/>
                </a:solidFill>
                <a:latin typeface="Calibri" pitchFamily="34" charset="0"/>
                <a:ea typeface="Calibri" pitchFamily="34" charset="-122"/>
                <a:cs typeface="Calibri" pitchFamily="34" charset="-120"/>
              </a:rPr>
              <a:t>The shared course catalogue and eligibility engine</a:t>
            </a:r>
            <a:endParaRPr lang="en-US" sz="1100" dirty="0"/>
          </a:p>
          <a:p>
            <a:pPr marL="342900" indent="-342900">
              <a:lnSpc>
                <a:spcPts val="1500"/>
              </a:lnSpc>
              <a:spcAft>
                <a:spcPts val="600"/>
              </a:spcAft>
              <a:buSzPct val="100000"/>
              <a:buChar char="•"/>
            </a:pPr>
            <a:r>
              <a:rPr lang="en-US" sz="1100" dirty="0">
                <a:solidFill>
                  <a:srgbClr val="44536B"/>
                </a:solidFill>
                <a:latin typeface="Calibri" pitchFamily="34" charset="0"/>
                <a:ea typeface="Calibri" pitchFamily="34" charset="-122"/>
                <a:cs typeface="Calibri" pitchFamily="34" charset="-120"/>
              </a:rPr>
              <a:t>Authentication and the organisation fencing rules themselves</a:t>
            </a:r>
            <a:endParaRPr lang="en-US" sz="1100" dirty="0"/>
          </a:p>
        </p:txBody>
      </p:sp>
      <p:sp>
        <p:nvSpPr>
          <p:cNvPr id="12" name="Shape 10"/>
          <p:cNvSpPr/>
          <p:nvPr/>
        </p:nvSpPr>
        <p:spPr>
          <a:xfrm>
            <a:off x="6537960" y="3877056"/>
            <a:ext cx="4873752" cy="768096"/>
          </a:xfrm>
          <a:prstGeom prst="roundRect">
            <a:avLst>
              <a:gd name="adj" fmla="val 5952"/>
            </a:avLst>
          </a:prstGeom>
          <a:solidFill>
            <a:srgbClr val="EAF1FB"/>
          </a:solidFill>
          <a:ln/>
        </p:spPr>
      </p:sp>
      <p:sp>
        <p:nvSpPr>
          <p:cNvPr id="13" name="Text 11"/>
          <p:cNvSpPr/>
          <p:nvPr/>
        </p:nvSpPr>
        <p:spPr>
          <a:xfrm>
            <a:off x="6684264" y="3968496"/>
            <a:ext cx="4581144" cy="585216"/>
          </a:xfrm>
          <a:prstGeom prst="rect">
            <a:avLst/>
          </a:prstGeom>
          <a:noFill/>
          <a:ln/>
        </p:spPr>
        <p:txBody>
          <a:bodyPr wrap="square" lIns="0" tIns="0" rIns="0" bIns="0" rtlCol="0" anchor="ctr"/>
          <a:lstStyle/>
          <a:p>
            <a:pPr indent="0" marL="0">
              <a:lnSpc>
                <a:spcPts val="1500"/>
              </a:lnSpc>
              <a:buNone/>
            </a:pPr>
            <a:r>
              <a:rPr lang="en-US" sz="1100" b="1" dirty="0">
                <a:solidFill>
                  <a:srgbClr val="0B1B33"/>
                </a:solidFill>
                <a:latin typeface="Calibri" pitchFamily="34" charset="0"/>
                <a:ea typeface="Calibri" pitchFamily="34" charset="-122"/>
                <a:cs typeface="Calibri" pitchFamily="34" charset="-120"/>
              </a:rPr>
              <a:t>You choose which checks apply to your programme. Nobody gets bespoke logic — which is exactly why a fix for one foundation is a fix for all three.</a:t>
            </a:r>
            <a:endParaRPr lang="en-US" sz="1100" dirty="0"/>
          </a:p>
        </p:txBody>
      </p:sp>
      <p:sp>
        <p:nvSpPr>
          <p:cNvPr id="14" name="Shape 12"/>
          <p:cNvSpPr/>
          <p:nvPr/>
        </p:nvSpPr>
        <p:spPr>
          <a:xfrm>
            <a:off x="502920" y="5084064"/>
            <a:ext cx="11185855" cy="1188720"/>
          </a:xfrm>
          <a:prstGeom prst="roundRect">
            <a:avLst>
              <a:gd name="adj" fmla="val 4615"/>
            </a:avLst>
          </a:prstGeom>
          <a:solidFill>
            <a:srgbClr val="FBF3E4"/>
          </a:solidFill>
          <a:ln w="15875">
            <a:solidFill>
              <a:srgbClr val="E8A33D"/>
            </a:solidFill>
            <a:prstDash val="solid"/>
          </a:ln>
        </p:spPr>
      </p:sp>
      <p:sp>
        <p:nvSpPr>
          <p:cNvPr id="15" name="Text 13"/>
          <p:cNvSpPr/>
          <p:nvPr/>
        </p:nvSpPr>
        <p:spPr>
          <a:xfrm>
            <a:off x="813816" y="5212080"/>
            <a:ext cx="10564063" cy="256032"/>
          </a:xfrm>
          <a:prstGeom prst="rect">
            <a:avLst/>
          </a:prstGeom>
          <a:noFill/>
          <a:ln/>
        </p:spPr>
        <p:txBody>
          <a:bodyPr wrap="square" lIns="0" tIns="0" rIns="0" bIns="0" rtlCol="0" anchor="t"/>
          <a:lstStyle/>
          <a:p>
            <a:pPr indent="0" marL="0">
              <a:buNone/>
            </a:pPr>
            <a:r>
              <a:rPr lang="en-US" sz="1250" b="1" dirty="0">
                <a:solidFill>
                  <a:srgbClr val="8A5D12"/>
                </a:solidFill>
                <a:latin typeface="Calibri" pitchFamily="34" charset="0"/>
                <a:ea typeface="Calibri" pitchFamily="34" charset="-122"/>
                <a:cs typeface="Calibri" pitchFamily="34" charset="-120"/>
              </a:rPr>
              <a:t>Where we actually are, so nobody is surprised later</a:t>
            </a:r>
            <a:endParaRPr lang="en-US" sz="1250" dirty="0"/>
          </a:p>
        </p:txBody>
      </p:sp>
      <p:sp>
        <p:nvSpPr>
          <p:cNvPr id="16" name="Text 14"/>
          <p:cNvSpPr/>
          <p:nvPr/>
        </p:nvSpPr>
        <p:spPr>
          <a:xfrm>
            <a:off x="813816" y="5486400"/>
            <a:ext cx="10564063" cy="694944"/>
          </a:xfrm>
          <a:prstGeom prst="rect">
            <a:avLst/>
          </a:prstGeom>
          <a:noFill/>
          <a:ln/>
        </p:spPr>
        <p:txBody>
          <a:bodyPr wrap="square" lIns="0" tIns="0" rIns="0" bIns="0" rtlCol="0" anchor="t"/>
          <a:lstStyle/>
          <a:p>
            <a:pPr indent="0" marL="0">
              <a:lnSpc>
                <a:spcPts val="1500"/>
              </a:lnSpc>
              <a:buNone/>
            </a:pPr>
            <a:r>
              <a:rPr lang="en-US" sz="1100" dirty="0">
                <a:solidFill>
                  <a:srgbClr val="6B4A11"/>
                </a:solidFill>
                <a:latin typeface="Calibri" pitchFamily="34" charset="0"/>
                <a:ea typeface="Calibri" pitchFamily="34" charset="-122"/>
                <a:cs typeface="Calibri" pitchFamily="34" charset="-120"/>
              </a:rPr>
              <a:t>BrightPath is the only live tenant, and its 2026 intake is closed — it reopens around mid-2027, which is the natural window for a pilot. Before a second foundation’s applicant data is processed we must sign a data-processing agreement and finish the PDPA erasure routine; both are on the critical path, not the wish list. And there is no self-service sign-up — we configure each organisation by hand, which at three pilots is a feature.</a:t>
            </a:r>
            <a:endParaRPr lang="en-US" sz="1100" dirty="0"/>
          </a:p>
        </p:txBody>
      </p:sp>
      <p:sp>
        <p:nvSpPr>
          <p:cNvPr id="17" name="Text 15"/>
          <p:cNvSpPr/>
          <p:nvPr/>
        </p:nvSpPr>
        <p:spPr>
          <a:xfrm>
            <a:off x="11277295" y="6382512"/>
            <a:ext cx="411480" cy="256032"/>
          </a:xfrm>
          <a:prstGeom prst="rect">
            <a:avLst/>
          </a:prstGeom>
          <a:noFill/>
          <a:ln/>
        </p:spPr>
        <p:txBody>
          <a:bodyPr wrap="square" lIns="0" tIns="0" rIns="0" bIns="0" rtlCol="0" anchor="ctr"/>
          <a:lstStyle/>
          <a:p>
            <a:pPr algn="r" indent="0" marL="0">
              <a:buNone/>
            </a:pPr>
            <a:r>
              <a:rPr lang="en-US" sz="1000" dirty="0">
                <a:solidFill>
                  <a:srgbClr val="7C8CA1"/>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B33"/>
        </a:solidFill>
      </p:bgPr>
    </p:bg>
    <p:spTree>
      <p:nvGrpSpPr>
        <p:cNvPr id="1" name=""/>
        <p:cNvGrpSpPr/>
        <p:nvPr/>
      </p:nvGrpSpPr>
      <p:grpSpPr>
        <a:xfrm>
          <a:off x="0" y="0"/>
          <a:ext cx="0" cy="0"/>
          <a:chOff x="0" y="0"/>
          <a:chExt cx="0" cy="0"/>
        </a:xfrm>
      </p:grpSpPr>
      <p:sp>
        <p:nvSpPr>
          <p:cNvPr id="2" name="Shape 0"/>
          <p:cNvSpPr/>
          <p:nvPr/>
        </p:nvSpPr>
        <p:spPr>
          <a:xfrm>
            <a:off x="-1463040" y="3931920"/>
            <a:ext cx="4754880" cy="4754880"/>
          </a:xfrm>
          <a:prstGeom prst="ellipse">
            <a:avLst/>
          </a:prstGeom>
          <a:solidFill>
            <a:srgbClr val="16294A"/>
          </a:solidFill>
          <a:ln/>
        </p:spPr>
      </p:sp>
      <p:sp>
        <p:nvSpPr>
          <p:cNvPr id="3" name="Text 1"/>
          <p:cNvSpPr/>
          <p:nvPr/>
        </p:nvSpPr>
        <p:spPr>
          <a:xfrm>
            <a:off x="502920" y="548640"/>
            <a:ext cx="11185855" cy="256032"/>
          </a:xfrm>
          <a:prstGeom prst="rect">
            <a:avLst/>
          </a:prstGeom>
          <a:noFill/>
          <a:ln/>
        </p:spPr>
        <p:txBody>
          <a:bodyPr wrap="square" lIns="0" tIns="0" rIns="0" bIns="0" rtlCol="0" anchor="ctr"/>
          <a:lstStyle/>
          <a:p>
            <a:pPr indent="0" marL="0">
              <a:buNone/>
            </a:pPr>
            <a:r>
              <a:rPr lang="en-US" sz="1100" b="1" spc="300" kern="0" dirty="0">
                <a:solidFill>
                  <a:srgbClr val="8FC1F5"/>
                </a:solidFill>
                <a:latin typeface="Calibri" pitchFamily="34" charset="0"/>
                <a:ea typeface="Calibri" pitchFamily="34" charset="-122"/>
                <a:cs typeface="Calibri" pitchFamily="34" charset="-120"/>
              </a:rPr>
              <a:t>THE ASK</a:t>
            </a:r>
            <a:endParaRPr lang="en-US" sz="1100" dirty="0"/>
          </a:p>
        </p:txBody>
      </p:sp>
      <p:sp>
        <p:nvSpPr>
          <p:cNvPr id="4" name="Text 2"/>
          <p:cNvSpPr/>
          <p:nvPr/>
        </p:nvSpPr>
        <p:spPr>
          <a:xfrm>
            <a:off x="502920" y="914400"/>
            <a:ext cx="11185855"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One pilot cohort each, at your next intake.</a:t>
            </a:r>
            <a:endParaRPr lang="en-US" sz="3400" dirty="0"/>
          </a:p>
        </p:txBody>
      </p:sp>
      <p:sp>
        <p:nvSpPr>
          <p:cNvPr id="5" name="Shape 3"/>
          <p:cNvSpPr/>
          <p:nvPr/>
        </p:nvSpPr>
        <p:spPr>
          <a:xfrm>
            <a:off x="502920" y="1965960"/>
            <a:ext cx="3484778" cy="2286000"/>
          </a:xfrm>
          <a:prstGeom prst="roundRect">
            <a:avLst>
              <a:gd name="adj" fmla="val 2400"/>
            </a:avLst>
          </a:prstGeom>
          <a:solidFill>
            <a:srgbClr val="16294A"/>
          </a:solidFill>
          <a:ln w="12700">
            <a:solidFill>
              <a:srgbClr val="1B3A5C"/>
            </a:solidFill>
            <a:prstDash val="solid"/>
          </a:ln>
        </p:spPr>
      </p:sp>
      <p:sp>
        <p:nvSpPr>
          <p:cNvPr id="6" name="Shape 4"/>
          <p:cNvSpPr/>
          <p:nvPr/>
        </p:nvSpPr>
        <p:spPr>
          <a:xfrm>
            <a:off x="795528" y="2212848"/>
            <a:ext cx="420624" cy="420624"/>
          </a:xfrm>
          <a:prstGeom prst="ellipse">
            <a:avLst/>
          </a:prstGeom>
          <a:solidFill>
            <a:srgbClr val="137FEC"/>
          </a:solidFill>
          <a:ln/>
        </p:spPr>
      </p:sp>
      <p:sp>
        <p:nvSpPr>
          <p:cNvPr id="7" name="Text 5"/>
          <p:cNvSpPr/>
          <p:nvPr/>
        </p:nvSpPr>
        <p:spPr>
          <a:xfrm>
            <a:off x="795528" y="221284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795528" y="2761488"/>
            <a:ext cx="2917850" cy="548640"/>
          </a:xfrm>
          <a:prstGeom prst="rect">
            <a:avLst/>
          </a:prstGeom>
          <a:noFill/>
          <a:ln/>
        </p:spPr>
        <p:txBody>
          <a:bodyPr wrap="square" lIns="0" tIns="0" rIns="0" bIns="0" rtlCol="0" anchor="t"/>
          <a:lstStyle/>
          <a:p>
            <a:pPr indent="0" marL="0">
              <a:lnSpc>
                <a:spcPts val="2000"/>
              </a:lnSpc>
              <a:buNone/>
            </a:pPr>
            <a:r>
              <a:rPr lang="en-US" sz="1600" b="1" dirty="0">
                <a:solidFill>
                  <a:srgbClr val="FFFFFF"/>
                </a:solidFill>
                <a:latin typeface="Cambria" pitchFamily="34" charset="0"/>
                <a:ea typeface="Cambria" pitchFamily="34" charset="-122"/>
                <a:cs typeface="Cambria" pitchFamily="34" charset="-120"/>
              </a:rPr>
              <a:t>Pick one programme.</a:t>
            </a:r>
            <a:endParaRPr lang="en-US" sz="1600" dirty="0"/>
          </a:p>
        </p:txBody>
      </p:sp>
      <p:sp>
        <p:nvSpPr>
          <p:cNvPr id="9" name="Text 7"/>
          <p:cNvSpPr/>
          <p:nvPr/>
        </p:nvSpPr>
        <p:spPr>
          <a:xfrm>
            <a:off x="795528" y="3364992"/>
            <a:ext cx="2936138" cy="822960"/>
          </a:xfrm>
          <a:prstGeom prst="rect">
            <a:avLst/>
          </a:prstGeom>
          <a:noFill/>
          <a:ln/>
        </p:spPr>
        <p:txBody>
          <a:bodyPr wrap="square" lIns="0" tIns="0" rIns="0" bIns="0" rtlCol="0" anchor="t"/>
          <a:lstStyle/>
          <a:p>
            <a:pPr indent="0" marL="0">
              <a:lnSpc>
                <a:spcPts val="1700"/>
              </a:lnSpc>
              <a:buNone/>
            </a:pPr>
            <a:r>
              <a:rPr lang="en-US" sz="1200" dirty="0">
                <a:solidFill>
                  <a:srgbClr val="C6D4E6"/>
                </a:solidFill>
                <a:latin typeface="Calibri" pitchFamily="34" charset="0"/>
                <a:ea typeface="Calibri" pitchFamily="34" charset="-122"/>
                <a:cs typeface="Calibri" pitchFamily="34" charset="-120"/>
              </a:rPr>
              <a:t>Not your largest — your most rule-heavy. DayaDiri’s Biasiswa IPTA. Yu Cai’s Form 6 sponsorship. MCEF’s Student Loan Scheme.</a:t>
            </a:r>
            <a:endParaRPr lang="en-US" sz="1200" dirty="0"/>
          </a:p>
        </p:txBody>
      </p:sp>
      <p:sp>
        <p:nvSpPr>
          <p:cNvPr id="10" name="Shape 8"/>
          <p:cNvSpPr/>
          <p:nvPr/>
        </p:nvSpPr>
        <p:spPr>
          <a:xfrm>
            <a:off x="4353458" y="1965960"/>
            <a:ext cx="3484778" cy="2286000"/>
          </a:xfrm>
          <a:prstGeom prst="roundRect">
            <a:avLst>
              <a:gd name="adj" fmla="val 2400"/>
            </a:avLst>
          </a:prstGeom>
          <a:solidFill>
            <a:srgbClr val="16294A"/>
          </a:solidFill>
          <a:ln w="12700">
            <a:solidFill>
              <a:srgbClr val="1B3A5C"/>
            </a:solidFill>
            <a:prstDash val="solid"/>
          </a:ln>
        </p:spPr>
      </p:sp>
      <p:sp>
        <p:nvSpPr>
          <p:cNvPr id="11" name="Shape 9"/>
          <p:cNvSpPr/>
          <p:nvPr/>
        </p:nvSpPr>
        <p:spPr>
          <a:xfrm>
            <a:off x="4646066" y="2212848"/>
            <a:ext cx="420624" cy="420624"/>
          </a:xfrm>
          <a:prstGeom prst="ellipse">
            <a:avLst/>
          </a:prstGeom>
          <a:solidFill>
            <a:srgbClr val="137FEC"/>
          </a:solidFill>
          <a:ln/>
        </p:spPr>
      </p:sp>
      <p:sp>
        <p:nvSpPr>
          <p:cNvPr id="12" name="Text 10"/>
          <p:cNvSpPr/>
          <p:nvPr/>
        </p:nvSpPr>
        <p:spPr>
          <a:xfrm>
            <a:off x="4646066" y="221284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4646066" y="2761488"/>
            <a:ext cx="2917850" cy="548640"/>
          </a:xfrm>
          <a:prstGeom prst="rect">
            <a:avLst/>
          </a:prstGeom>
          <a:noFill/>
          <a:ln/>
        </p:spPr>
        <p:txBody>
          <a:bodyPr wrap="square" lIns="0" tIns="0" rIns="0" bIns="0" rtlCol="0" anchor="t"/>
          <a:lstStyle/>
          <a:p>
            <a:pPr indent="0" marL="0">
              <a:lnSpc>
                <a:spcPts val="2000"/>
              </a:lnSpc>
              <a:buNone/>
            </a:pPr>
            <a:r>
              <a:rPr lang="en-US" sz="1600" b="1" dirty="0">
                <a:solidFill>
                  <a:srgbClr val="FFFFFF"/>
                </a:solidFill>
                <a:latin typeface="Cambria" pitchFamily="34" charset="0"/>
                <a:ea typeface="Cambria" pitchFamily="34" charset="-122"/>
                <a:cs typeface="Cambria" pitchFamily="34" charset="-120"/>
              </a:rPr>
              <a:t>Hand us the rules and the document list.</a:t>
            </a:r>
            <a:endParaRPr lang="en-US" sz="1600" dirty="0"/>
          </a:p>
        </p:txBody>
      </p:sp>
      <p:sp>
        <p:nvSpPr>
          <p:cNvPr id="14" name="Text 12"/>
          <p:cNvSpPr/>
          <p:nvPr/>
        </p:nvSpPr>
        <p:spPr>
          <a:xfrm>
            <a:off x="4646066" y="3364992"/>
            <a:ext cx="2936138" cy="822960"/>
          </a:xfrm>
          <a:prstGeom prst="rect">
            <a:avLst/>
          </a:prstGeom>
          <a:noFill/>
          <a:ln/>
        </p:spPr>
        <p:txBody>
          <a:bodyPr wrap="square" lIns="0" tIns="0" rIns="0" bIns="0" rtlCol="0" anchor="t"/>
          <a:lstStyle/>
          <a:p>
            <a:pPr indent="0" marL="0">
              <a:lnSpc>
                <a:spcPts val="1700"/>
              </a:lnSpc>
              <a:buNone/>
            </a:pPr>
            <a:r>
              <a:rPr lang="en-US" sz="1200" dirty="0">
                <a:solidFill>
                  <a:srgbClr val="C6D4E6"/>
                </a:solidFill>
                <a:latin typeface="Calibri" pitchFamily="34" charset="0"/>
                <a:ea typeface="Calibri" pitchFamily="34" charset="-122"/>
                <a:cs typeface="Calibri" pitchFamily="34" charset="-120"/>
              </a:rPr>
              <a:t>We configure the programme; you review every setting. Then we rehearse it against last year’s applications before a single new student sees it.</a:t>
            </a:r>
            <a:endParaRPr lang="en-US" sz="1200" dirty="0"/>
          </a:p>
        </p:txBody>
      </p:sp>
      <p:sp>
        <p:nvSpPr>
          <p:cNvPr id="15" name="Shape 13"/>
          <p:cNvSpPr/>
          <p:nvPr/>
        </p:nvSpPr>
        <p:spPr>
          <a:xfrm>
            <a:off x="8203997" y="1965960"/>
            <a:ext cx="3484778" cy="2286000"/>
          </a:xfrm>
          <a:prstGeom prst="roundRect">
            <a:avLst>
              <a:gd name="adj" fmla="val 2400"/>
            </a:avLst>
          </a:prstGeom>
          <a:solidFill>
            <a:srgbClr val="16294A"/>
          </a:solidFill>
          <a:ln w="12700">
            <a:solidFill>
              <a:srgbClr val="1B3A5C"/>
            </a:solidFill>
            <a:prstDash val="solid"/>
          </a:ln>
        </p:spPr>
      </p:sp>
      <p:sp>
        <p:nvSpPr>
          <p:cNvPr id="16" name="Shape 14"/>
          <p:cNvSpPr/>
          <p:nvPr/>
        </p:nvSpPr>
        <p:spPr>
          <a:xfrm>
            <a:off x="8496605" y="2212848"/>
            <a:ext cx="420624" cy="420624"/>
          </a:xfrm>
          <a:prstGeom prst="ellipse">
            <a:avLst/>
          </a:prstGeom>
          <a:solidFill>
            <a:srgbClr val="E8A33D"/>
          </a:solidFill>
          <a:ln/>
        </p:spPr>
      </p:sp>
      <p:sp>
        <p:nvSpPr>
          <p:cNvPr id="17" name="Text 15"/>
          <p:cNvSpPr/>
          <p:nvPr/>
        </p:nvSpPr>
        <p:spPr>
          <a:xfrm>
            <a:off x="8496605" y="221284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8496605" y="2761488"/>
            <a:ext cx="2917850" cy="548640"/>
          </a:xfrm>
          <a:prstGeom prst="rect">
            <a:avLst/>
          </a:prstGeom>
          <a:noFill/>
          <a:ln/>
        </p:spPr>
        <p:txBody>
          <a:bodyPr wrap="square" lIns="0" tIns="0" rIns="0" bIns="0" rtlCol="0" anchor="t"/>
          <a:lstStyle/>
          <a:p>
            <a:pPr indent="0" marL="0">
              <a:lnSpc>
                <a:spcPts val="2000"/>
              </a:lnSpc>
              <a:buNone/>
            </a:pPr>
            <a:r>
              <a:rPr lang="en-US" sz="1600" b="1" dirty="0">
                <a:solidFill>
                  <a:srgbClr val="FFFFFF"/>
                </a:solidFill>
                <a:latin typeface="Cambria" pitchFamily="34" charset="0"/>
                <a:ea typeface="Cambria" pitchFamily="34" charset="-122"/>
                <a:cs typeface="Cambria" pitchFamily="34" charset="-120"/>
              </a:rPr>
              <a:t>Run the intake on the platform.</a:t>
            </a:r>
            <a:endParaRPr lang="en-US" sz="1600" dirty="0"/>
          </a:p>
        </p:txBody>
      </p:sp>
      <p:sp>
        <p:nvSpPr>
          <p:cNvPr id="19" name="Text 17"/>
          <p:cNvSpPr/>
          <p:nvPr/>
        </p:nvSpPr>
        <p:spPr>
          <a:xfrm>
            <a:off x="8496605" y="3364992"/>
            <a:ext cx="2936138" cy="822960"/>
          </a:xfrm>
          <a:prstGeom prst="rect">
            <a:avLst/>
          </a:prstGeom>
          <a:noFill/>
          <a:ln/>
        </p:spPr>
        <p:txBody>
          <a:bodyPr wrap="square" lIns="0" tIns="0" rIns="0" bIns="0" rtlCol="0" anchor="t"/>
          <a:lstStyle/>
          <a:p>
            <a:pPr indent="0" marL="0">
              <a:lnSpc>
                <a:spcPts val="1700"/>
              </a:lnSpc>
              <a:buNone/>
            </a:pPr>
            <a:r>
              <a:rPr lang="en-US" sz="1200" dirty="0">
                <a:solidFill>
                  <a:srgbClr val="C6D4E6"/>
                </a:solidFill>
                <a:latin typeface="Calibri" pitchFamily="34" charset="0"/>
                <a:ea typeface="Calibri" pitchFamily="34" charset="-122"/>
                <a:cs typeface="Calibri" pitchFamily="34" charset="-120"/>
              </a:rPr>
              <a:t>Your officers review. Your board decides. Your data stays yours, in your own room, under an agreement signed before it arrives.</a:t>
            </a:r>
            <a:endParaRPr lang="en-US" sz="1200" dirty="0"/>
          </a:p>
        </p:txBody>
      </p:sp>
      <p:sp>
        <p:nvSpPr>
          <p:cNvPr id="20" name="Shape 18"/>
          <p:cNvSpPr/>
          <p:nvPr/>
        </p:nvSpPr>
        <p:spPr>
          <a:xfrm>
            <a:off x="502920" y="4572000"/>
            <a:ext cx="11185855" cy="841248"/>
          </a:xfrm>
          <a:prstGeom prst="roundRect">
            <a:avLst>
              <a:gd name="adj" fmla="val 5435"/>
            </a:avLst>
          </a:prstGeom>
          <a:solidFill>
            <a:srgbClr val="1B3A5C"/>
          </a:solidFill>
          <a:ln/>
        </p:spPr>
      </p:sp>
      <p:sp>
        <p:nvSpPr>
          <p:cNvPr id="21" name="Text 19"/>
          <p:cNvSpPr/>
          <p:nvPr/>
        </p:nvSpPr>
        <p:spPr>
          <a:xfrm>
            <a:off x="813816" y="4718304"/>
            <a:ext cx="10564063" cy="548640"/>
          </a:xfrm>
          <a:prstGeom prst="rect">
            <a:avLst/>
          </a:prstGeom>
          <a:noFill/>
          <a:ln/>
        </p:spPr>
        <p:txBody>
          <a:bodyPr wrap="square" lIns="0" tIns="0" rIns="0" bIns="0" rtlCol="0" anchor="ctr"/>
          <a:lstStyle/>
          <a:p>
            <a:pPr indent="0" marL="0">
              <a:lnSpc>
                <a:spcPts val="1900"/>
              </a:lnSpc>
              <a:buNone/>
            </a:pPr>
            <a:r>
              <a:rPr lang="en-US" sz="1350" b="1" dirty="0">
                <a:solidFill>
                  <a:srgbClr val="FFFFFF"/>
                </a:solidFill>
                <a:latin typeface="Calibri" pitchFamily="34" charset="0"/>
                <a:ea typeface="Calibri" pitchFamily="34" charset="-122"/>
                <a:cs typeface="Calibri" pitchFamily="34" charset="-120"/>
              </a:rPr>
              <a:t>What we need from you to start:  </a:t>
            </a:r>
            <a:pPr indent="0" marL="0">
              <a:lnSpc>
                <a:spcPts val="1900"/>
              </a:lnSpc>
              <a:buNone/>
            </a:pPr>
            <a:r>
              <a:rPr lang="en-US" sz="1350" dirty="0">
                <a:solidFill>
                  <a:srgbClr val="8FC1F5"/>
                </a:solidFill>
                <a:latin typeface="Calibri" pitchFamily="34" charset="0"/>
                <a:ea typeface="Calibri" pitchFamily="34" charset="-122"/>
                <a:cs typeface="Calibri" pitchFamily="34" charset="-120"/>
              </a:rPr>
              <a:t>a named officer who owns the programme, last cycle’s rules and application form, and a signed data-processing agreement.</a:t>
            </a:r>
            <a:endParaRPr lang="en-US" sz="1350" dirty="0"/>
          </a:p>
        </p:txBody>
      </p:sp>
      <p:sp>
        <p:nvSpPr>
          <p:cNvPr id="22" name="Text 20"/>
          <p:cNvSpPr/>
          <p:nvPr/>
        </p:nvSpPr>
        <p:spPr>
          <a:xfrm>
            <a:off x="502920" y="5614416"/>
            <a:ext cx="8595360" cy="548640"/>
          </a:xfrm>
          <a:prstGeom prst="rect">
            <a:avLst/>
          </a:prstGeom>
          <a:noFill/>
          <a:ln/>
        </p:spPr>
        <p:txBody>
          <a:bodyPr wrap="square" lIns="0" tIns="0" rIns="0" bIns="0" rtlCol="0" anchor="ctr"/>
          <a:lstStyle/>
          <a:p>
            <a:pPr indent="0" marL="0">
              <a:lnSpc>
                <a:spcPts val="1700"/>
              </a:lnSpc>
              <a:buNone/>
            </a:pPr>
            <a:r>
              <a:rPr lang="en-US" sz="1250" i="1" dirty="0">
                <a:solidFill>
                  <a:srgbClr val="8FC1F5"/>
                </a:solidFill>
                <a:latin typeface="Calibri" pitchFamily="34" charset="0"/>
                <a:ea typeface="Calibri" pitchFamily="34" charset="-122"/>
                <a:cs typeface="Calibri" pitchFamily="34" charset="-120"/>
              </a:rPr>
              <a:t>Three foundations, three very different programmes, one engine that gets better for all of you every time any one of you finds something wrong with it.</a:t>
            </a:r>
            <a:endParaRPr lang="en-US" sz="1250" dirty="0"/>
          </a:p>
        </p:txBody>
      </p:sp>
      <p:sp>
        <p:nvSpPr>
          <p:cNvPr id="23" name="Text 21"/>
          <p:cNvSpPr/>
          <p:nvPr/>
        </p:nvSpPr>
        <p:spPr>
          <a:xfrm>
            <a:off x="8351215" y="5779008"/>
            <a:ext cx="3337560" cy="274320"/>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Ve. Elanjelian   ·   HalaTuju</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HalaTuju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HalaTuju for Foundations</dc:title>
  <dc:subject>PptxGenJS Presentation</dc:subject>
  <dc:creator>Ve. Elanjelian</dc:creator>
  <cp:lastModifiedBy>Ve. Elanjelian</cp:lastModifiedBy>
  <cp:revision>1</cp:revision>
  <dcterms:created xsi:type="dcterms:W3CDTF">2026-08-21T07:08:36Z</dcterms:created>
  <dcterms:modified xsi:type="dcterms:W3CDTF">2026-08-21T07:08:36Z</dcterms:modified>
</cp:coreProperties>
</file>