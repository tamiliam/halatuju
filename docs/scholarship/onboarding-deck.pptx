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822960"/>
            <a:ext cx="11094415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111C2D"/>
                </a:solidFill>
                <a:latin typeface="Lexend"/>
              </a:rPr>
              <a:t>B40 Education Assistance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137FEC"/>
                </a:solidFill>
                <a:latin typeface="Lexend"/>
              </a:rPr>
              <a:t>A community pilot — continuing your studies at Malaysia’s public colleges and universities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743200"/>
            <a:ext cx="11094415" cy="3291840"/>
          </a:xfrm>
          <a:prstGeom prst="roundRect">
            <a:avLst>
              <a:gd name="adj" fmla="val 10000"/>
            </a:avLst>
          </a:prstGeom>
          <a:solidFill>
            <a:srgbClr val="F0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2926080"/>
            <a:ext cx="10454335" cy="24878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dirty="0">
                <a:solidFill>
                  <a:srgbClr val="137FEC"/>
                </a:solidFill>
                <a:latin typeface="Lexend"/>
              </a:rPr>
              <a:t>About this </a:t>
            </a:r>
            <a:r>
              <a:rPr sz="1400" b="1" dirty="0" err="1">
                <a:solidFill>
                  <a:srgbClr val="137FEC"/>
                </a:solidFill>
                <a:latin typeface="Lexend"/>
              </a:rPr>
              <a:t>programme</a:t>
            </a:r>
            <a:endParaRPr sz="1400" b="1" dirty="0">
              <a:solidFill>
                <a:srgbClr val="137FEC"/>
              </a:solidFill>
              <a:latin typeface="Lexend"/>
            </a:endParaRPr>
          </a:p>
          <a:p>
            <a:pPr algn="l">
              <a:spcAft>
                <a:spcPts val="1000"/>
              </a:spcAft>
            </a:pPr>
            <a:r>
              <a:rPr sz="1400" b="0" dirty="0">
                <a:solidFill>
                  <a:srgbClr val="111C2D"/>
                </a:solidFill>
                <a:latin typeface="Lexend"/>
              </a:rPr>
              <a:t>A small, community-supported effort helping students from low-income households continue at Malaysia’s public institutions — backed by fellow Malaysians who want to see </a:t>
            </a:r>
            <a:r>
              <a:rPr lang="en-MY" sz="1400" b="0" dirty="0">
                <a:solidFill>
                  <a:srgbClr val="111C2D"/>
                </a:solidFill>
                <a:latin typeface="Lexend"/>
              </a:rPr>
              <a:t>you</a:t>
            </a:r>
            <a:r>
              <a:rPr sz="1400" b="0" dirty="0">
                <a:solidFill>
                  <a:srgbClr val="111C2D"/>
                </a:solidFill>
                <a:latin typeface="Lexend"/>
              </a:rPr>
              <a:t> succeed. There is no big </a:t>
            </a:r>
            <a:r>
              <a:rPr sz="1400" b="0" dirty="0" err="1">
                <a:solidFill>
                  <a:srgbClr val="111C2D"/>
                </a:solidFill>
                <a:latin typeface="Lexend"/>
              </a:rPr>
              <a:t>organisation</a:t>
            </a:r>
            <a:r>
              <a:rPr sz="1400" b="0" dirty="0">
                <a:solidFill>
                  <a:srgbClr val="111C2D"/>
                </a:solidFill>
                <a:latin typeface="Lexend"/>
              </a:rPr>
              <a:t> behind this yet; it is a pilot, run by people who care.</a:t>
            </a:r>
          </a:p>
          <a:p>
            <a:pPr algn="l">
              <a:spcAft>
                <a:spcPts val="200"/>
              </a:spcAft>
            </a:pPr>
            <a:r>
              <a:rPr sz="1400" b="1" dirty="0">
                <a:solidFill>
                  <a:srgbClr val="137FEC"/>
                </a:solidFill>
                <a:latin typeface="Lexend"/>
              </a:rPr>
              <a:t>About </a:t>
            </a:r>
            <a:r>
              <a:rPr sz="1400" b="1" dirty="0" err="1">
                <a:solidFill>
                  <a:srgbClr val="137FEC"/>
                </a:solidFill>
                <a:latin typeface="Lexend"/>
              </a:rPr>
              <a:t>HalaTuju</a:t>
            </a:r>
            <a:endParaRPr sz="1400" b="1" dirty="0">
              <a:solidFill>
                <a:srgbClr val="137FEC"/>
              </a:solidFill>
              <a:latin typeface="Lexend"/>
            </a:endParaRPr>
          </a:p>
          <a:p>
            <a:pPr algn="l">
              <a:spcAft>
                <a:spcPts val="1000"/>
              </a:spcAft>
            </a:pPr>
            <a:r>
              <a:rPr sz="1400" b="0" dirty="0" err="1">
                <a:solidFill>
                  <a:srgbClr val="111C2D"/>
                </a:solidFill>
                <a:latin typeface="Lexend"/>
              </a:rPr>
              <a:t>HalaTuju</a:t>
            </a:r>
            <a:r>
              <a:rPr sz="1400" b="0" dirty="0">
                <a:solidFill>
                  <a:srgbClr val="111C2D"/>
                </a:solidFill>
                <a:latin typeface="Lexend"/>
              </a:rPr>
              <a:t> is a Malaysian education-pathway platform that helps SPM/STPM students find courses they qualify for. This </a:t>
            </a:r>
            <a:r>
              <a:rPr lang="en-MY" sz="1400" dirty="0">
                <a:solidFill>
                  <a:srgbClr val="111C2D"/>
                </a:solidFill>
                <a:latin typeface="Lexend"/>
              </a:rPr>
              <a:t>application process for this programme </a:t>
            </a:r>
            <a:r>
              <a:rPr sz="1400" b="0" dirty="0">
                <a:solidFill>
                  <a:srgbClr val="111C2D"/>
                </a:solidFill>
                <a:latin typeface="Lexend"/>
              </a:rPr>
              <a:t>runs on </a:t>
            </a:r>
            <a:r>
              <a:rPr sz="1400" b="0" dirty="0" err="1">
                <a:solidFill>
                  <a:srgbClr val="111C2D"/>
                </a:solidFill>
                <a:latin typeface="Lexend"/>
              </a:rPr>
              <a:t>HalaTuju</a:t>
            </a:r>
            <a:r>
              <a:rPr sz="1400" b="0" dirty="0">
                <a:solidFill>
                  <a:srgbClr val="111C2D"/>
                </a:solidFill>
                <a:latin typeface="Lexend"/>
              </a:rPr>
              <a:t> — </a:t>
            </a:r>
            <a:r>
              <a:rPr lang="en-MY" sz="1400" b="0" dirty="0">
                <a:solidFill>
                  <a:srgbClr val="111C2D"/>
                </a:solidFill>
                <a:latin typeface="Lexend"/>
              </a:rPr>
              <a:t>i.e. </a:t>
            </a:r>
            <a:r>
              <a:rPr sz="1400" b="0" dirty="0">
                <a:solidFill>
                  <a:srgbClr val="111C2D"/>
                </a:solidFill>
                <a:latin typeface="Lexend"/>
              </a:rPr>
              <a:t>you will create or log in to your </a:t>
            </a:r>
            <a:r>
              <a:rPr sz="1400" b="0" dirty="0" err="1">
                <a:solidFill>
                  <a:srgbClr val="111C2D"/>
                </a:solidFill>
                <a:latin typeface="Lexend"/>
              </a:rPr>
              <a:t>HalaTuju</a:t>
            </a:r>
            <a:r>
              <a:rPr sz="1400" b="0" dirty="0">
                <a:solidFill>
                  <a:srgbClr val="111C2D"/>
                </a:solidFill>
                <a:latin typeface="Lexend"/>
              </a:rPr>
              <a:t> account to apply.</a:t>
            </a:r>
          </a:p>
          <a:p>
            <a:pPr algn="l">
              <a:spcAft>
                <a:spcPts val="200"/>
              </a:spcAft>
            </a:pPr>
            <a:r>
              <a:rPr sz="1400" b="1" dirty="0">
                <a:solidFill>
                  <a:srgbClr val="137FEC"/>
                </a:solidFill>
                <a:latin typeface="Lexend"/>
              </a:rPr>
              <a:t>About this session</a:t>
            </a:r>
          </a:p>
          <a:p>
            <a:pPr algn="l">
              <a:spcAft>
                <a:spcPts val="400"/>
              </a:spcAft>
            </a:pPr>
            <a:r>
              <a:rPr sz="1400" b="0" dirty="0">
                <a:solidFill>
                  <a:srgbClr val="111C2D"/>
                </a:solidFill>
                <a:latin typeface="Lexend"/>
              </a:rPr>
              <a:t>You already raised your hand on our Google form (thank you). The Google form told us who you are; today we will walk through the formal application that gives us the verifiable detail and consent we need before we can introduce you to a sponsor. Everything you share stays confidential — we never pass it on without your permission.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C5F61"/>
                </a:solidFill>
                <a:latin typeface="Lexend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37FEC"/>
                </a:solidFill>
                <a:latin typeface="Lexend"/>
              </a:rPr>
              <a:t>The /scholarship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11C2D"/>
                </a:solidFill>
                <a:latin typeface="Lexend"/>
              </a:rPr>
              <a:t>Your 8-step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C5F61"/>
                </a:solidFill>
                <a:latin typeface="Lexend"/>
              </a:rPr>
              <a:t>Rolling basis — no fixed deadline.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45640"/>
            <a:ext cx="292608" cy="292608"/>
          </a:xfrm>
          <a:prstGeom prst="ellipse">
            <a:avLst/>
          </a:prstGeom>
          <a:solidFill>
            <a:srgbClr val="137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Lexend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210312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11C2D"/>
                </a:solidFill>
                <a:latin typeface="Lexend"/>
              </a:rPr>
              <a:t>Apply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920240"/>
            <a:ext cx="5899785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dirty="0">
                <a:solidFill>
                  <a:srgbClr val="111C2D"/>
                </a:solidFill>
                <a:latin typeface="Lexend"/>
              </a:rPr>
              <a:t>Sign in with Google, confirm your </a:t>
            </a:r>
            <a:r>
              <a:rPr sz="1100" b="0" dirty="0" err="1">
                <a:solidFill>
                  <a:srgbClr val="111C2D"/>
                </a:solidFill>
                <a:latin typeface="Lexend"/>
              </a:rPr>
              <a:t>HalaTuju</a:t>
            </a:r>
            <a:r>
              <a:rPr sz="1100" b="0" dirty="0">
                <a:solidFill>
                  <a:srgbClr val="111C2D"/>
                </a:solidFill>
                <a:latin typeface="Lexend"/>
              </a:rPr>
              <a:t> profile, submit.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33560" y="1920240"/>
            <a:ext cx="219456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 dirty="0">
                <a:solidFill>
                  <a:srgbClr val="137FEC"/>
                </a:solidFill>
                <a:latin typeface="Lexend"/>
              </a:rPr>
              <a:t>About 5–10 minutes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850"/>
            <a:ext cx="292608" cy="292608"/>
          </a:xfrm>
          <a:prstGeom prst="ellipse">
            <a:avLst/>
          </a:prstGeom>
          <a:solidFill>
            <a:srgbClr val="137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Lexen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57450"/>
            <a:ext cx="210312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11C2D"/>
                </a:solidFill>
                <a:latin typeface="Lexend"/>
              </a:rPr>
              <a:t>We confirm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457450"/>
            <a:ext cx="5899785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11C2D"/>
                </a:solidFill>
                <a:latin typeface="Lexend"/>
              </a:rPr>
              <a:t>An email acknowledging your application.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33560" y="2457450"/>
            <a:ext cx="219456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137FEC"/>
                </a:solidFill>
                <a:latin typeface="Lexend"/>
              </a:rPr>
              <a:t>Same day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020060"/>
            <a:ext cx="292608" cy="292608"/>
          </a:xfrm>
          <a:prstGeom prst="ellipse">
            <a:avLst/>
          </a:prstGeom>
          <a:solidFill>
            <a:srgbClr val="137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Lexen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994660"/>
            <a:ext cx="210312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11C2D"/>
                </a:solidFill>
                <a:latin typeface="Lexend"/>
              </a:rPr>
              <a:t>Shortlisting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2994660"/>
            <a:ext cx="5899785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dirty="0">
                <a:solidFill>
                  <a:srgbClr val="111C2D"/>
                </a:solidFill>
                <a:latin typeface="Lexend"/>
              </a:rPr>
              <a:t>We check your results and household income against the criteria and let you know.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33560" y="2994660"/>
            <a:ext cx="219456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 dirty="0">
                <a:solidFill>
                  <a:srgbClr val="137FEC"/>
                </a:solidFill>
                <a:latin typeface="Lexend"/>
              </a:rPr>
              <a:t>Within 48 hours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3557270"/>
            <a:ext cx="292608" cy="292608"/>
          </a:xfrm>
          <a:prstGeom prst="ellipse">
            <a:avLst/>
          </a:prstGeom>
          <a:solidFill>
            <a:srgbClr val="137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Lexend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531870"/>
            <a:ext cx="210312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11C2D"/>
                </a:solidFill>
                <a:latin typeface="Lexend"/>
              </a:rPr>
              <a:t>Complete your profile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3531870"/>
            <a:ext cx="5899785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dirty="0">
                <a:solidFill>
                  <a:srgbClr val="111C2D"/>
                </a:solidFill>
                <a:latin typeface="Lexend"/>
              </a:rPr>
              <a:t>If shortlisted, share a few more details + upload documents (IC, results slip, proof of income).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3560" y="3531870"/>
            <a:ext cx="219456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137FEC"/>
                </a:solidFill>
                <a:latin typeface="Lexend"/>
              </a:rPr>
              <a:t>A few minutes when ready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4094480"/>
            <a:ext cx="292608" cy="292608"/>
          </a:xfrm>
          <a:prstGeom prst="ellipse">
            <a:avLst/>
          </a:prstGeom>
          <a:solidFill>
            <a:srgbClr val="137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Lexend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069080"/>
            <a:ext cx="210312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11C2D"/>
                </a:solidFill>
                <a:latin typeface="Lexend"/>
              </a:rPr>
              <a:t>A short interview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4069080"/>
            <a:ext cx="5899785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dirty="0">
                <a:solidFill>
                  <a:srgbClr val="111C2D"/>
                </a:solidFill>
                <a:latin typeface="Lexend"/>
              </a:rPr>
              <a:t>Brief phone call (~20 min) in your preferred language. To get to know you, not test you.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33560" y="4069080"/>
            <a:ext cx="219456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137FEC"/>
                </a:solidFill>
                <a:latin typeface="Lexend"/>
              </a:rPr>
              <a:t>After your profile is complete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" y="4631690"/>
            <a:ext cx="292608" cy="292608"/>
          </a:xfrm>
          <a:prstGeom prst="ellipse">
            <a:avLst/>
          </a:prstGeom>
          <a:solidFill>
            <a:srgbClr val="137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Lexend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606290"/>
            <a:ext cx="210312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11C2D"/>
                </a:solidFill>
                <a:latin typeface="Lexend"/>
              </a:rPr>
              <a:t>Ready for sponsors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3240" y="4606290"/>
            <a:ext cx="5899785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dirty="0">
                <a:solidFill>
                  <a:srgbClr val="111C2D"/>
                </a:solidFill>
                <a:latin typeface="Lexend"/>
              </a:rPr>
              <a:t>With your written consent, we prepare a confidential profile.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33560" y="4606290"/>
            <a:ext cx="219456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137FEC"/>
                </a:solidFill>
                <a:latin typeface="Lexend"/>
              </a:rPr>
              <a:t>After the interview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" y="5168900"/>
            <a:ext cx="292608" cy="292608"/>
          </a:xfrm>
          <a:prstGeom prst="ellipse">
            <a:avLst/>
          </a:prstGeom>
          <a:solidFill>
            <a:srgbClr val="137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Lexend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5143500"/>
            <a:ext cx="210312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11C2D"/>
                </a:solidFill>
                <a:latin typeface="Lexend"/>
              </a:rPr>
              <a:t>Matched and awarded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63240" y="5143500"/>
            <a:ext cx="5899785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dirty="0">
                <a:solidFill>
                  <a:srgbClr val="111C2D"/>
                </a:solidFill>
                <a:latin typeface="Lexend"/>
              </a:rPr>
              <a:t>Once a sponsor chooses to support you, we arrange the assistance and administer the funds together.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33560" y="5143500"/>
            <a:ext cx="219456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137FEC"/>
                </a:solidFill>
                <a:latin typeface="Lexend"/>
              </a:rPr>
              <a:t>Up to ~2 months from application</a:t>
            </a:r>
          </a:p>
        </p:txBody>
      </p:sp>
      <p:sp>
        <p:nvSpPr>
          <p:cNvPr id="33" name="Oval 32"/>
          <p:cNvSpPr/>
          <p:nvPr/>
        </p:nvSpPr>
        <p:spPr>
          <a:xfrm>
            <a:off x="548640" y="5706110"/>
            <a:ext cx="292608" cy="292608"/>
          </a:xfrm>
          <a:prstGeom prst="ellipse">
            <a:avLst/>
          </a:prstGeom>
          <a:solidFill>
            <a:srgbClr val="137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Lexend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5680710"/>
            <a:ext cx="210312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11C2D"/>
                </a:solidFill>
                <a:latin typeface="Lexend"/>
              </a:rPr>
              <a:t>Staying supported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3240" y="5680710"/>
            <a:ext cx="5899785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dirty="0">
                <a:solidFill>
                  <a:srgbClr val="111C2D"/>
                </a:solidFill>
                <a:latin typeface="Lexend"/>
              </a:rPr>
              <a:t>Each semester, upload your latest results + a brief progress note. Support continues as long as you are progressing.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33560" y="5680710"/>
            <a:ext cx="219456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137FEC"/>
                </a:solidFill>
                <a:latin typeface="Lexend"/>
              </a:rPr>
              <a:t>Throughout your studies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C5F61"/>
                </a:solidFill>
                <a:latin typeface="Lexend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37FEC"/>
                </a:solidFill>
                <a:latin typeface="Lexend"/>
              </a:rPr>
              <a:t>/scholarship → Can I apply?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11C2D"/>
                </a:solidFill>
                <a:latin typeface="Lexend"/>
              </a:rPr>
              <a:t>You are eligible if all of these are 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320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37FEC"/>
                </a:solidFill>
                <a:latin typeface="Lexend"/>
              </a:rP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1077437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11C2D"/>
                </a:solidFill>
                <a:latin typeface="Lexend"/>
              </a:rPr>
              <a:t>Malaysian citizen — </a:t>
            </a:r>
            <a:r>
              <a:rPr sz="1400">
                <a:solidFill>
                  <a:srgbClr val="111C2D"/>
                </a:solidFill>
                <a:latin typeface="Lexend"/>
              </a:rPr>
              <a:t>who has just completed, or is completing, SPM or STPM.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320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37FEC"/>
                </a:solidFill>
                <a:latin typeface="Lexend"/>
              </a:rPr>
              <a:t>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1077437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11C2D"/>
                </a:solidFill>
                <a:latin typeface="Lexend"/>
              </a:rPr>
              <a:t>Low-income household — </a:t>
            </a:r>
            <a:r>
              <a:rPr sz="1400">
                <a:solidFill>
                  <a:srgbClr val="111C2D"/>
                </a:solidFill>
                <a:latin typeface="Lexend"/>
              </a:rPr>
              <a:t>combined monthly income at or below RM5,860 (the national B40 threshold, DOSM 2024).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320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37FEC"/>
                </a:solidFill>
                <a:latin typeface="Lexend"/>
              </a:rPr>
              <a:t>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34640"/>
            <a:ext cx="1077437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11C2D"/>
                </a:solidFill>
                <a:latin typeface="Lexend"/>
              </a:rPr>
              <a:t>Solid academic record — </a:t>
            </a:r>
            <a:r>
              <a:rPr sz="1400">
                <a:solidFill>
                  <a:srgbClr val="111C2D"/>
                </a:solidFill>
                <a:latin typeface="Lexend"/>
              </a:rPr>
              <a:t>at least 5 A’s in SPM, or a PNGK of 3.0 or above in STPM.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37560"/>
            <a:ext cx="320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37FEC"/>
                </a:solidFill>
                <a:latin typeface="Lexend"/>
              </a:rPr>
              <a:t>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37560"/>
            <a:ext cx="1077437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11C2D"/>
                </a:solidFill>
                <a:latin typeface="Lexend"/>
              </a:rPr>
              <a:t>Continuing at a Malaysian public institution — </a:t>
            </a:r>
            <a:r>
              <a:rPr sz="1400">
                <a:solidFill>
                  <a:srgbClr val="111C2D"/>
                </a:solidFill>
                <a:latin typeface="Lexend"/>
              </a:rPr>
              <a:t>Matrikulasi, Foundation/Asasi, STPM, IPTA, polytechnic or ILKA.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40480"/>
            <a:ext cx="320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37FEC"/>
                </a:solidFill>
                <a:latin typeface="Lexend"/>
              </a:rPr>
              <a:t>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40480"/>
            <a:ext cx="1077437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11C2D"/>
                </a:solidFill>
                <a:latin typeface="Lexend"/>
              </a:rPr>
              <a:t>Reachable for a short interview — </a:t>
            </a:r>
            <a:r>
              <a:rPr sz="1400">
                <a:solidFill>
                  <a:srgbClr val="111C2D"/>
                </a:solidFill>
                <a:latin typeface="Lexend"/>
              </a:rPr>
              <a:t>usually a 20-minute phone call in English, Bahasa Malaysia, or Tamil.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43400"/>
            <a:ext cx="320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37FEC"/>
                </a:solidFill>
                <a:latin typeface="Lexend"/>
              </a:rPr>
              <a:t>6.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43400"/>
            <a:ext cx="1077437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11C2D"/>
                </a:solidFill>
                <a:latin typeface="Lexend"/>
              </a:rPr>
              <a:t>Willing to share progress — </a:t>
            </a:r>
            <a:r>
              <a:rPr sz="1400">
                <a:solidFill>
                  <a:srgbClr val="111C2D"/>
                </a:solidFill>
                <a:latin typeface="Lexend"/>
              </a:rPr>
              <a:t>semester results + a brief update so support can continue.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983480"/>
            <a:ext cx="11094415" cy="960120"/>
          </a:xfrm>
          <a:prstGeom prst="roundRect">
            <a:avLst>
              <a:gd name="adj" fmla="val 10000"/>
            </a:avLst>
          </a:prstGeom>
          <a:solidFill>
            <a:srgbClr val="F0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5093208"/>
            <a:ext cx="106372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>
                <a:solidFill>
                  <a:srgbClr val="137FEC"/>
                </a:solidFill>
                <a:latin typeface="Lexend"/>
              </a:rPr>
              <a:t>Close, but not exactly? </a:t>
            </a:r>
            <a:r>
              <a:rPr sz="1300">
                <a:solidFill>
                  <a:srgbClr val="111C2D"/>
                </a:solidFill>
                <a:latin typeface="Lexend"/>
              </a:rPr>
              <a:t>Apply anyway. Our bar is a little more generous than the headline — especially on grades. Applying lets us assess your eligibility; it does not guarantee assistance.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C5F61"/>
                </a:solidFill>
                <a:latin typeface="Lexend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37FEC"/>
                </a:solidFill>
                <a:latin typeface="Lexend"/>
              </a:rPr>
              <a:t>Step 1 — halatuju.xyz/scholarship/apply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11C2D"/>
                </a:solidFill>
                <a:latin typeface="Lexend"/>
              </a:rPr>
              <a:t>The formal application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C5F61"/>
                </a:solidFill>
                <a:latin typeface="Lexend"/>
              </a:rPr>
              <a:t>5 short sections, save as you go.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11C2D"/>
                </a:solidFill>
                <a:latin typeface="Lexend"/>
              </a:rPr>
              <a:t>About 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874519"/>
            <a:ext cx="889985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11C2D"/>
                </a:solidFill>
                <a:latin typeface="Lexend"/>
              </a:rPr>
              <a:t>Name, NRIC (one-time, pre-filled at sign-in), contact, school, preferred call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5999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11C2D"/>
                </a:solidFill>
                <a:latin typeface="Lexend"/>
              </a:rPr>
              <a:t>My Family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285999"/>
            <a:ext cx="889985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11C2D"/>
                </a:solidFill>
                <a:latin typeface="Lexend"/>
              </a:rPr>
              <a:t>Household income, household size, who supports the family, STR/JKM if applicable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79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11C2D"/>
                </a:solidFill>
                <a:latin typeface="Lexend"/>
              </a:rPr>
              <a:t>My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697479"/>
            <a:ext cx="889985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11C2D"/>
                </a:solidFill>
                <a:latin typeface="Lexend"/>
              </a:rPr>
              <a:t>Your SPM / STPM grades (re-uses what you have already entered on HalaTuju)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08959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11C2D"/>
                </a:solidFill>
                <a:latin typeface="Lexend"/>
              </a:rPr>
              <a:t>My Plans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108959"/>
            <a:ext cx="889985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11C2D"/>
                </a:solidFill>
                <a:latin typeface="Lexend"/>
              </a:rPr>
              <a:t>What you intend to study, where, and how confident you are (it is fine to be still deciding)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20439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11C2D"/>
                </a:solidFill>
                <a:latin typeface="Lexend"/>
              </a:rPr>
              <a:t>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520439"/>
            <a:ext cx="889985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11C2D"/>
                </a:solidFill>
                <a:latin typeface="Lexend"/>
              </a:rPr>
              <a:t>Other scholarships you are pursuing, anything else you would like us to know, consent to contact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69079"/>
            <a:ext cx="11094415" cy="137160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4178807"/>
            <a:ext cx="10637215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>
                <a:solidFill>
                  <a:srgbClr val="92400E"/>
                </a:solidFill>
                <a:latin typeface="Lexend"/>
              </a:rPr>
              <a:t>⚠  Truthfulness matters.  </a:t>
            </a:r>
            <a:r>
              <a:rPr sz="1300">
                <a:solidFill>
                  <a:srgbClr val="111C2D"/>
                </a:solidFill>
                <a:latin typeface="Lexend"/>
              </a:rPr>
              <a:t>We later verify what you say against your documents (MyKad, results slip, income proof) and at the interview. </a:t>
            </a:r>
            <a:r>
              <a:rPr sz="1300" b="1">
                <a:solidFill>
                  <a:srgbClr val="92400E"/>
                </a:solidFill>
                <a:latin typeface="Lexend"/>
              </a:rPr>
              <a:t>Mismatches will likely disqualify your application. </a:t>
            </a:r>
            <a:r>
              <a:rPr sz="1300">
                <a:solidFill>
                  <a:srgbClr val="111C2D"/>
                </a:solidFill>
                <a:latin typeface="Lexend"/>
              </a:rPr>
              <a:t>If you are unsure of an exact number, be honest about your uncertainty in the open notes rather than guessing. We can work with “I’m not sure”; we cannot work with information that does not match.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532119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>
                <a:solidFill>
                  <a:srgbClr val="137FEC"/>
                </a:solidFill>
                <a:latin typeface="Lexend"/>
              </a:rPr>
              <a:t>After submit (Steps 2 → 3):  </a:t>
            </a:r>
            <a:r>
              <a:rPr sz="1200">
                <a:solidFill>
                  <a:srgbClr val="111C2D"/>
                </a:solidFill>
                <a:latin typeface="Lexend"/>
              </a:rPr>
              <a:t>a same-day acknowledgement email arrives; within 48 hours you will hear whether you have been shortlisted (link to the next page) or not this round (a warm note explaining why). Please check your spam folder.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C5F61"/>
                </a:solidFill>
                <a:latin typeface="Lexend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37FEC"/>
                </a:solidFill>
                <a:latin typeface="Lexend"/>
              </a:rPr>
              <a:t>Step 4 — halatuju.xyz/scholarship/application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11C2D"/>
                </a:solidFill>
                <a:latin typeface="Lexend"/>
              </a:rPr>
              <a:t>Five small tabs, no fixed time limit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37FEC"/>
                </a:solidFill>
                <a:latin typeface="Lexend"/>
              </a:rPr>
              <a:t>1. 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691640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11C2D"/>
                </a:solidFill>
                <a:latin typeface="Lexend"/>
              </a:rPr>
              <a:t>The HalaTuju course-fit quiz (re-uses your previous answers).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37FEC"/>
                </a:solidFill>
                <a:latin typeface="Lexend"/>
              </a:rPr>
              <a:t>2. Your 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148840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11C2D"/>
                </a:solidFill>
                <a:latin typeface="Lexend"/>
              </a:rPr>
              <a:t>About your family + about you. Mostly optional. Write in BM, English, or Tamil.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37FEC"/>
                </a:solidFill>
                <a:latin typeface="Lexend"/>
              </a:rPr>
              <a:t>3. Funding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606040"/>
            <a:ext cx="59436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dirty="0">
                <a:solidFill>
                  <a:srgbClr val="111C2D"/>
                </a:solidFill>
                <a:latin typeface="Lexend"/>
              </a:rPr>
              <a:t>Tick the categories support would help with (living, transport, accommodation, books, device). Plus a short note. Assistance is up to RM3,000 — could be less, depending on funds</a:t>
            </a:r>
            <a:r>
              <a:rPr lang="en-MY" sz="1100" b="0" dirty="0">
                <a:solidFill>
                  <a:srgbClr val="111C2D"/>
                </a:solidFill>
                <a:latin typeface="Lexend"/>
              </a:rPr>
              <a:t> available</a:t>
            </a:r>
            <a:r>
              <a:rPr sz="1100" b="0" dirty="0">
                <a:solidFill>
                  <a:srgbClr val="111C2D"/>
                </a:solidFill>
                <a:latin typeface="Lexend"/>
              </a:rPr>
              <a:t> and need.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6324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37FEC"/>
                </a:solidFill>
                <a:latin typeface="Lexend"/>
              </a:rPr>
              <a:t>4. Documents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063240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11C2D"/>
                </a:solidFill>
                <a:latin typeface="Lexend"/>
              </a:rPr>
              <a:t>Required: IC + results slip. Optional: one income proof (STR / salary slip / EPF), utility bills, statement of intent, offer letter, photo. The IC is auto-checked against your details — your photo isn’t kept at Google.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2044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37FEC"/>
                </a:solidFill>
                <a:latin typeface="Lexend"/>
              </a:rPr>
              <a:t>5. Consent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520440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11C2D"/>
                </a:solidFill>
                <a:latin typeface="Lexend"/>
              </a:rPr>
              <a:t>Your formal permission to share your confidential profile with potential sponsors. You can withdraw it at any time.</a:t>
            </a:r>
          </a:p>
        </p:txBody>
      </p:sp>
      <p:pic>
        <p:nvPicPr>
          <p:cNvPr id="14" name="Picture 13" descr="s4-documents-bui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691640"/>
            <a:ext cx="1645920" cy="4529572"/>
          </a:xfrm>
          <a:prstGeom prst="rect">
            <a:avLst/>
          </a:prstGeom>
        </p:spPr>
      </p:pic>
      <p:pic>
        <p:nvPicPr>
          <p:cNvPr id="15" name="Picture 14" descr="s5-what-happens-n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1691640"/>
            <a:ext cx="1645920" cy="48154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75320" y="608076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C5F61"/>
                </a:solidFill>
                <a:latin typeface="Lexend"/>
              </a:rPr>
              <a:t>Documents tab    →    "You’re all set!" + What happens next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60520"/>
            <a:ext cx="7589520" cy="96012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270248"/>
            <a:ext cx="72237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166534"/>
                </a:solidFill>
                <a:latin typeface="Lexend"/>
              </a:rPr>
              <a:t>💡  Tell us as much as you can.  </a:t>
            </a:r>
            <a:r>
              <a:rPr sz="1200">
                <a:solidFill>
                  <a:srgbClr val="111C2D"/>
                </a:solidFill>
                <a:latin typeface="Lexend"/>
              </a:rPr>
              <a:t>"Your story" and the funding note are your chance to put a person behind the numbers — the more we know, the better we can advocate for you to sponsors. Write in your own words, in your most comfortable language. Same truthfulness rule applies: </a:t>
            </a:r>
            <a:r>
              <a:rPr sz="1200" b="1">
                <a:solidFill>
                  <a:srgbClr val="92400E"/>
                </a:solidFill>
                <a:latin typeface="Lexend"/>
              </a:rPr>
              <a:t>honest uncertainty is fine; mismatches will likely disqualify.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C5F61"/>
                </a:solidFill>
                <a:latin typeface="Lexend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37FEC"/>
                </a:solidFill>
                <a:latin typeface="Lexend"/>
              </a:rPr>
              <a:t>After your profile is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11C2D"/>
                </a:solidFill>
                <a:latin typeface="Lexend"/>
              </a:rPr>
              <a:t>Steps 5 to 8 — and the things to keep in 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37FEC"/>
                </a:solidFill>
                <a:latin typeface="Lexend"/>
              </a:rPr>
              <a:t>Step 5  —  The phone 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84248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11C2D"/>
                </a:solidFill>
                <a:latin typeface="Lexend"/>
              </a:rPr>
              <a:t>~20 minutes, your preferred language. A warm conversation. We may also cross-check a few things — please be straightforward about anything you weren’t sure of in writing.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8892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37FEC"/>
                </a:solidFill>
                <a:latin typeface="Lexend"/>
              </a:rPr>
              <a:t>Step 6  —  Profile for sponsors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81528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11C2D"/>
                </a:solidFill>
                <a:latin typeface="Lexend"/>
              </a:rPr>
              <a:t>A short, confidential profile based only on what you told us. A coordinator reviews it before any sponsor sees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862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37FEC"/>
                </a:solidFill>
                <a:latin typeface="Lexend"/>
              </a:rPr>
              <a:t>Step 7  —  Matched and awarded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78808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11C2D"/>
                </a:solidFill>
                <a:latin typeface="Lexend"/>
              </a:rPr>
              <a:t>Once a sponsor chooses to support you, we arrange the assistance and administer the funds together. From application to award typically takes up to two months.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8348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37FEC"/>
                </a:solidFill>
                <a:latin typeface="Lexend"/>
              </a:rPr>
              <a:t>Step 8  —  Staying supported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276088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11C2D"/>
                </a:solidFill>
                <a:latin typeface="Lexend"/>
              </a:rPr>
              <a:t>Each semester you upload your latest results + a short progress note. As long as you are progressing, support continues through your studies.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691640"/>
            <a:ext cx="5212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11C2D"/>
                </a:solidFill>
                <a:latin typeface="Lexend"/>
              </a:rPr>
              <a:t>A few important things, plainly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48840"/>
            <a:ext cx="5212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>
                <a:solidFill>
                  <a:srgbClr val="111C2D"/>
                </a:solidFill>
                <a:latin typeface="Lexend"/>
              </a:rPr>
              <a:t>🆓  No fee, ever. </a:t>
            </a:r>
            <a:r>
              <a:rPr sz="1100">
                <a:solidFill>
                  <a:srgbClr val="111C2D"/>
                </a:solidFill>
                <a:latin typeface="Lexend"/>
              </a:rPr>
              <a:t>Free to apply, free to be 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807208"/>
            <a:ext cx="5212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>
                <a:solidFill>
                  <a:srgbClr val="111C2D"/>
                </a:solidFill>
                <a:latin typeface="Lexend"/>
              </a:rPr>
              <a:t>🔒  Confidential. </a:t>
            </a:r>
            <a:r>
              <a:rPr sz="1100">
                <a:solidFill>
                  <a:srgbClr val="111C2D"/>
                </a:solidFill>
                <a:latin typeface="Lexend"/>
              </a:rPr>
              <a:t>Your information goes only to our small coordinator team and (with your consent) to potential sponsors.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465576"/>
            <a:ext cx="5212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>
                <a:solidFill>
                  <a:srgbClr val="111C2D"/>
                </a:solidFill>
                <a:latin typeface="Lexend"/>
              </a:rPr>
              <a:t>✋  Soft signals, not hard blocks. </a:t>
            </a:r>
            <a:r>
              <a:rPr sz="1100">
                <a:solidFill>
                  <a:srgbClr val="111C2D"/>
                </a:solidFill>
                <a:latin typeface="Lexend"/>
              </a:rPr>
              <a:t>The IC auto-check is a hint — a human always reviews your documents before any decision.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123944"/>
            <a:ext cx="5212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>
                <a:solidFill>
                  <a:srgbClr val="111C2D"/>
                </a:solidFill>
                <a:latin typeface="Lexend"/>
              </a:rPr>
              <a:t>⚠  Truthfulness disqualifies. </a:t>
            </a:r>
            <a:r>
              <a:rPr sz="1100">
                <a:solidFill>
                  <a:srgbClr val="111C2D"/>
                </a:solidFill>
                <a:latin typeface="Lexend"/>
              </a:rPr>
              <a:t>Mismatches between what you say and what your documents show will likely end your application. Be honest about uncertainty.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782312"/>
            <a:ext cx="5212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>
                <a:solidFill>
                  <a:srgbClr val="111C2D"/>
                </a:solidFill>
                <a:latin typeface="Lexend"/>
              </a:rPr>
              <a:t>👨‍👩‍👧  Under 18? </a:t>
            </a:r>
            <a:r>
              <a:rPr sz="1100">
                <a:solidFill>
                  <a:srgbClr val="111C2D"/>
                </a:solidFill>
                <a:latin typeface="Lexend"/>
              </a:rPr>
              <a:t>A parent/guardian co-signs the consent. We will guide you through 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440680"/>
            <a:ext cx="5212080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dirty="0">
                <a:solidFill>
                  <a:srgbClr val="111C2D"/>
                </a:solidFill>
                <a:latin typeface="Lexend"/>
              </a:rPr>
              <a:t>Public institutions only, </a:t>
            </a:r>
            <a:r>
              <a:rPr sz="1100" dirty="0">
                <a:solidFill>
                  <a:srgbClr val="111C2D"/>
                </a:solidFill>
                <a:latin typeface="Lexend"/>
              </a:rPr>
              <a:t>this round — </a:t>
            </a:r>
            <a:r>
              <a:rPr sz="1100" dirty="0" err="1">
                <a:solidFill>
                  <a:srgbClr val="111C2D"/>
                </a:solidFill>
                <a:latin typeface="Lexend"/>
              </a:rPr>
              <a:t>Matrikulasi</a:t>
            </a:r>
            <a:r>
              <a:rPr sz="1100" dirty="0">
                <a:solidFill>
                  <a:srgbClr val="111C2D"/>
                </a:solidFill>
                <a:latin typeface="Lexend"/>
              </a:rPr>
              <a:t>, </a:t>
            </a:r>
            <a:r>
              <a:rPr sz="1100" dirty="0" err="1">
                <a:solidFill>
                  <a:srgbClr val="111C2D"/>
                </a:solidFill>
                <a:latin typeface="Lexend"/>
              </a:rPr>
              <a:t>Asasi</a:t>
            </a:r>
            <a:r>
              <a:rPr sz="1100" dirty="0">
                <a:solidFill>
                  <a:srgbClr val="111C2D"/>
                </a:solidFill>
                <a:latin typeface="Lexend"/>
              </a:rPr>
              <a:t>, STPM, </a:t>
            </a:r>
            <a:r>
              <a:rPr lang="en-MY" sz="1100" dirty="0">
                <a:solidFill>
                  <a:srgbClr val="111C2D"/>
                </a:solidFill>
                <a:latin typeface="Lexend"/>
              </a:rPr>
              <a:t>University</a:t>
            </a:r>
            <a:r>
              <a:rPr sz="1100" dirty="0">
                <a:solidFill>
                  <a:srgbClr val="111C2D"/>
                </a:solidFill>
                <a:latin typeface="Lexend"/>
              </a:rPr>
              <a:t>, polytechnic,</a:t>
            </a:r>
            <a:r>
              <a:rPr lang="en-MY" sz="1100" dirty="0">
                <a:solidFill>
                  <a:srgbClr val="111C2D"/>
                </a:solidFill>
                <a:latin typeface="Lexend"/>
              </a:rPr>
              <a:t> Kolej </a:t>
            </a:r>
            <a:r>
              <a:rPr lang="en-MY" sz="1100" dirty="0" err="1">
                <a:solidFill>
                  <a:srgbClr val="111C2D"/>
                </a:solidFill>
                <a:latin typeface="Lexend"/>
              </a:rPr>
              <a:t>Komuniti</a:t>
            </a:r>
            <a:r>
              <a:rPr lang="en-MY" sz="1100" dirty="0">
                <a:solidFill>
                  <a:srgbClr val="111C2D"/>
                </a:solidFill>
                <a:latin typeface="Lexend"/>
              </a:rPr>
              <a:t>, IPGM,</a:t>
            </a:r>
            <a:r>
              <a:rPr sz="1100" dirty="0">
                <a:solidFill>
                  <a:srgbClr val="111C2D"/>
                </a:solidFill>
                <a:latin typeface="Lexend"/>
              </a:rPr>
              <a:t> ILKA.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C5F61"/>
                </a:solidFill>
                <a:latin typeface="Lexend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463040"/>
            <a:ext cx="1109441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111C2D"/>
                </a:solidFill>
                <a:latin typeface="Lexend"/>
              </a:rPr>
              <a:t>Questions?</a:t>
            </a:r>
          </a:p>
          <a:p>
            <a:pPr algn="ctr">
              <a:spcAft>
                <a:spcPts val="400"/>
              </a:spcAft>
            </a:pPr>
            <a:r>
              <a:rPr sz="2000" b="0">
                <a:solidFill>
                  <a:srgbClr val="137FEC"/>
                </a:solidFill>
                <a:latin typeface="Lexend"/>
              </a:rPr>
              <a:t>We’re glad you’re 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C5F61"/>
                </a:solidFill>
                <a:latin typeface="Lexend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1366</Words>
  <Application>Microsoft Office PowerPoint</Application>
  <PresentationFormat>Widescreen</PresentationFormat>
  <Paragraphs>113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Lexend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இளஞ்செழியன் வேணுகோபால்</cp:lastModifiedBy>
  <cp:revision>3</cp:revision>
  <dcterms:created xsi:type="dcterms:W3CDTF">2013-01-27T09:14:16Z</dcterms:created>
  <dcterms:modified xsi:type="dcterms:W3CDTF">2026-05-28T10:51:18Z</dcterms:modified>
  <cp:category/>
</cp:coreProperties>
</file>